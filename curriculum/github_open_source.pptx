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037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our Birdwatcher decks are named From Box to Branch and From Fork to Field. Today we explain why those names come from GitHub. By the end, everyone should understand what GitHub is, why it changed software forever, and just as important, what it is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before making it abstract. Our project stands on Cornell researchers, a firmware author named Bob Jones, a maker named Teddy Warner, and thousands of library maintainers we will never meet. Ask: what system makes it normal for strangers to build on each other's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freedoms here paraphrase the classic open source definition: use, study, change, share. Stress the license point. Students often think open source means 'no rules.' It means very clear rules that guarantee openness.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here: closed source is a legitimate business model, and plenty of excellent software is closed. The point is that openness has quietly won the infrastructure layer: servers, languages, AI frameworks. Ask teachers where they see each model in their own tools.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note: Linux (1991) and Python (1991) are older than GitHub (2008), so GitHub did not 'give birth' to them, but it is where their development happens today. VS Code, React, TensorFlow, and Kubernetes are genuinely GitHub-era natives. The takeaway: the biggest software on Earth is developed in public.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approximate and keep growing; the shape of the story matters more than the digits. The Git vs GitHub distinction is worth pausing on: Git works entirely on your own computer. GitHub adds the shared, social, online layer. You can use Git without GitHub, but not the reverse.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storage, history, collaboration, reputation. The portfolio point lands hard with students: a green contribution graph is a resume line. The 'not just for code' panel opens imaginations; German federal laws have been mirrored on GitHub, and many textbooks are written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deck bends around. The most common misconception is that GitHub 'runs' projects. It stores and coordinates; execution happens elsewhere. Fine print for advanced questions: GitHub Actions can run automation tasks on GitHub's servers, but that is plumbing around your code; your app still lives and runs where you deploy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to the end we build vocabulary, one bird at a time. Repository = the project's home. Show a real repo live if you have a connection; the Birdwatcher repo makes it concrete.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anatomy card mirrors real git log output. Teach the message discipline early; it is the difference between a diary and a junk drawer. Push and pull are introduced gently here as the send and receive verbs; that is all beginners need.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work proceeds on main, a branch splits off for the night-mode experiment, three commits happen there in safety, then it merges home. Branching is what makes fearless experimenting possible; this is the emotional core of version control for students.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PRs are where the collaboration magic actually lives. For classrooms this maps beautifully onto peer editing in writing instruction: draft, review, revise, publish. Mention that in open source, a stranger's first PR to a big project is a rite of passage.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fork is the beating heart of open source culture, and the reason our PD deck is called From Fork to Field. Emphasize legitimacy: forking is not stealing; the license explicitly invites it. Good forks credit their ancestors, as we credit BirdNET and AvianVisitors.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the deck's abstractions become our own origin story. Each arrow is a fork. Each project honored its ancestor's license and credited it. Ask teachers: what would your students fork, if forking felt this natural?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spaced-repetition close on vocabulary. Consider reading each term aloud and having the room supply the definition. The Push/Pull pairing and the Branch/Fork distinction are the two spots that need a second pass.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two-part close: what GitHub is not (a computer that runs your code) and why it is revolutionary anyway (it made building together the default). Invite teachers to create a free account this week and find the Birdwatcher repo as their first visit.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7.png"/><Relationship Id="rId4" Type="http://schemas.openxmlformats.org/officeDocument/2006/relationships/image" Target="../media/image36.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5.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29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5000"/>
          </a:blip>
          <a:stretch>
            <a:fillRect/>
          </a:stretch>
        </p:blipFill>
        <p:spPr>
          <a:xfrm>
            <a:off x="822960" y="731520"/>
            <a:ext cx="640080" cy="640080"/>
          </a:xfrm>
          <a:prstGeom prst="rect">
            <a:avLst/>
          </a:prstGeom>
        </p:spPr>
      </p:pic>
      <p:pic>
        <p:nvPicPr>
          <p:cNvPr id="3" name="Image 1" descr="preencoded.png"/>
          <p:cNvPicPr>
            <a:picLocks noChangeAspect="1"/>
          </p:cNvPicPr>
          <p:nvPr/>
        </p:nvPicPr>
        <p:blipFill>
          <a:blip r:embed="rId4">
            <a:alphaModFix amt="75000"/>
          </a:blip>
          <a:stretch>
            <a:fillRect/>
          </a:stretch>
        </p:blipFill>
        <p:spPr>
          <a:xfrm>
            <a:off x="5660644" y="170434"/>
            <a:ext cx="2094484" cy="2094484"/>
          </a:xfrm>
          <a:prstGeom prst="rect">
            <a:avLst/>
          </a:prstGeom>
        </p:spPr>
      </p:pic>
      <p:pic>
        <p:nvPicPr>
          <p:cNvPr id="4" name="Image 2" descr="preencoded.png"/>
          <p:cNvPicPr>
            <a:picLocks noChangeAspect="1"/>
          </p:cNvPicPr>
          <p:nvPr/>
        </p:nvPicPr>
        <p:blipFill>
          <a:blip r:embed="rId5">
            <a:alphaModFix amt="75000"/>
          </a:blip>
          <a:stretch>
            <a:fillRect/>
          </a:stretch>
        </p:blipFill>
        <p:spPr>
          <a:xfrm>
            <a:off x="1280160" y="5394960"/>
            <a:ext cx="685800" cy="685800"/>
          </a:xfrm>
          <a:prstGeom prst="rect">
            <a:avLst/>
          </a:prstGeom>
        </p:spPr>
      </p:pic>
      <p:pic>
        <p:nvPicPr>
          <p:cNvPr id="5" name="Image 3" descr="preencoded.png"/>
          <p:cNvPicPr>
            <a:picLocks noChangeAspect="1"/>
          </p:cNvPicPr>
          <p:nvPr/>
        </p:nvPicPr>
        <p:blipFill>
          <a:blip r:embed="rId6">
            <a:alphaModFix amt="75000"/>
          </a:blip>
          <a:stretch>
            <a:fillRect/>
          </a:stretch>
        </p:blipFill>
        <p:spPr>
          <a:xfrm>
            <a:off x="10881360" y="5303520"/>
            <a:ext cx="548640" cy="548640"/>
          </a:xfrm>
          <a:prstGeom prst="rect">
            <a:avLst/>
          </a:prstGeom>
        </p:spPr>
      </p:pic>
      <p:pic>
        <p:nvPicPr>
          <p:cNvPr id="6" name="Image 4" descr="preencoded.png"/>
          <p:cNvPicPr>
            <a:picLocks noChangeAspect="1"/>
          </p:cNvPicPr>
          <p:nvPr/>
        </p:nvPicPr>
        <p:blipFill>
          <a:blip r:embed="rId7">
            <a:alphaModFix amt="75000"/>
          </a:blip>
          <a:stretch>
            <a:fillRect/>
          </a:stretch>
        </p:blipFill>
        <p:spPr>
          <a:xfrm>
            <a:off x="10058400" y="5760720"/>
            <a:ext cx="502920" cy="502920"/>
          </a:xfrm>
          <a:prstGeom prst="rect">
            <a:avLst/>
          </a:prstGeom>
        </p:spPr>
      </p:pic>
      <p:pic>
        <p:nvPicPr>
          <p:cNvPr id="7" name="Image 5" descr="preencoded.png"/>
          <p:cNvPicPr>
            <a:picLocks noChangeAspect="1"/>
          </p:cNvPicPr>
          <p:nvPr/>
        </p:nvPicPr>
        <p:blipFill>
          <a:blip r:embed="rId8">
            <a:alphaModFix amt="75000"/>
          </a:blip>
          <a:stretch>
            <a:fillRect/>
          </a:stretch>
        </p:blipFill>
        <p:spPr>
          <a:xfrm>
            <a:off x="2103120" y="1463040"/>
            <a:ext cx="457200" cy="457200"/>
          </a:xfrm>
          <a:prstGeom prst="rect">
            <a:avLst/>
          </a:prstGeom>
        </p:spPr>
      </p:pic>
      <p:sp>
        <p:nvSpPr>
          <p:cNvPr id="8" name="Text 0"/>
          <p:cNvSpPr/>
          <p:nvPr/>
        </p:nvSpPr>
        <p:spPr>
          <a:xfrm>
            <a:off x="548640" y="2282370"/>
            <a:ext cx="11091672" cy="320040"/>
          </a:xfrm>
          <a:prstGeom prst="rect">
            <a:avLst/>
          </a:prstGeom>
          <a:noFill/>
          <a:ln/>
        </p:spPr>
        <p:txBody>
          <a:bodyPr wrap="square" lIns="0" tIns="0" rIns="0" bIns="0" rtlCol="0" anchor="ctr"/>
          <a:lstStyle/>
          <a:p>
            <a:pPr marL="0" indent="0" algn="ctr">
              <a:buNone/>
            </a:pPr>
            <a:r>
              <a:rPr lang="en-US" sz="1400" b="1" kern="0" spc="400" dirty="0">
                <a:solidFill>
                  <a:srgbClr val="B98F35"/>
                </a:solidFill>
                <a:latin typeface="Calibri" pitchFamily="34" charset="0"/>
                <a:ea typeface="Calibri" pitchFamily="34" charset="-122"/>
                <a:cs typeface="Calibri" pitchFamily="34" charset="-120"/>
              </a:rPr>
              <a:t>CIJE INNOVATION  ·  PD SERIES</a:t>
            </a:r>
            <a:endParaRPr lang="en-US" sz="1400" dirty="0"/>
          </a:p>
        </p:txBody>
      </p:sp>
      <p:sp>
        <p:nvSpPr>
          <p:cNvPr id="9" name="Text 1"/>
          <p:cNvSpPr/>
          <p:nvPr/>
        </p:nvSpPr>
        <p:spPr>
          <a:xfrm>
            <a:off x="548640" y="2377440"/>
            <a:ext cx="11091672" cy="914400"/>
          </a:xfrm>
          <a:prstGeom prst="rect">
            <a:avLst/>
          </a:prstGeom>
          <a:noFill/>
          <a:ln/>
        </p:spPr>
        <p:txBody>
          <a:bodyPr wrap="square" lIns="0" tIns="0" rIns="0" bIns="0" rtlCol="0" anchor="ctr"/>
          <a:lstStyle/>
          <a:p>
            <a:pPr marL="0" indent="0" algn="ctr">
              <a:buNone/>
            </a:pPr>
            <a:r>
              <a:rPr lang="en-US" sz="4800" b="1" dirty="0">
                <a:solidFill>
                  <a:srgbClr val="F3EEE3"/>
                </a:solidFill>
                <a:latin typeface="Cambria" pitchFamily="34" charset="0"/>
                <a:ea typeface="Cambria" pitchFamily="34" charset="-122"/>
                <a:cs typeface="Cambria" pitchFamily="34" charset="-120"/>
              </a:rPr>
              <a:t>From Commit to Community</a:t>
            </a:r>
            <a:endParaRPr lang="en-US" sz="4800" dirty="0"/>
          </a:p>
        </p:txBody>
      </p:sp>
      <p:sp>
        <p:nvSpPr>
          <p:cNvPr id="10" name="Text 2"/>
          <p:cNvSpPr/>
          <p:nvPr/>
        </p:nvSpPr>
        <p:spPr>
          <a:xfrm>
            <a:off x="548640" y="3383280"/>
            <a:ext cx="11091672" cy="457200"/>
          </a:xfrm>
          <a:prstGeom prst="rect">
            <a:avLst/>
          </a:prstGeom>
          <a:noFill/>
          <a:ln/>
        </p:spPr>
        <p:txBody>
          <a:bodyPr wrap="square" lIns="0" tIns="0" rIns="0" bIns="0" rtlCol="0" anchor="ctr"/>
          <a:lstStyle/>
          <a:p>
            <a:pPr marL="0" indent="0" algn="ctr">
              <a:buNone/>
            </a:pPr>
            <a:r>
              <a:rPr lang="en-US" sz="1900" i="1" dirty="0">
                <a:solidFill>
                  <a:srgbClr val="C9BFA9"/>
                </a:solidFill>
                <a:latin typeface="Calibri" pitchFamily="34" charset="0"/>
                <a:ea typeface="Calibri" pitchFamily="34" charset="-122"/>
                <a:cs typeface="Calibri" pitchFamily="34" charset="-120"/>
              </a:rPr>
              <a:t>Open source, GitHub, and how the world builds together</a:t>
            </a:r>
            <a:endParaRPr lang="en-US" sz="1900" dirty="0"/>
          </a:p>
        </p:txBody>
      </p:sp>
      <p:sp>
        <p:nvSpPr>
          <p:cNvPr id="11" name="Shape 3"/>
          <p:cNvSpPr/>
          <p:nvPr/>
        </p:nvSpPr>
        <p:spPr>
          <a:xfrm>
            <a:off x="5184648" y="4114800"/>
            <a:ext cx="1828800" cy="0"/>
          </a:xfrm>
          <a:prstGeom prst="line">
            <a:avLst/>
          </a:prstGeom>
          <a:noFill/>
          <a:ln w="19050">
            <a:solidFill>
              <a:srgbClr val="B98F35"/>
            </a:solidFill>
            <a:prstDash val="solid"/>
          </a:ln>
        </p:spPr>
        <p:txBody>
          <a:bodyPr/>
          <a:lstStyle/>
          <a:p>
            <a:endParaRPr lang="en-US"/>
          </a:p>
        </p:txBody>
      </p:sp>
      <p:sp>
        <p:nvSpPr>
          <p:cNvPr id="12" name="Text 4"/>
          <p:cNvSpPr/>
          <p:nvPr/>
        </p:nvSpPr>
        <p:spPr>
          <a:xfrm>
            <a:off x="548640" y="4315968"/>
            <a:ext cx="11091672" cy="365760"/>
          </a:xfrm>
          <a:prstGeom prst="rect">
            <a:avLst/>
          </a:prstGeom>
          <a:noFill/>
          <a:ln/>
        </p:spPr>
        <p:txBody>
          <a:bodyPr wrap="square" lIns="0" tIns="0" rIns="0" bIns="0" rtlCol="0" anchor="ctr"/>
          <a:lstStyle/>
          <a:p>
            <a:pPr marL="0" indent="0" algn="ctr">
              <a:buNone/>
            </a:pPr>
            <a:r>
              <a:rPr lang="en-US" sz="1300" dirty="0">
                <a:solidFill>
                  <a:srgbClr val="A99C85"/>
                </a:solidFill>
                <a:latin typeface="Calibri" pitchFamily="34" charset="0"/>
                <a:ea typeface="Calibri" pitchFamily="34" charset="-122"/>
                <a:cs typeface="Calibri" pitchFamily="34" charset="-120"/>
              </a:rPr>
              <a:t>A companion to From Fork to Field  ·  The CIJE Birdwatcher Project</a:t>
            </a:r>
            <a:endParaRPr lang="en-US" sz="1300" dirty="0"/>
          </a:p>
        </p:txBody>
      </p:sp>
      <p:pic>
        <p:nvPicPr>
          <p:cNvPr id="13" name="Image 2" descr="/home/claude/assets/cije_mark.png">
            <a:extLst>
              <a:ext uri="{FF2B5EF4-FFF2-40B4-BE49-F238E27FC236}">
                <a16:creationId xmlns:a16="http://schemas.microsoft.com/office/drawing/2014/main" id="{9CB3A985-A0B3-4FFE-C432-7523E10F7EB1}"/>
              </a:ext>
            </a:extLst>
          </p:cNvPr>
          <p:cNvPicPr>
            <a:picLocks noChangeAspect="1"/>
          </p:cNvPicPr>
          <p:nvPr/>
        </p:nvPicPr>
        <p:blipFill>
          <a:blip r:embed="rId9">
            <a:alphaModFix amt="75000"/>
          </a:blip>
          <a:stretch>
            <a:fillRect/>
          </a:stretch>
        </p:blipFill>
        <p:spPr>
          <a:xfrm>
            <a:off x="6197374" y="1008051"/>
            <a:ext cx="1121100" cy="7567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START WHERE WE LIVE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Our Birdwatcher exists because of open source</a:t>
            </a:r>
            <a:endParaRPr lang="en-US" sz="3000" dirty="0"/>
          </a:p>
        </p:txBody>
      </p:sp>
      <p:sp>
        <p:nvSpPr>
          <p:cNvPr id="4" name="Text 2"/>
          <p:cNvSpPr/>
          <p:nvPr/>
        </p:nvSpPr>
        <p:spPr>
          <a:xfrm>
            <a:off x="548640" y="1481328"/>
            <a:ext cx="11091672" cy="566928"/>
          </a:xfrm>
          <a:prstGeom prst="rect">
            <a:avLst/>
          </a:prstGeom>
          <a:noFill/>
          <a:ln/>
        </p:spPr>
        <p:txBody>
          <a:bodyPr wrap="square" lIns="0" tIns="0" rIns="0" bIns="0" rtlCol="0" anchor="ctr"/>
          <a:lstStyle/>
          <a:p>
            <a:pPr marL="0" indent="0">
              <a:lnSpc>
                <a:spcPct val="108000"/>
              </a:lnSpc>
              <a:buNone/>
            </a:pPr>
            <a:r>
              <a:rPr lang="en-US" sz="1500" dirty="0">
                <a:solidFill>
                  <a:srgbClr val="4A3C2C"/>
                </a:solidFill>
                <a:latin typeface="Calibri" pitchFamily="34" charset="0"/>
                <a:ea typeface="Calibri" pitchFamily="34" charset="-122"/>
                <a:cs typeface="Calibri" pitchFamily="34" charset="-120"/>
              </a:rPr>
              <a:t>Before a single CIJE student wrote a line of code, strangers around the world had already done most of the work and shared it freely. That is not luck. It is a system.</a:t>
            </a:r>
            <a:endParaRPr lang="en-US" sz="1500" dirty="0"/>
          </a:p>
        </p:txBody>
      </p:sp>
      <p:sp>
        <p:nvSpPr>
          <p:cNvPr id="5" name="Shape 3"/>
          <p:cNvSpPr/>
          <p:nvPr/>
        </p:nvSpPr>
        <p:spPr>
          <a:xfrm>
            <a:off x="548640" y="2286000"/>
            <a:ext cx="3538728" cy="2651760"/>
          </a:xfrm>
          <a:prstGeom prst="roundRect">
            <a:avLst>
              <a:gd name="adj" fmla="val 4138"/>
            </a:avLst>
          </a:prstGeom>
          <a:solidFill>
            <a:srgbClr val="F3EEE3"/>
          </a:solidFill>
          <a:ln w="12700">
            <a:solidFill>
              <a:srgbClr val="DDD3BF"/>
            </a:solidFill>
            <a:prstDash val="solid"/>
          </a:ln>
        </p:spPr>
        <p:txBody>
          <a:bodyPr/>
          <a:lstStyle/>
          <a:p>
            <a:endParaRPr lang="en-US"/>
          </a:p>
        </p:txBody>
      </p:sp>
      <p:sp>
        <p:nvSpPr>
          <p:cNvPr id="6" name="Shape 4"/>
          <p:cNvSpPr/>
          <p:nvPr/>
        </p:nvSpPr>
        <p:spPr>
          <a:xfrm>
            <a:off x="1906524" y="2606040"/>
            <a:ext cx="822960" cy="822960"/>
          </a:xfrm>
          <a:prstGeom prst="ellipse">
            <a:avLst/>
          </a:prstGeom>
          <a:solidFill>
            <a:srgbClr val="5E7A8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112264" y="2811780"/>
            <a:ext cx="411480" cy="411480"/>
          </a:xfrm>
          <a:prstGeom prst="rect">
            <a:avLst/>
          </a:prstGeom>
        </p:spPr>
      </p:pic>
      <p:sp>
        <p:nvSpPr>
          <p:cNvPr id="8" name="Text 5"/>
          <p:cNvSpPr/>
          <p:nvPr/>
        </p:nvSpPr>
        <p:spPr>
          <a:xfrm>
            <a:off x="777240" y="3611880"/>
            <a:ext cx="3081528" cy="365760"/>
          </a:xfrm>
          <a:prstGeom prst="rect">
            <a:avLst/>
          </a:prstGeom>
          <a:noFill/>
          <a:ln/>
        </p:spPr>
        <p:txBody>
          <a:bodyPr wrap="square" lIns="0" tIns="0" rIns="0" bIns="0" rtlCol="0" anchor="ctr"/>
          <a:lstStyle/>
          <a:p>
            <a:pPr marL="0" indent="0" algn="ctr">
              <a:buNone/>
            </a:pPr>
            <a:r>
              <a:rPr lang="en-US" sz="1700" b="1" dirty="0">
                <a:solidFill>
                  <a:srgbClr val="B0552F"/>
                </a:solidFill>
                <a:latin typeface="Cambria" pitchFamily="34" charset="0"/>
                <a:ea typeface="Cambria" pitchFamily="34" charset="-122"/>
                <a:cs typeface="Cambria" pitchFamily="34" charset="-120"/>
              </a:rPr>
              <a:t>The camera firmware</a:t>
            </a:r>
            <a:endParaRPr lang="en-US" sz="1700" dirty="0"/>
          </a:p>
        </p:txBody>
      </p:sp>
      <p:sp>
        <p:nvSpPr>
          <p:cNvPr id="9" name="Text 6"/>
          <p:cNvSpPr/>
          <p:nvPr/>
        </p:nvSpPr>
        <p:spPr>
          <a:xfrm>
            <a:off x="822960" y="4005072"/>
            <a:ext cx="2990088" cy="914400"/>
          </a:xfrm>
          <a:prstGeom prst="rect">
            <a:avLst/>
          </a:prstGeom>
          <a:noFill/>
          <a:ln/>
        </p:spPr>
        <p:txBody>
          <a:bodyPr wrap="square" lIns="0" tIns="0" rIns="0" bIns="0" rtlCol="0" anchor="ctr"/>
          <a:lstStyle/>
          <a:p>
            <a:pPr marL="0" indent="0" algn="ctr">
              <a:lnSpc>
                <a:spcPct val="106000"/>
              </a:lnSpc>
              <a:buNone/>
            </a:pPr>
            <a:r>
              <a:rPr lang="en-US" sz="1250" dirty="0">
                <a:solidFill>
                  <a:srgbClr val="4A3C2C"/>
                </a:solidFill>
                <a:latin typeface="Calibri" pitchFamily="34" charset="0"/>
                <a:ea typeface="Calibri" pitchFamily="34" charset="-122"/>
                <a:cs typeface="Calibri" pitchFamily="34" charset="-120"/>
              </a:rPr>
              <a:t>The ESP32 code we started from lives in a public repository anyone can read, question, and improve.</a:t>
            </a:r>
            <a:endParaRPr lang="en-US" sz="1250" dirty="0"/>
          </a:p>
        </p:txBody>
      </p:sp>
      <p:sp>
        <p:nvSpPr>
          <p:cNvPr id="10" name="Shape 7"/>
          <p:cNvSpPr/>
          <p:nvPr/>
        </p:nvSpPr>
        <p:spPr>
          <a:xfrm>
            <a:off x="4325112" y="2286000"/>
            <a:ext cx="3538728" cy="2651760"/>
          </a:xfrm>
          <a:prstGeom prst="roundRect">
            <a:avLst>
              <a:gd name="adj" fmla="val 4138"/>
            </a:avLst>
          </a:prstGeom>
          <a:solidFill>
            <a:srgbClr val="F3EEE3"/>
          </a:solidFill>
          <a:ln w="12700">
            <a:solidFill>
              <a:srgbClr val="DDD3BF"/>
            </a:solidFill>
            <a:prstDash val="solid"/>
          </a:ln>
        </p:spPr>
        <p:txBody>
          <a:bodyPr/>
          <a:lstStyle/>
          <a:p>
            <a:endParaRPr lang="en-US"/>
          </a:p>
        </p:txBody>
      </p:sp>
      <p:sp>
        <p:nvSpPr>
          <p:cNvPr id="11" name="Shape 8"/>
          <p:cNvSpPr/>
          <p:nvPr/>
        </p:nvSpPr>
        <p:spPr>
          <a:xfrm>
            <a:off x="5682996" y="2606040"/>
            <a:ext cx="822960" cy="822960"/>
          </a:xfrm>
          <a:prstGeom prst="ellipse">
            <a:avLst/>
          </a:prstGeom>
          <a:solidFill>
            <a:srgbClr val="B0552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888736" y="2811780"/>
            <a:ext cx="411480" cy="411480"/>
          </a:xfrm>
          <a:prstGeom prst="rect">
            <a:avLst/>
          </a:prstGeom>
        </p:spPr>
      </p:pic>
      <p:sp>
        <p:nvSpPr>
          <p:cNvPr id="13" name="Text 9"/>
          <p:cNvSpPr/>
          <p:nvPr/>
        </p:nvSpPr>
        <p:spPr>
          <a:xfrm>
            <a:off x="4553712" y="3611880"/>
            <a:ext cx="3081528" cy="365760"/>
          </a:xfrm>
          <a:prstGeom prst="rect">
            <a:avLst/>
          </a:prstGeom>
          <a:noFill/>
          <a:ln/>
        </p:spPr>
        <p:txBody>
          <a:bodyPr wrap="square" lIns="0" tIns="0" rIns="0" bIns="0" rtlCol="0" anchor="ctr"/>
          <a:lstStyle/>
          <a:p>
            <a:pPr marL="0" indent="0" algn="ctr">
              <a:buNone/>
            </a:pPr>
            <a:r>
              <a:rPr lang="en-US" sz="1700" b="1" dirty="0">
                <a:solidFill>
                  <a:srgbClr val="B0552F"/>
                </a:solidFill>
                <a:latin typeface="Cambria" pitchFamily="34" charset="0"/>
                <a:ea typeface="Cambria" pitchFamily="34" charset="-122"/>
                <a:cs typeface="Cambria" pitchFamily="34" charset="-120"/>
              </a:rPr>
              <a:t>The bird brains</a:t>
            </a:r>
            <a:endParaRPr lang="en-US" sz="1700" dirty="0"/>
          </a:p>
        </p:txBody>
      </p:sp>
      <p:sp>
        <p:nvSpPr>
          <p:cNvPr id="14" name="Text 10"/>
          <p:cNvSpPr/>
          <p:nvPr/>
        </p:nvSpPr>
        <p:spPr>
          <a:xfrm>
            <a:off x="4599432" y="4005072"/>
            <a:ext cx="2990088" cy="914400"/>
          </a:xfrm>
          <a:prstGeom prst="rect">
            <a:avLst/>
          </a:prstGeom>
          <a:noFill/>
          <a:ln/>
        </p:spPr>
        <p:txBody>
          <a:bodyPr wrap="square" lIns="0" tIns="0" rIns="0" bIns="0" rtlCol="0" anchor="ctr"/>
          <a:lstStyle/>
          <a:p>
            <a:pPr marL="0" indent="0" algn="ctr">
              <a:lnSpc>
                <a:spcPct val="106000"/>
              </a:lnSpc>
              <a:buNone/>
            </a:pPr>
            <a:r>
              <a:rPr lang="en-US" sz="1250" dirty="0">
                <a:solidFill>
                  <a:srgbClr val="4A3C2C"/>
                </a:solidFill>
                <a:latin typeface="Calibri" pitchFamily="34" charset="0"/>
                <a:ea typeface="Calibri" pitchFamily="34" charset="-122"/>
                <a:cs typeface="Calibri" pitchFamily="34" charset="-120"/>
              </a:rPr>
              <a:t>BirdNET research from Cornell was shared openly, and a whole family of projects grew from it, including ours.</a:t>
            </a:r>
            <a:endParaRPr lang="en-US" sz="1250" dirty="0"/>
          </a:p>
        </p:txBody>
      </p:sp>
      <p:sp>
        <p:nvSpPr>
          <p:cNvPr id="15" name="Shape 11"/>
          <p:cNvSpPr/>
          <p:nvPr/>
        </p:nvSpPr>
        <p:spPr>
          <a:xfrm>
            <a:off x="8101584" y="2286000"/>
            <a:ext cx="3538728" cy="2651760"/>
          </a:xfrm>
          <a:prstGeom prst="roundRect">
            <a:avLst>
              <a:gd name="adj" fmla="val 4138"/>
            </a:avLst>
          </a:prstGeom>
          <a:solidFill>
            <a:srgbClr val="F3EEE3"/>
          </a:solidFill>
          <a:ln w="12700">
            <a:solidFill>
              <a:srgbClr val="DDD3BF"/>
            </a:solidFill>
            <a:prstDash val="solid"/>
          </a:ln>
        </p:spPr>
        <p:txBody>
          <a:bodyPr/>
          <a:lstStyle/>
          <a:p>
            <a:endParaRPr lang="en-US"/>
          </a:p>
        </p:txBody>
      </p:sp>
      <p:sp>
        <p:nvSpPr>
          <p:cNvPr id="16" name="Shape 12"/>
          <p:cNvSpPr/>
          <p:nvPr/>
        </p:nvSpPr>
        <p:spPr>
          <a:xfrm>
            <a:off x="9459468" y="2606040"/>
            <a:ext cx="822960" cy="822960"/>
          </a:xfrm>
          <a:prstGeom prst="ellipse">
            <a:avLst/>
          </a:prstGeom>
          <a:solidFill>
            <a:srgbClr val="B98F35"/>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665208" y="2811780"/>
            <a:ext cx="411480" cy="411480"/>
          </a:xfrm>
          <a:prstGeom prst="rect">
            <a:avLst/>
          </a:prstGeom>
        </p:spPr>
      </p:pic>
      <p:sp>
        <p:nvSpPr>
          <p:cNvPr id="18" name="Text 13"/>
          <p:cNvSpPr/>
          <p:nvPr/>
        </p:nvSpPr>
        <p:spPr>
          <a:xfrm>
            <a:off x="8330184" y="3611880"/>
            <a:ext cx="3081528" cy="365760"/>
          </a:xfrm>
          <a:prstGeom prst="rect">
            <a:avLst/>
          </a:prstGeom>
          <a:noFill/>
          <a:ln/>
        </p:spPr>
        <p:txBody>
          <a:bodyPr wrap="square" lIns="0" tIns="0" rIns="0" bIns="0" rtlCol="0" anchor="ctr"/>
          <a:lstStyle/>
          <a:p>
            <a:pPr marL="0" indent="0" algn="ctr">
              <a:buNone/>
            </a:pPr>
            <a:r>
              <a:rPr lang="en-US" sz="1700" b="1" dirty="0">
                <a:solidFill>
                  <a:srgbClr val="B0552F"/>
                </a:solidFill>
                <a:latin typeface="Cambria" pitchFamily="34" charset="0"/>
                <a:ea typeface="Cambria" pitchFamily="34" charset="-122"/>
                <a:cs typeface="Cambria" pitchFamily="34" charset="-120"/>
              </a:rPr>
              <a:t>The invisible helpers</a:t>
            </a:r>
            <a:endParaRPr lang="en-US" sz="1700" dirty="0"/>
          </a:p>
        </p:txBody>
      </p:sp>
      <p:sp>
        <p:nvSpPr>
          <p:cNvPr id="19" name="Text 14"/>
          <p:cNvSpPr/>
          <p:nvPr/>
        </p:nvSpPr>
        <p:spPr>
          <a:xfrm>
            <a:off x="8375904" y="4005072"/>
            <a:ext cx="2990088" cy="914400"/>
          </a:xfrm>
          <a:prstGeom prst="rect">
            <a:avLst/>
          </a:prstGeom>
          <a:noFill/>
          <a:ln/>
        </p:spPr>
        <p:txBody>
          <a:bodyPr wrap="square" lIns="0" tIns="0" rIns="0" bIns="0" rtlCol="0" anchor="ctr"/>
          <a:lstStyle/>
          <a:p>
            <a:pPr marL="0" indent="0" algn="ctr">
              <a:lnSpc>
                <a:spcPct val="106000"/>
              </a:lnSpc>
              <a:buNone/>
            </a:pPr>
            <a:r>
              <a:rPr lang="en-US" sz="1250" dirty="0">
                <a:solidFill>
                  <a:srgbClr val="4A3C2C"/>
                </a:solidFill>
                <a:latin typeface="Calibri" pitchFamily="34" charset="0"/>
                <a:ea typeface="Calibri" pitchFamily="34" charset="-122"/>
                <a:cs typeface="Calibri" pitchFamily="34" charset="-120"/>
              </a:rPr>
              <a:t>Databases, dashboards, and dozens of small libraries, each one maintained by volunteers and companies in the open.</a:t>
            </a:r>
            <a:endParaRPr lang="en-US" sz="1250" dirty="0"/>
          </a:p>
        </p:txBody>
      </p:sp>
      <p:sp>
        <p:nvSpPr>
          <p:cNvPr id="20" name="Shape 15"/>
          <p:cNvSpPr/>
          <p:nvPr/>
        </p:nvSpPr>
        <p:spPr>
          <a:xfrm>
            <a:off x="548640" y="5257800"/>
            <a:ext cx="11091672" cy="777240"/>
          </a:xfrm>
          <a:prstGeom prst="roundRect">
            <a:avLst>
              <a:gd name="adj" fmla="val 11765"/>
            </a:avLst>
          </a:prstGeom>
          <a:solidFill>
            <a:srgbClr val="33291F"/>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841248" y="5472684"/>
            <a:ext cx="347472" cy="347472"/>
          </a:xfrm>
          <a:prstGeom prst="rect">
            <a:avLst/>
          </a:prstGeom>
        </p:spPr>
      </p:pic>
      <p:sp>
        <p:nvSpPr>
          <p:cNvPr id="22" name="Text 16"/>
          <p:cNvSpPr/>
          <p:nvPr/>
        </p:nvSpPr>
        <p:spPr>
          <a:xfrm>
            <a:off x="1371600" y="5257800"/>
            <a:ext cx="9994392"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Every piece of that generosity is organized, stored, and shared in one place: GitHub.</a:t>
            </a:r>
            <a:endParaRPr lang="en-US" sz="1500" dirty="0"/>
          </a:p>
        </p:txBody>
      </p:sp>
      <p:pic>
        <p:nvPicPr>
          <p:cNvPr id="23" name="Image 2" descr="/home/claude/assets/cije_mark.png">
            <a:extLst>
              <a:ext uri="{FF2B5EF4-FFF2-40B4-BE49-F238E27FC236}">
                <a16:creationId xmlns:a16="http://schemas.microsoft.com/office/drawing/2014/main" id="{910B0AC6-CBF6-8429-8DB2-6451B6533559}"/>
              </a:ext>
            </a:extLst>
          </p:cNvPr>
          <p:cNvPicPr>
            <a:picLocks noChangeAspect="1"/>
          </p:cNvPicPr>
          <p:nvPr/>
        </p:nvPicPr>
        <p:blipFill>
          <a:blip r:embed="rId7">
            <a:alphaModFix amt="75000"/>
          </a:blip>
          <a:stretch>
            <a:fillRect/>
          </a:stretch>
        </p:blipFill>
        <p:spPr>
          <a:xfrm>
            <a:off x="11448288" y="6419088"/>
            <a:ext cx="512064" cy="3456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What does open source actually mean?</a:t>
            </a:r>
            <a:endParaRPr lang="en-US" sz="3000" dirty="0"/>
          </a:p>
        </p:txBody>
      </p:sp>
      <p:sp>
        <p:nvSpPr>
          <p:cNvPr id="4" name="Shape 2"/>
          <p:cNvSpPr/>
          <p:nvPr/>
        </p:nvSpPr>
        <p:spPr>
          <a:xfrm>
            <a:off x="548640" y="1554480"/>
            <a:ext cx="6766560" cy="1051560"/>
          </a:xfrm>
          <a:prstGeom prst="roundRect">
            <a:avLst>
              <a:gd name="adj" fmla="val 8696"/>
            </a:avLst>
          </a:prstGeom>
          <a:solidFill>
            <a:srgbClr val="EAF0F2"/>
          </a:solidFill>
          <a:ln w="12700">
            <a:solidFill>
              <a:srgbClr val="DDD3BF"/>
            </a:solidFill>
            <a:prstDash val="solid"/>
          </a:ln>
        </p:spPr>
        <p:txBody>
          <a:bodyPr/>
          <a:lstStyle/>
          <a:p>
            <a:endParaRPr lang="en-US"/>
          </a:p>
        </p:txBody>
      </p:sp>
      <p:sp>
        <p:nvSpPr>
          <p:cNvPr id="5" name="Text 3"/>
          <p:cNvSpPr/>
          <p:nvPr/>
        </p:nvSpPr>
        <p:spPr>
          <a:xfrm>
            <a:off x="822960" y="1554480"/>
            <a:ext cx="6217920" cy="1051560"/>
          </a:xfrm>
          <a:prstGeom prst="rect">
            <a:avLst/>
          </a:prstGeom>
          <a:noFill/>
          <a:ln/>
        </p:spPr>
        <p:txBody>
          <a:bodyPr wrap="square" lIns="0" tIns="0" rIns="0" bIns="0" rtlCol="0" anchor="ctr"/>
          <a:lstStyle/>
          <a:p>
            <a:pPr marL="0" indent="0">
              <a:lnSpc>
                <a:spcPct val="110000"/>
              </a:lnSpc>
              <a:buNone/>
            </a:pPr>
            <a:r>
              <a:rPr lang="en-US" sz="1550" dirty="0">
                <a:solidFill>
                  <a:srgbClr val="33291F"/>
                </a:solidFill>
                <a:latin typeface="Calibri" pitchFamily="34" charset="0"/>
                <a:ea typeface="Calibri" pitchFamily="34" charset="-122"/>
                <a:cs typeface="Calibri" pitchFamily="34" charset="-120"/>
              </a:rPr>
              <a:t>Open source software is code whose </a:t>
            </a:r>
            <a:r>
              <a:rPr lang="en-US" sz="1550" b="1" dirty="0">
                <a:solidFill>
                  <a:srgbClr val="B0552F"/>
                </a:solidFill>
                <a:latin typeface="Calibri" pitchFamily="34" charset="0"/>
                <a:ea typeface="Calibri" pitchFamily="34" charset="-122"/>
                <a:cs typeface="Calibri" pitchFamily="34" charset="-120"/>
              </a:rPr>
              <a:t>recipe is public</a:t>
            </a:r>
            <a:r>
              <a:rPr lang="en-US" sz="1550" dirty="0">
                <a:solidFill>
                  <a:srgbClr val="33291F"/>
                </a:solidFill>
                <a:latin typeface="Calibri" pitchFamily="34" charset="0"/>
                <a:ea typeface="Calibri" pitchFamily="34" charset="-122"/>
                <a:cs typeface="Calibri" pitchFamily="34" charset="-120"/>
              </a:rPr>
              <a:t>. Anyone may read it, run it, change it, and pass their changes on.</a:t>
            </a:r>
            <a:endParaRPr lang="en-US" sz="1550" dirty="0"/>
          </a:p>
        </p:txBody>
      </p:sp>
      <p:sp>
        <p:nvSpPr>
          <p:cNvPr id="6" name="Shape 4"/>
          <p:cNvSpPr/>
          <p:nvPr/>
        </p:nvSpPr>
        <p:spPr>
          <a:xfrm>
            <a:off x="548640" y="2834640"/>
            <a:ext cx="566928" cy="566928"/>
          </a:xfrm>
          <a:prstGeom prst="ellipse">
            <a:avLst/>
          </a:prstGeom>
          <a:solidFill>
            <a:srgbClr val="5E7A8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690372" y="2976372"/>
            <a:ext cx="283464" cy="283464"/>
          </a:xfrm>
          <a:prstGeom prst="rect">
            <a:avLst/>
          </a:prstGeom>
        </p:spPr>
      </p:pic>
      <p:sp>
        <p:nvSpPr>
          <p:cNvPr id="8" name="Text 5"/>
          <p:cNvSpPr/>
          <p:nvPr/>
        </p:nvSpPr>
        <p:spPr>
          <a:xfrm>
            <a:off x="1298448" y="2816352"/>
            <a:ext cx="1737360" cy="320040"/>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Use it</a:t>
            </a:r>
            <a:endParaRPr lang="en-US" sz="1600" dirty="0"/>
          </a:p>
        </p:txBody>
      </p:sp>
      <p:sp>
        <p:nvSpPr>
          <p:cNvPr id="9" name="Text 6"/>
          <p:cNvSpPr/>
          <p:nvPr/>
        </p:nvSpPr>
        <p:spPr>
          <a:xfrm>
            <a:off x="3063240" y="2816352"/>
            <a:ext cx="4297680" cy="566928"/>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Run the software for any purpose, no permission slip required.</a:t>
            </a:r>
            <a:endParaRPr lang="en-US" sz="1300" dirty="0"/>
          </a:p>
        </p:txBody>
      </p:sp>
      <p:sp>
        <p:nvSpPr>
          <p:cNvPr id="10" name="Shape 7"/>
          <p:cNvSpPr/>
          <p:nvPr/>
        </p:nvSpPr>
        <p:spPr>
          <a:xfrm>
            <a:off x="548640" y="3584448"/>
            <a:ext cx="566928" cy="566928"/>
          </a:xfrm>
          <a:prstGeom prst="ellipse">
            <a:avLst/>
          </a:prstGeom>
          <a:solidFill>
            <a:srgbClr val="B98F35"/>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90372" y="3726180"/>
            <a:ext cx="283464" cy="283464"/>
          </a:xfrm>
          <a:prstGeom prst="rect">
            <a:avLst/>
          </a:prstGeom>
        </p:spPr>
      </p:pic>
      <p:sp>
        <p:nvSpPr>
          <p:cNvPr id="12" name="Text 8"/>
          <p:cNvSpPr/>
          <p:nvPr/>
        </p:nvSpPr>
        <p:spPr>
          <a:xfrm>
            <a:off x="1298448" y="3566160"/>
            <a:ext cx="1737360" cy="320040"/>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Study it</a:t>
            </a:r>
            <a:endParaRPr lang="en-US" sz="1600" dirty="0"/>
          </a:p>
        </p:txBody>
      </p:sp>
      <p:sp>
        <p:nvSpPr>
          <p:cNvPr id="13" name="Text 9"/>
          <p:cNvSpPr/>
          <p:nvPr/>
        </p:nvSpPr>
        <p:spPr>
          <a:xfrm>
            <a:off x="3063240" y="3566160"/>
            <a:ext cx="4297680" cy="566928"/>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Open the hood. See exactly how it works, line by line.</a:t>
            </a:r>
            <a:endParaRPr lang="en-US" sz="1300" dirty="0"/>
          </a:p>
        </p:txBody>
      </p:sp>
      <p:sp>
        <p:nvSpPr>
          <p:cNvPr id="14" name="Shape 10"/>
          <p:cNvSpPr/>
          <p:nvPr/>
        </p:nvSpPr>
        <p:spPr>
          <a:xfrm>
            <a:off x="548640" y="4334256"/>
            <a:ext cx="566928" cy="566928"/>
          </a:xfrm>
          <a:prstGeom prst="ellipse">
            <a:avLst/>
          </a:prstGeom>
          <a:solidFill>
            <a:srgbClr val="B0552F"/>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90372" y="4475988"/>
            <a:ext cx="283464" cy="283464"/>
          </a:xfrm>
          <a:prstGeom prst="rect">
            <a:avLst/>
          </a:prstGeom>
        </p:spPr>
      </p:pic>
      <p:sp>
        <p:nvSpPr>
          <p:cNvPr id="16" name="Text 11"/>
          <p:cNvSpPr/>
          <p:nvPr/>
        </p:nvSpPr>
        <p:spPr>
          <a:xfrm>
            <a:off x="1298448" y="4315968"/>
            <a:ext cx="1737360" cy="320040"/>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Change it</a:t>
            </a:r>
            <a:endParaRPr lang="en-US" sz="1600" dirty="0"/>
          </a:p>
        </p:txBody>
      </p:sp>
      <p:sp>
        <p:nvSpPr>
          <p:cNvPr id="17" name="Text 12"/>
          <p:cNvSpPr/>
          <p:nvPr/>
        </p:nvSpPr>
        <p:spPr>
          <a:xfrm>
            <a:off x="3063240" y="4315968"/>
            <a:ext cx="4297680" cy="566928"/>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Fix a bug, add a feature, adapt it to your classroom.</a:t>
            </a:r>
            <a:endParaRPr lang="en-US" sz="1300" dirty="0"/>
          </a:p>
        </p:txBody>
      </p:sp>
      <p:sp>
        <p:nvSpPr>
          <p:cNvPr id="18" name="Shape 13"/>
          <p:cNvSpPr/>
          <p:nvPr/>
        </p:nvSpPr>
        <p:spPr>
          <a:xfrm>
            <a:off x="548640" y="5084064"/>
            <a:ext cx="566928" cy="566928"/>
          </a:xfrm>
          <a:prstGeom prst="ellipse">
            <a:avLst/>
          </a:prstGeom>
          <a:solidFill>
            <a:srgbClr val="4A6472"/>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690372" y="5225796"/>
            <a:ext cx="283464" cy="283464"/>
          </a:xfrm>
          <a:prstGeom prst="rect">
            <a:avLst/>
          </a:prstGeom>
        </p:spPr>
      </p:pic>
      <p:sp>
        <p:nvSpPr>
          <p:cNvPr id="20" name="Text 14"/>
          <p:cNvSpPr/>
          <p:nvPr/>
        </p:nvSpPr>
        <p:spPr>
          <a:xfrm>
            <a:off x="1298448" y="5065776"/>
            <a:ext cx="1737360" cy="320040"/>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Share it</a:t>
            </a:r>
            <a:endParaRPr lang="en-US" sz="1600" dirty="0"/>
          </a:p>
        </p:txBody>
      </p:sp>
      <p:sp>
        <p:nvSpPr>
          <p:cNvPr id="21" name="Text 15"/>
          <p:cNvSpPr/>
          <p:nvPr/>
        </p:nvSpPr>
        <p:spPr>
          <a:xfrm>
            <a:off x="3063240" y="5065776"/>
            <a:ext cx="4297680" cy="566928"/>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Publish your improved version so the next person starts further ahead.</a:t>
            </a:r>
            <a:endParaRPr lang="en-US" sz="1300" dirty="0"/>
          </a:p>
        </p:txBody>
      </p:sp>
      <p:sp>
        <p:nvSpPr>
          <p:cNvPr id="22" name="Shape 16"/>
          <p:cNvSpPr/>
          <p:nvPr/>
        </p:nvSpPr>
        <p:spPr>
          <a:xfrm>
            <a:off x="7589520" y="1554480"/>
            <a:ext cx="4050792" cy="4251960"/>
          </a:xfrm>
          <a:prstGeom prst="roundRect">
            <a:avLst>
              <a:gd name="adj" fmla="val 2709"/>
            </a:avLst>
          </a:prstGeom>
          <a:solidFill>
            <a:srgbClr val="F3EEE3"/>
          </a:solidFill>
          <a:ln w="12700">
            <a:solidFill>
              <a:srgbClr val="DDD3BF"/>
            </a:solidFill>
            <a:prstDash val="solid"/>
          </a:ln>
        </p:spPr>
        <p:txBody>
          <a:bodyPr/>
          <a:lstStyle/>
          <a:p>
            <a:endParaRPr lang="en-US"/>
          </a:p>
        </p:txBody>
      </p:sp>
      <p:sp>
        <p:nvSpPr>
          <p:cNvPr id="23" name="Shape 17"/>
          <p:cNvSpPr/>
          <p:nvPr/>
        </p:nvSpPr>
        <p:spPr>
          <a:xfrm>
            <a:off x="9208008" y="1874520"/>
            <a:ext cx="822960" cy="822960"/>
          </a:xfrm>
          <a:prstGeom prst="ellipse">
            <a:avLst/>
          </a:prstGeom>
          <a:solidFill>
            <a:srgbClr val="33291F"/>
          </a:solidFill>
          <a:ln/>
        </p:spPr>
        <p:txBody>
          <a:bodyPr/>
          <a:lstStyle/>
          <a:p>
            <a:endParaRPr lang="en-US"/>
          </a:p>
        </p:txBody>
      </p:sp>
      <p:pic>
        <p:nvPicPr>
          <p:cNvPr id="24" name="Image 4" descr="preencoded.png"/>
          <p:cNvPicPr>
            <a:picLocks noChangeAspect="1"/>
          </p:cNvPicPr>
          <p:nvPr/>
        </p:nvPicPr>
        <p:blipFill>
          <a:blip r:embed="rId7"/>
          <a:stretch>
            <a:fillRect/>
          </a:stretch>
        </p:blipFill>
        <p:spPr>
          <a:xfrm>
            <a:off x="9413748" y="2080260"/>
            <a:ext cx="411480" cy="411480"/>
          </a:xfrm>
          <a:prstGeom prst="rect">
            <a:avLst/>
          </a:prstGeom>
        </p:spPr>
      </p:pic>
      <p:sp>
        <p:nvSpPr>
          <p:cNvPr id="25" name="Text 18"/>
          <p:cNvSpPr/>
          <p:nvPr/>
        </p:nvSpPr>
        <p:spPr>
          <a:xfrm>
            <a:off x="7818120" y="2880360"/>
            <a:ext cx="3593592" cy="365760"/>
          </a:xfrm>
          <a:prstGeom prst="rect">
            <a:avLst/>
          </a:prstGeom>
          <a:noFill/>
          <a:ln/>
        </p:spPr>
        <p:txBody>
          <a:bodyPr wrap="square" lIns="0" tIns="0" rIns="0" bIns="0" rtlCol="0" anchor="ctr"/>
          <a:lstStyle/>
          <a:p>
            <a:pPr marL="0" indent="0" algn="ctr">
              <a:buNone/>
            </a:pPr>
            <a:r>
              <a:rPr lang="en-US" sz="1600" b="1" dirty="0">
                <a:solidFill>
                  <a:srgbClr val="B0552F"/>
                </a:solidFill>
                <a:latin typeface="Cambria" pitchFamily="34" charset="0"/>
                <a:ea typeface="Cambria" pitchFamily="34" charset="-122"/>
                <a:cs typeface="Cambria" pitchFamily="34" charset="-120"/>
              </a:rPr>
              <a:t>Open is a license, not a vibe</a:t>
            </a:r>
            <a:endParaRPr lang="en-US" sz="1600" dirty="0"/>
          </a:p>
        </p:txBody>
      </p:sp>
      <p:sp>
        <p:nvSpPr>
          <p:cNvPr id="26" name="Text 19"/>
          <p:cNvSpPr/>
          <p:nvPr/>
        </p:nvSpPr>
        <p:spPr>
          <a:xfrm>
            <a:off x="7955280" y="3310128"/>
            <a:ext cx="3319272" cy="1463040"/>
          </a:xfrm>
          <a:prstGeom prst="rect">
            <a:avLst/>
          </a:prstGeom>
          <a:noFill/>
          <a:ln/>
        </p:spPr>
        <p:txBody>
          <a:bodyPr wrap="square" lIns="0" tIns="0" rIns="0" bIns="0" rtlCol="0" anchor="ctr"/>
          <a:lstStyle/>
          <a:p>
            <a:pPr marL="0" indent="0" algn="ctr">
              <a:lnSpc>
                <a:spcPct val="110000"/>
              </a:lnSpc>
              <a:buNone/>
            </a:pPr>
            <a:r>
              <a:rPr lang="en-US" sz="1250" dirty="0">
                <a:solidFill>
                  <a:srgbClr val="4A3C2C"/>
                </a:solidFill>
                <a:latin typeface="Calibri" pitchFamily="34" charset="0"/>
                <a:ea typeface="Calibri" pitchFamily="34" charset="-122"/>
                <a:cs typeface="Calibri" pitchFamily="34" charset="-120"/>
              </a:rPr>
              <a:t>A short legal file in the project, the license, spells out the rules. Some ask only for credit. Some require that improvements stay open too. "Free" refers to freedom, not price.</a:t>
            </a:r>
            <a:endParaRPr lang="en-US" sz="1250" dirty="0"/>
          </a:p>
        </p:txBody>
      </p:sp>
      <p:sp>
        <p:nvSpPr>
          <p:cNvPr id="27" name="Text 20"/>
          <p:cNvSpPr/>
          <p:nvPr/>
        </p:nvSpPr>
        <p:spPr>
          <a:xfrm>
            <a:off x="7955280" y="4892040"/>
            <a:ext cx="3319272" cy="731520"/>
          </a:xfrm>
          <a:prstGeom prst="rect">
            <a:avLst/>
          </a:prstGeom>
          <a:noFill/>
          <a:ln/>
        </p:spPr>
        <p:txBody>
          <a:bodyPr wrap="square" lIns="0" tIns="0" rIns="0" bIns="0" rtlCol="0" anchor="ctr"/>
          <a:lstStyle/>
          <a:p>
            <a:pPr marL="0" indent="0" algn="ctr">
              <a:lnSpc>
                <a:spcPct val="108000"/>
              </a:lnSpc>
              <a:buNone/>
            </a:pPr>
            <a:r>
              <a:rPr lang="en-US" sz="1200" i="1" dirty="0">
                <a:solidFill>
                  <a:srgbClr val="4A6472"/>
                </a:solidFill>
                <a:latin typeface="Calibri" pitchFamily="34" charset="0"/>
                <a:ea typeface="Calibri" pitchFamily="34" charset="-122"/>
                <a:cs typeface="Calibri" pitchFamily="34" charset="-120"/>
              </a:rPr>
              <a:t>BirdNET, Linux, and Python each chose different licenses on purpose.</a:t>
            </a:r>
            <a:endParaRPr lang="en-US" sz="1200" dirty="0"/>
          </a:p>
        </p:txBody>
      </p:sp>
      <p:pic>
        <p:nvPicPr>
          <p:cNvPr id="28" name="Image 2" descr="/home/claude/assets/cije_mark.png">
            <a:extLst>
              <a:ext uri="{FF2B5EF4-FFF2-40B4-BE49-F238E27FC236}">
                <a16:creationId xmlns:a16="http://schemas.microsoft.com/office/drawing/2014/main" id="{4D8BC194-CC43-7785-2EFF-2D971DDDE7C4}"/>
              </a:ext>
            </a:extLst>
          </p:cNvPr>
          <p:cNvPicPr>
            <a:picLocks noChangeAspect="1"/>
          </p:cNvPicPr>
          <p:nvPr/>
        </p:nvPicPr>
        <p:blipFill>
          <a:blip r:embed="rId8">
            <a:alphaModFix amt="75000"/>
          </a:blip>
          <a:stretch>
            <a:fillRect/>
          </a:stretch>
        </p:blipFill>
        <p:spPr>
          <a:xfrm>
            <a:off x="11448288" y="6419088"/>
            <a:ext cx="512064" cy="3456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TWO WAYS TO BUILD</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locked kitchen and the community cookbook</a:t>
            </a:r>
            <a:endParaRPr lang="en-US" sz="3000" dirty="0"/>
          </a:p>
        </p:txBody>
      </p:sp>
      <p:sp>
        <p:nvSpPr>
          <p:cNvPr id="4" name="Shape 2"/>
          <p:cNvSpPr/>
          <p:nvPr/>
        </p:nvSpPr>
        <p:spPr>
          <a:xfrm>
            <a:off x="548640" y="1600200"/>
            <a:ext cx="5440680" cy="3794760"/>
          </a:xfrm>
          <a:prstGeom prst="roundRect">
            <a:avLst>
              <a:gd name="adj" fmla="val 2892"/>
            </a:avLst>
          </a:prstGeom>
          <a:solidFill>
            <a:srgbClr val="EDE6D6"/>
          </a:solidFill>
          <a:ln w="12700">
            <a:solidFill>
              <a:srgbClr val="DDD3BF"/>
            </a:solidFill>
            <a:prstDash val="solid"/>
          </a:ln>
        </p:spPr>
        <p:txBody>
          <a:bodyPr/>
          <a:lstStyle/>
          <a:p>
            <a:endParaRPr lang="en-US"/>
          </a:p>
        </p:txBody>
      </p:sp>
      <p:sp>
        <p:nvSpPr>
          <p:cNvPr id="5" name="Shape 3"/>
          <p:cNvSpPr/>
          <p:nvPr/>
        </p:nvSpPr>
        <p:spPr>
          <a:xfrm>
            <a:off x="868680" y="1874520"/>
            <a:ext cx="640080" cy="640080"/>
          </a:xfrm>
          <a:prstGeom prst="ellipse">
            <a:avLst/>
          </a:prstGeom>
          <a:solidFill>
            <a:srgbClr val="33291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28700" y="2034540"/>
            <a:ext cx="320040" cy="320040"/>
          </a:xfrm>
          <a:prstGeom prst="rect">
            <a:avLst/>
          </a:prstGeom>
        </p:spPr>
      </p:pic>
      <p:sp>
        <p:nvSpPr>
          <p:cNvPr id="7" name="Text 4"/>
          <p:cNvSpPr/>
          <p:nvPr/>
        </p:nvSpPr>
        <p:spPr>
          <a:xfrm>
            <a:off x="1691640" y="1947672"/>
            <a:ext cx="4023360" cy="502920"/>
          </a:xfrm>
          <a:prstGeom prst="rect">
            <a:avLst/>
          </a:prstGeom>
          <a:noFill/>
          <a:ln/>
        </p:spPr>
        <p:txBody>
          <a:bodyPr wrap="square" lIns="0" tIns="0" rIns="0" bIns="0" rtlCol="0" anchor="ctr"/>
          <a:lstStyle/>
          <a:p>
            <a:pPr marL="0" indent="0">
              <a:buNone/>
            </a:pPr>
            <a:r>
              <a:rPr lang="en-US" sz="2000" b="1" dirty="0">
                <a:solidFill>
                  <a:srgbClr val="33291F"/>
                </a:solidFill>
                <a:latin typeface="Cambria" pitchFamily="34" charset="0"/>
                <a:ea typeface="Cambria" pitchFamily="34" charset="-122"/>
                <a:cs typeface="Cambria" pitchFamily="34" charset="-120"/>
              </a:rPr>
              <a:t>Closed source</a:t>
            </a:r>
            <a:endParaRPr lang="en-US" sz="2000" dirty="0"/>
          </a:p>
        </p:txBody>
      </p:sp>
      <p:pic>
        <p:nvPicPr>
          <p:cNvPr id="8" name="Image 1" descr="preencoded.png"/>
          <p:cNvPicPr>
            <a:picLocks noChangeAspect="1"/>
          </p:cNvPicPr>
          <p:nvPr/>
        </p:nvPicPr>
        <p:blipFill>
          <a:blip r:embed="rId4"/>
          <a:stretch>
            <a:fillRect/>
          </a:stretch>
        </p:blipFill>
        <p:spPr>
          <a:xfrm>
            <a:off x="914400" y="2788920"/>
            <a:ext cx="237744" cy="237744"/>
          </a:xfrm>
          <a:prstGeom prst="rect">
            <a:avLst/>
          </a:prstGeom>
        </p:spPr>
      </p:pic>
      <p:sp>
        <p:nvSpPr>
          <p:cNvPr id="9" name="Text 5"/>
          <p:cNvSpPr/>
          <p:nvPr/>
        </p:nvSpPr>
        <p:spPr>
          <a:xfrm>
            <a:off x="1298448" y="2743200"/>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The recipe is a company secret; you only taste the dish</a:t>
            </a:r>
            <a:endParaRPr lang="en-US" sz="1250" dirty="0"/>
          </a:p>
        </p:txBody>
      </p:sp>
      <p:pic>
        <p:nvPicPr>
          <p:cNvPr id="10" name="Image 2" descr="preencoded.png"/>
          <p:cNvPicPr>
            <a:picLocks noChangeAspect="1"/>
          </p:cNvPicPr>
          <p:nvPr/>
        </p:nvPicPr>
        <p:blipFill>
          <a:blip r:embed="rId4"/>
          <a:stretch>
            <a:fillRect/>
          </a:stretch>
        </p:blipFill>
        <p:spPr>
          <a:xfrm>
            <a:off x="914400" y="3447288"/>
            <a:ext cx="237744" cy="237744"/>
          </a:xfrm>
          <a:prstGeom prst="rect">
            <a:avLst/>
          </a:prstGeom>
        </p:spPr>
      </p:pic>
      <p:sp>
        <p:nvSpPr>
          <p:cNvPr id="11" name="Text 6"/>
          <p:cNvSpPr/>
          <p:nvPr/>
        </p:nvSpPr>
        <p:spPr>
          <a:xfrm>
            <a:off x="1298448" y="3401568"/>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Bugs are fixed when, and if, the owner decides</a:t>
            </a:r>
            <a:endParaRPr lang="en-US" sz="1250" dirty="0"/>
          </a:p>
        </p:txBody>
      </p:sp>
      <p:pic>
        <p:nvPicPr>
          <p:cNvPr id="12" name="Image 3" descr="preencoded.png"/>
          <p:cNvPicPr>
            <a:picLocks noChangeAspect="1"/>
          </p:cNvPicPr>
          <p:nvPr/>
        </p:nvPicPr>
        <p:blipFill>
          <a:blip r:embed="rId4"/>
          <a:stretch>
            <a:fillRect/>
          </a:stretch>
        </p:blipFill>
        <p:spPr>
          <a:xfrm>
            <a:off x="914400" y="4105656"/>
            <a:ext cx="237744" cy="237744"/>
          </a:xfrm>
          <a:prstGeom prst="rect">
            <a:avLst/>
          </a:prstGeom>
        </p:spPr>
      </p:pic>
      <p:sp>
        <p:nvSpPr>
          <p:cNvPr id="13" name="Text 7"/>
          <p:cNvSpPr/>
          <p:nvPr/>
        </p:nvSpPr>
        <p:spPr>
          <a:xfrm>
            <a:off x="1298448" y="4059936"/>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If the company disappears, the software can die with it</a:t>
            </a:r>
            <a:endParaRPr lang="en-US" sz="1250" dirty="0"/>
          </a:p>
        </p:txBody>
      </p:sp>
      <p:pic>
        <p:nvPicPr>
          <p:cNvPr id="14" name="Image 4" descr="preencoded.png"/>
          <p:cNvPicPr>
            <a:picLocks noChangeAspect="1"/>
          </p:cNvPicPr>
          <p:nvPr/>
        </p:nvPicPr>
        <p:blipFill>
          <a:blip r:embed="rId4"/>
          <a:stretch>
            <a:fillRect/>
          </a:stretch>
        </p:blipFill>
        <p:spPr>
          <a:xfrm>
            <a:off x="914400" y="4764024"/>
            <a:ext cx="237744" cy="237744"/>
          </a:xfrm>
          <a:prstGeom prst="rect">
            <a:avLst/>
          </a:prstGeom>
        </p:spPr>
      </p:pic>
      <p:sp>
        <p:nvSpPr>
          <p:cNvPr id="15" name="Text 8"/>
          <p:cNvSpPr/>
          <p:nvPr/>
        </p:nvSpPr>
        <p:spPr>
          <a:xfrm>
            <a:off x="1298448" y="4718304"/>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Trust is required: you cannot verify what it does</a:t>
            </a:r>
            <a:endParaRPr lang="en-US" sz="1250" dirty="0"/>
          </a:p>
        </p:txBody>
      </p:sp>
      <p:sp>
        <p:nvSpPr>
          <p:cNvPr id="16" name="Shape 9"/>
          <p:cNvSpPr/>
          <p:nvPr/>
        </p:nvSpPr>
        <p:spPr>
          <a:xfrm>
            <a:off x="6199632" y="1600200"/>
            <a:ext cx="5440680" cy="3794760"/>
          </a:xfrm>
          <a:prstGeom prst="roundRect">
            <a:avLst>
              <a:gd name="adj" fmla="val 2892"/>
            </a:avLst>
          </a:prstGeom>
          <a:solidFill>
            <a:srgbClr val="EAF0F2"/>
          </a:solidFill>
          <a:ln w="12700">
            <a:solidFill>
              <a:srgbClr val="DDD3BF"/>
            </a:solidFill>
            <a:prstDash val="solid"/>
          </a:ln>
        </p:spPr>
        <p:txBody>
          <a:bodyPr/>
          <a:lstStyle/>
          <a:p>
            <a:endParaRPr lang="en-US"/>
          </a:p>
        </p:txBody>
      </p:sp>
      <p:sp>
        <p:nvSpPr>
          <p:cNvPr id="17" name="Shape 10"/>
          <p:cNvSpPr/>
          <p:nvPr/>
        </p:nvSpPr>
        <p:spPr>
          <a:xfrm>
            <a:off x="6519672" y="1874520"/>
            <a:ext cx="640080" cy="640080"/>
          </a:xfrm>
          <a:prstGeom prst="ellipse">
            <a:avLst/>
          </a:prstGeom>
          <a:solidFill>
            <a:srgbClr val="B0552F"/>
          </a:solidFill>
          <a:ln/>
        </p:spPr>
        <p:txBody>
          <a:bodyPr/>
          <a:lstStyle/>
          <a:p>
            <a:endParaRPr lang="en-US"/>
          </a:p>
        </p:txBody>
      </p:sp>
      <p:pic>
        <p:nvPicPr>
          <p:cNvPr id="18" name="Image 5" descr="preencoded.png"/>
          <p:cNvPicPr>
            <a:picLocks noChangeAspect="1"/>
          </p:cNvPicPr>
          <p:nvPr/>
        </p:nvPicPr>
        <p:blipFill>
          <a:blip r:embed="rId5"/>
          <a:stretch>
            <a:fillRect/>
          </a:stretch>
        </p:blipFill>
        <p:spPr>
          <a:xfrm>
            <a:off x="6679692" y="2034540"/>
            <a:ext cx="320040" cy="320040"/>
          </a:xfrm>
          <a:prstGeom prst="rect">
            <a:avLst/>
          </a:prstGeom>
        </p:spPr>
      </p:pic>
      <p:sp>
        <p:nvSpPr>
          <p:cNvPr id="19" name="Text 11"/>
          <p:cNvSpPr/>
          <p:nvPr/>
        </p:nvSpPr>
        <p:spPr>
          <a:xfrm>
            <a:off x="7342632" y="1947672"/>
            <a:ext cx="4023360" cy="502920"/>
          </a:xfrm>
          <a:prstGeom prst="rect">
            <a:avLst/>
          </a:prstGeom>
          <a:noFill/>
          <a:ln/>
        </p:spPr>
        <p:txBody>
          <a:bodyPr wrap="square" lIns="0" tIns="0" rIns="0" bIns="0" rtlCol="0" anchor="ctr"/>
          <a:lstStyle/>
          <a:p>
            <a:pPr marL="0" indent="0">
              <a:buNone/>
            </a:pPr>
            <a:r>
              <a:rPr lang="en-US" sz="2000" b="1" dirty="0">
                <a:solidFill>
                  <a:srgbClr val="B0552F"/>
                </a:solidFill>
                <a:latin typeface="Cambria" pitchFamily="34" charset="0"/>
                <a:ea typeface="Cambria" pitchFamily="34" charset="-122"/>
                <a:cs typeface="Cambria" pitchFamily="34" charset="-120"/>
              </a:rPr>
              <a:t>Open source</a:t>
            </a:r>
            <a:endParaRPr lang="en-US" sz="2000" dirty="0"/>
          </a:p>
        </p:txBody>
      </p:sp>
      <p:pic>
        <p:nvPicPr>
          <p:cNvPr id="20" name="Image 6" descr="preencoded.png"/>
          <p:cNvPicPr>
            <a:picLocks noChangeAspect="1"/>
          </p:cNvPicPr>
          <p:nvPr/>
        </p:nvPicPr>
        <p:blipFill>
          <a:blip r:embed="rId6"/>
          <a:stretch>
            <a:fillRect/>
          </a:stretch>
        </p:blipFill>
        <p:spPr>
          <a:xfrm>
            <a:off x="6565392" y="2788920"/>
            <a:ext cx="237744" cy="237744"/>
          </a:xfrm>
          <a:prstGeom prst="rect">
            <a:avLst/>
          </a:prstGeom>
        </p:spPr>
      </p:pic>
      <p:sp>
        <p:nvSpPr>
          <p:cNvPr id="21" name="Text 12"/>
          <p:cNvSpPr/>
          <p:nvPr/>
        </p:nvSpPr>
        <p:spPr>
          <a:xfrm>
            <a:off x="6949440" y="2743200"/>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The recipe is printed for everyone; cooks improve it daily</a:t>
            </a:r>
            <a:endParaRPr lang="en-US" sz="1250" dirty="0"/>
          </a:p>
        </p:txBody>
      </p:sp>
      <p:pic>
        <p:nvPicPr>
          <p:cNvPr id="22" name="Image 7" descr="preencoded.png"/>
          <p:cNvPicPr>
            <a:picLocks noChangeAspect="1"/>
          </p:cNvPicPr>
          <p:nvPr/>
        </p:nvPicPr>
        <p:blipFill>
          <a:blip r:embed="rId6"/>
          <a:stretch>
            <a:fillRect/>
          </a:stretch>
        </p:blipFill>
        <p:spPr>
          <a:xfrm>
            <a:off x="6565392" y="3447288"/>
            <a:ext cx="237744" cy="237744"/>
          </a:xfrm>
          <a:prstGeom prst="rect">
            <a:avLst/>
          </a:prstGeom>
        </p:spPr>
      </p:pic>
      <p:sp>
        <p:nvSpPr>
          <p:cNvPr id="23" name="Text 13"/>
          <p:cNvSpPr/>
          <p:nvPr/>
        </p:nvSpPr>
        <p:spPr>
          <a:xfrm>
            <a:off x="6949440" y="3401568"/>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Thousands of eyes find bugs and security holes fast</a:t>
            </a:r>
            <a:endParaRPr lang="en-US" sz="1250" dirty="0"/>
          </a:p>
        </p:txBody>
      </p:sp>
      <p:pic>
        <p:nvPicPr>
          <p:cNvPr id="24" name="Image 8" descr="preencoded.png"/>
          <p:cNvPicPr>
            <a:picLocks noChangeAspect="1"/>
          </p:cNvPicPr>
          <p:nvPr/>
        </p:nvPicPr>
        <p:blipFill>
          <a:blip r:embed="rId6"/>
          <a:stretch>
            <a:fillRect/>
          </a:stretch>
        </p:blipFill>
        <p:spPr>
          <a:xfrm>
            <a:off x="6565392" y="4105656"/>
            <a:ext cx="237744" cy="237744"/>
          </a:xfrm>
          <a:prstGeom prst="rect">
            <a:avLst/>
          </a:prstGeom>
        </p:spPr>
      </p:pic>
      <p:sp>
        <p:nvSpPr>
          <p:cNvPr id="25" name="Text 14"/>
          <p:cNvSpPr/>
          <p:nvPr/>
        </p:nvSpPr>
        <p:spPr>
          <a:xfrm>
            <a:off x="6949440" y="4059936"/>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Projects can outlive their creators, adopted by new hands</a:t>
            </a:r>
            <a:endParaRPr lang="en-US" sz="1250" dirty="0"/>
          </a:p>
        </p:txBody>
      </p:sp>
      <p:pic>
        <p:nvPicPr>
          <p:cNvPr id="26" name="Image 9" descr="preencoded.png"/>
          <p:cNvPicPr>
            <a:picLocks noChangeAspect="1"/>
          </p:cNvPicPr>
          <p:nvPr/>
        </p:nvPicPr>
        <p:blipFill>
          <a:blip r:embed="rId6"/>
          <a:stretch>
            <a:fillRect/>
          </a:stretch>
        </p:blipFill>
        <p:spPr>
          <a:xfrm>
            <a:off x="6565392" y="4764024"/>
            <a:ext cx="237744" cy="237744"/>
          </a:xfrm>
          <a:prstGeom prst="rect">
            <a:avLst/>
          </a:prstGeom>
        </p:spPr>
      </p:pic>
      <p:sp>
        <p:nvSpPr>
          <p:cNvPr id="27" name="Text 15"/>
          <p:cNvSpPr/>
          <p:nvPr/>
        </p:nvSpPr>
        <p:spPr>
          <a:xfrm>
            <a:off x="6949440" y="4718304"/>
            <a:ext cx="4434840" cy="621792"/>
          </a:xfrm>
          <a:prstGeom prst="rect">
            <a:avLst/>
          </a:prstGeom>
          <a:noFill/>
          <a:ln/>
        </p:spPr>
        <p:txBody>
          <a:bodyPr wrap="square" lIns="0" tIns="0" rIns="0" bIns="0" rtlCol="0" anchor="ctr"/>
          <a:lstStyle/>
          <a:p>
            <a:pPr marL="0" indent="0">
              <a:lnSpc>
                <a:spcPct val="102000"/>
              </a:lnSpc>
              <a:buNone/>
            </a:pPr>
            <a:r>
              <a:rPr lang="en-US" sz="1250" dirty="0">
                <a:solidFill>
                  <a:srgbClr val="4A3C2C"/>
                </a:solidFill>
                <a:latin typeface="Calibri" pitchFamily="34" charset="0"/>
                <a:ea typeface="Calibri" pitchFamily="34" charset="-122"/>
                <a:cs typeface="Calibri" pitchFamily="34" charset="-120"/>
              </a:rPr>
              <a:t>Trust is earned: anyone can inspect every line</a:t>
            </a:r>
            <a:endParaRPr lang="en-US" sz="1250" dirty="0"/>
          </a:p>
        </p:txBody>
      </p:sp>
      <p:sp>
        <p:nvSpPr>
          <p:cNvPr id="28" name="Shape 16"/>
          <p:cNvSpPr/>
          <p:nvPr/>
        </p:nvSpPr>
        <p:spPr>
          <a:xfrm>
            <a:off x="548640" y="5623560"/>
            <a:ext cx="11091672" cy="777240"/>
          </a:xfrm>
          <a:prstGeom prst="roundRect">
            <a:avLst>
              <a:gd name="adj" fmla="val 11765"/>
            </a:avLst>
          </a:prstGeom>
          <a:solidFill>
            <a:srgbClr val="33291F"/>
          </a:solidFill>
          <a:ln/>
        </p:spPr>
        <p:txBody>
          <a:bodyPr/>
          <a:lstStyle/>
          <a:p>
            <a:endParaRPr lang="en-US"/>
          </a:p>
        </p:txBody>
      </p:sp>
      <p:pic>
        <p:nvPicPr>
          <p:cNvPr id="29" name="Image 10" descr="preencoded.png"/>
          <p:cNvPicPr>
            <a:picLocks noChangeAspect="1"/>
          </p:cNvPicPr>
          <p:nvPr/>
        </p:nvPicPr>
        <p:blipFill>
          <a:blip r:embed="rId7"/>
          <a:stretch>
            <a:fillRect/>
          </a:stretch>
        </p:blipFill>
        <p:spPr>
          <a:xfrm>
            <a:off x="841248" y="5838444"/>
            <a:ext cx="347472" cy="347472"/>
          </a:xfrm>
          <a:prstGeom prst="rect">
            <a:avLst/>
          </a:prstGeom>
        </p:spPr>
      </p:pic>
      <p:sp>
        <p:nvSpPr>
          <p:cNvPr id="30" name="Text 17"/>
          <p:cNvSpPr/>
          <p:nvPr/>
        </p:nvSpPr>
        <p:spPr>
          <a:xfrm>
            <a:off x="1371600" y="5623560"/>
            <a:ext cx="9994392" cy="777240"/>
          </a:xfrm>
          <a:prstGeom prst="rect">
            <a:avLst/>
          </a:prstGeom>
          <a:noFill/>
          <a:ln/>
        </p:spPr>
        <p:txBody>
          <a:bodyPr wrap="square" lIns="0" tIns="0" rIns="0" bIns="0" rtlCol="0" anchor="ctr"/>
          <a:lstStyle/>
          <a:p>
            <a:pPr marL="0" indent="0">
              <a:lnSpc>
                <a:spcPct val="105000"/>
              </a:lnSpc>
              <a:buNone/>
            </a:pPr>
            <a:r>
              <a:rPr lang="en-US" sz="1400" b="1" dirty="0">
                <a:solidFill>
                  <a:srgbClr val="FFFFFF"/>
                </a:solidFill>
                <a:latin typeface="Calibri" pitchFamily="34" charset="0"/>
                <a:ea typeface="Calibri" pitchFamily="34" charset="-122"/>
                <a:cs typeface="Calibri" pitchFamily="34" charset="-120"/>
              </a:rPr>
              <a:t>Neither is evil and neither is magic. But the open model is how most of the modern world's software infrastructure gets built.</a:t>
            </a:r>
            <a:endParaRPr lang="en-US" sz="1400" dirty="0"/>
          </a:p>
        </p:txBody>
      </p:sp>
      <p:pic>
        <p:nvPicPr>
          <p:cNvPr id="31" name="Image 2" descr="/home/claude/assets/cije_mark.png">
            <a:extLst>
              <a:ext uri="{FF2B5EF4-FFF2-40B4-BE49-F238E27FC236}">
                <a16:creationId xmlns:a16="http://schemas.microsoft.com/office/drawing/2014/main" id="{EEBE84D6-8B2F-5D5B-AAF5-C55D7CE30D93}"/>
              </a:ext>
            </a:extLst>
          </p:cNvPr>
          <p:cNvPicPr>
            <a:picLocks noChangeAspect="1"/>
          </p:cNvPicPr>
          <p:nvPr/>
        </p:nvPicPr>
        <p:blipFill>
          <a:blip r:embed="rId8">
            <a:alphaModFix amt="75000"/>
          </a:blip>
          <a:stretch>
            <a:fillRect/>
          </a:stretch>
        </p:blipFill>
        <p:spPr>
          <a:xfrm>
            <a:off x="11448288" y="6419088"/>
            <a:ext cx="512064" cy="3456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PROOF AT PLANETARY SCALE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Giants that grew up in the open</a:t>
            </a:r>
            <a:endParaRPr lang="en-US" sz="3000" dirty="0"/>
          </a:p>
        </p:txBody>
      </p:sp>
      <p:sp>
        <p:nvSpPr>
          <p:cNvPr id="4" name="Shape 2"/>
          <p:cNvSpPr/>
          <p:nvPr/>
        </p:nvSpPr>
        <p:spPr>
          <a:xfrm>
            <a:off x="548640" y="1645920"/>
            <a:ext cx="3538728" cy="1783080"/>
          </a:xfrm>
          <a:prstGeom prst="roundRect">
            <a:avLst>
              <a:gd name="adj" fmla="val 6154"/>
            </a:avLst>
          </a:prstGeom>
          <a:solidFill>
            <a:srgbClr val="F3EEE3"/>
          </a:solidFill>
          <a:ln w="12700">
            <a:solidFill>
              <a:srgbClr val="DDD3BF"/>
            </a:solidFill>
            <a:prstDash val="solid"/>
          </a:ln>
        </p:spPr>
        <p:txBody>
          <a:bodyPr/>
          <a:lstStyle/>
          <a:p>
            <a:endParaRPr lang="en-US"/>
          </a:p>
        </p:txBody>
      </p:sp>
      <p:sp>
        <p:nvSpPr>
          <p:cNvPr id="5" name="Shape 3"/>
          <p:cNvSpPr/>
          <p:nvPr/>
        </p:nvSpPr>
        <p:spPr>
          <a:xfrm>
            <a:off x="804672" y="1901952"/>
            <a:ext cx="658368" cy="658368"/>
          </a:xfrm>
          <a:prstGeom prst="ellipse">
            <a:avLst/>
          </a:prstGeom>
          <a:solidFill>
            <a:srgbClr val="33291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69264" y="2066544"/>
            <a:ext cx="329184" cy="329184"/>
          </a:xfrm>
          <a:prstGeom prst="rect">
            <a:avLst/>
          </a:prstGeom>
        </p:spPr>
      </p:pic>
      <p:sp>
        <p:nvSpPr>
          <p:cNvPr id="7" name="Text 4"/>
          <p:cNvSpPr/>
          <p:nvPr/>
        </p:nvSpPr>
        <p:spPr>
          <a:xfrm>
            <a:off x="1645920" y="1938528"/>
            <a:ext cx="2331720" cy="384048"/>
          </a:xfrm>
          <a:prstGeom prst="rect">
            <a:avLst/>
          </a:prstGeom>
          <a:noFill/>
          <a:ln/>
        </p:spPr>
        <p:txBody>
          <a:bodyPr wrap="square" lIns="0" tIns="0" rIns="0" bIns="0" rtlCol="0" anchor="ctr"/>
          <a:lstStyle/>
          <a:p>
            <a:pPr marL="0" indent="0">
              <a:buNone/>
            </a:pPr>
            <a:r>
              <a:rPr lang="en-US" sz="1800" b="1" dirty="0">
                <a:solidFill>
                  <a:srgbClr val="33291F"/>
                </a:solidFill>
                <a:latin typeface="Cambria" pitchFamily="34" charset="0"/>
                <a:ea typeface="Cambria" pitchFamily="34" charset="-122"/>
                <a:cs typeface="Cambria" pitchFamily="34" charset="-120"/>
              </a:rPr>
              <a:t>Linux</a:t>
            </a:r>
            <a:endParaRPr lang="en-US" sz="1800" dirty="0"/>
          </a:p>
        </p:txBody>
      </p:sp>
      <p:sp>
        <p:nvSpPr>
          <p:cNvPr id="8" name="Text 5"/>
          <p:cNvSpPr/>
          <p:nvPr/>
        </p:nvSpPr>
        <p:spPr>
          <a:xfrm>
            <a:off x="1645920" y="2359152"/>
            <a:ext cx="2286000" cy="960120"/>
          </a:xfrm>
          <a:prstGeom prst="rect">
            <a:avLst/>
          </a:prstGeom>
          <a:noFill/>
          <a:ln/>
        </p:spPr>
        <p:txBody>
          <a:bodyPr wrap="square" lIns="0" tIns="0" rIns="0" bIns="0" rtlCol="0" anchor="ctr"/>
          <a:lstStyle/>
          <a:p>
            <a:pPr marL="0" indent="0">
              <a:lnSpc>
                <a:spcPct val="104000"/>
              </a:lnSpc>
              <a:buNone/>
            </a:pPr>
            <a:r>
              <a:rPr lang="en-US" sz="1150" dirty="0">
                <a:solidFill>
                  <a:srgbClr val="4A3C2C"/>
                </a:solidFill>
                <a:latin typeface="Calibri" pitchFamily="34" charset="0"/>
                <a:ea typeface="Calibri" pitchFamily="34" charset="-122"/>
                <a:cs typeface="Calibri" pitchFamily="34" charset="-120"/>
              </a:rPr>
              <a:t>Runs most of the internet's servers and every Android phone on Earth.</a:t>
            </a:r>
            <a:endParaRPr lang="en-US" sz="1150" dirty="0"/>
          </a:p>
        </p:txBody>
      </p:sp>
      <p:sp>
        <p:nvSpPr>
          <p:cNvPr id="9" name="Shape 6"/>
          <p:cNvSpPr/>
          <p:nvPr/>
        </p:nvSpPr>
        <p:spPr>
          <a:xfrm>
            <a:off x="4325112" y="1645920"/>
            <a:ext cx="3538728" cy="1783080"/>
          </a:xfrm>
          <a:prstGeom prst="roundRect">
            <a:avLst>
              <a:gd name="adj" fmla="val 6154"/>
            </a:avLst>
          </a:prstGeom>
          <a:solidFill>
            <a:srgbClr val="F3EEE3"/>
          </a:solidFill>
          <a:ln w="12700">
            <a:solidFill>
              <a:srgbClr val="DDD3BF"/>
            </a:solidFill>
            <a:prstDash val="solid"/>
          </a:ln>
        </p:spPr>
        <p:txBody>
          <a:bodyPr/>
          <a:lstStyle/>
          <a:p>
            <a:endParaRPr lang="en-US"/>
          </a:p>
        </p:txBody>
      </p:sp>
      <p:sp>
        <p:nvSpPr>
          <p:cNvPr id="10" name="Shape 7"/>
          <p:cNvSpPr/>
          <p:nvPr/>
        </p:nvSpPr>
        <p:spPr>
          <a:xfrm>
            <a:off x="4581144" y="1901952"/>
            <a:ext cx="658368" cy="658368"/>
          </a:xfrm>
          <a:prstGeom prst="ellipse">
            <a:avLst/>
          </a:prstGeom>
          <a:solidFill>
            <a:srgbClr val="5E7A8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745736" y="2066544"/>
            <a:ext cx="329184" cy="329184"/>
          </a:xfrm>
          <a:prstGeom prst="rect">
            <a:avLst/>
          </a:prstGeom>
        </p:spPr>
      </p:pic>
      <p:sp>
        <p:nvSpPr>
          <p:cNvPr id="12" name="Text 8"/>
          <p:cNvSpPr/>
          <p:nvPr/>
        </p:nvSpPr>
        <p:spPr>
          <a:xfrm>
            <a:off x="5422392" y="1938528"/>
            <a:ext cx="2331720" cy="384048"/>
          </a:xfrm>
          <a:prstGeom prst="rect">
            <a:avLst/>
          </a:prstGeom>
          <a:noFill/>
          <a:ln/>
        </p:spPr>
        <p:txBody>
          <a:bodyPr wrap="square" lIns="0" tIns="0" rIns="0" bIns="0" rtlCol="0" anchor="ctr"/>
          <a:lstStyle/>
          <a:p>
            <a:pPr marL="0" indent="0">
              <a:buNone/>
            </a:pPr>
            <a:r>
              <a:rPr lang="en-US" sz="1800" b="1" dirty="0">
                <a:solidFill>
                  <a:srgbClr val="33291F"/>
                </a:solidFill>
                <a:latin typeface="Cambria" pitchFamily="34" charset="0"/>
                <a:ea typeface="Cambria" pitchFamily="34" charset="-122"/>
                <a:cs typeface="Cambria" pitchFamily="34" charset="-120"/>
              </a:rPr>
              <a:t>VS Code</a:t>
            </a:r>
            <a:endParaRPr lang="en-US" sz="1800" dirty="0"/>
          </a:p>
        </p:txBody>
      </p:sp>
      <p:sp>
        <p:nvSpPr>
          <p:cNvPr id="13" name="Text 9"/>
          <p:cNvSpPr/>
          <p:nvPr/>
        </p:nvSpPr>
        <p:spPr>
          <a:xfrm>
            <a:off x="5422392" y="2359152"/>
            <a:ext cx="2286000" cy="960120"/>
          </a:xfrm>
          <a:prstGeom prst="rect">
            <a:avLst/>
          </a:prstGeom>
          <a:noFill/>
          <a:ln/>
        </p:spPr>
        <p:txBody>
          <a:bodyPr wrap="square" lIns="0" tIns="0" rIns="0" bIns="0" rtlCol="0" anchor="ctr"/>
          <a:lstStyle/>
          <a:p>
            <a:pPr marL="0" indent="0">
              <a:lnSpc>
                <a:spcPct val="104000"/>
              </a:lnSpc>
              <a:buNone/>
            </a:pPr>
            <a:r>
              <a:rPr lang="en-US" sz="1150" dirty="0">
                <a:solidFill>
                  <a:srgbClr val="4A3C2C"/>
                </a:solidFill>
                <a:latin typeface="Calibri" pitchFamily="34" charset="0"/>
                <a:ea typeface="Calibri" pitchFamily="34" charset="-122"/>
                <a:cs typeface="Calibri" pitchFamily="34" charset="-120"/>
              </a:rPr>
              <a:t>The world's most popular code editor, developed publicly by Microsoft.</a:t>
            </a:r>
            <a:endParaRPr lang="en-US" sz="1150" dirty="0"/>
          </a:p>
        </p:txBody>
      </p:sp>
      <p:sp>
        <p:nvSpPr>
          <p:cNvPr id="14" name="Shape 10"/>
          <p:cNvSpPr/>
          <p:nvPr/>
        </p:nvSpPr>
        <p:spPr>
          <a:xfrm>
            <a:off x="8101584" y="1645920"/>
            <a:ext cx="3538728" cy="1783080"/>
          </a:xfrm>
          <a:prstGeom prst="roundRect">
            <a:avLst>
              <a:gd name="adj" fmla="val 6154"/>
            </a:avLst>
          </a:prstGeom>
          <a:solidFill>
            <a:srgbClr val="F3EEE3"/>
          </a:solidFill>
          <a:ln w="12700">
            <a:solidFill>
              <a:srgbClr val="DDD3BF"/>
            </a:solidFill>
            <a:prstDash val="solid"/>
          </a:ln>
        </p:spPr>
        <p:txBody>
          <a:bodyPr/>
          <a:lstStyle/>
          <a:p>
            <a:endParaRPr lang="en-US"/>
          </a:p>
        </p:txBody>
      </p:sp>
      <p:sp>
        <p:nvSpPr>
          <p:cNvPr id="15" name="Shape 11"/>
          <p:cNvSpPr/>
          <p:nvPr/>
        </p:nvSpPr>
        <p:spPr>
          <a:xfrm>
            <a:off x="8357616" y="1901952"/>
            <a:ext cx="658368" cy="658368"/>
          </a:xfrm>
          <a:prstGeom prst="ellipse">
            <a:avLst/>
          </a:prstGeom>
          <a:solidFill>
            <a:srgbClr val="B98F35"/>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522208" y="2066544"/>
            <a:ext cx="329184" cy="329184"/>
          </a:xfrm>
          <a:prstGeom prst="rect">
            <a:avLst/>
          </a:prstGeom>
        </p:spPr>
      </p:pic>
      <p:sp>
        <p:nvSpPr>
          <p:cNvPr id="17" name="Text 12"/>
          <p:cNvSpPr/>
          <p:nvPr/>
        </p:nvSpPr>
        <p:spPr>
          <a:xfrm>
            <a:off x="9198864" y="1938528"/>
            <a:ext cx="2331720" cy="384048"/>
          </a:xfrm>
          <a:prstGeom prst="rect">
            <a:avLst/>
          </a:prstGeom>
          <a:noFill/>
          <a:ln/>
        </p:spPr>
        <p:txBody>
          <a:bodyPr wrap="square" lIns="0" tIns="0" rIns="0" bIns="0" rtlCol="0" anchor="ctr"/>
          <a:lstStyle/>
          <a:p>
            <a:pPr marL="0" indent="0">
              <a:buNone/>
            </a:pPr>
            <a:r>
              <a:rPr lang="en-US" sz="1800" b="1" dirty="0">
                <a:solidFill>
                  <a:srgbClr val="33291F"/>
                </a:solidFill>
                <a:latin typeface="Cambria" pitchFamily="34" charset="0"/>
                <a:ea typeface="Cambria" pitchFamily="34" charset="-122"/>
                <a:cs typeface="Cambria" pitchFamily="34" charset="-120"/>
              </a:rPr>
              <a:t>Python</a:t>
            </a:r>
            <a:endParaRPr lang="en-US" sz="1800" dirty="0"/>
          </a:p>
        </p:txBody>
      </p:sp>
      <p:sp>
        <p:nvSpPr>
          <p:cNvPr id="18" name="Text 13"/>
          <p:cNvSpPr/>
          <p:nvPr/>
        </p:nvSpPr>
        <p:spPr>
          <a:xfrm>
            <a:off x="9198864" y="2359152"/>
            <a:ext cx="2286000" cy="960120"/>
          </a:xfrm>
          <a:prstGeom prst="rect">
            <a:avLst/>
          </a:prstGeom>
          <a:noFill/>
          <a:ln/>
        </p:spPr>
        <p:txBody>
          <a:bodyPr wrap="square" lIns="0" tIns="0" rIns="0" bIns="0" rtlCol="0" anchor="ctr"/>
          <a:lstStyle/>
          <a:p>
            <a:pPr marL="0" indent="0">
              <a:lnSpc>
                <a:spcPct val="104000"/>
              </a:lnSpc>
              <a:buNone/>
            </a:pPr>
            <a:r>
              <a:rPr lang="en-US" sz="1150" dirty="0">
                <a:solidFill>
                  <a:srgbClr val="4A3C2C"/>
                </a:solidFill>
                <a:latin typeface="Calibri" pitchFamily="34" charset="0"/>
                <a:ea typeface="Calibri" pitchFamily="34" charset="-122"/>
                <a:cs typeface="Calibri" pitchFamily="34" charset="-120"/>
              </a:rPr>
              <a:t>The language of AI and of our classrooms, evolved in the open on GitHub.</a:t>
            </a:r>
            <a:endParaRPr lang="en-US" sz="1150" dirty="0"/>
          </a:p>
        </p:txBody>
      </p:sp>
      <p:sp>
        <p:nvSpPr>
          <p:cNvPr id="19" name="Shape 14"/>
          <p:cNvSpPr/>
          <p:nvPr/>
        </p:nvSpPr>
        <p:spPr>
          <a:xfrm>
            <a:off x="548640" y="3611880"/>
            <a:ext cx="3538728" cy="1783080"/>
          </a:xfrm>
          <a:prstGeom prst="roundRect">
            <a:avLst>
              <a:gd name="adj" fmla="val 6154"/>
            </a:avLst>
          </a:prstGeom>
          <a:solidFill>
            <a:srgbClr val="F3EEE3"/>
          </a:solidFill>
          <a:ln w="12700">
            <a:solidFill>
              <a:srgbClr val="DDD3BF"/>
            </a:solidFill>
            <a:prstDash val="solid"/>
          </a:ln>
        </p:spPr>
        <p:txBody>
          <a:bodyPr/>
          <a:lstStyle/>
          <a:p>
            <a:endParaRPr lang="en-US"/>
          </a:p>
        </p:txBody>
      </p:sp>
      <p:sp>
        <p:nvSpPr>
          <p:cNvPr id="20" name="Shape 15"/>
          <p:cNvSpPr/>
          <p:nvPr/>
        </p:nvSpPr>
        <p:spPr>
          <a:xfrm>
            <a:off x="804672" y="3867912"/>
            <a:ext cx="658368" cy="658368"/>
          </a:xfrm>
          <a:prstGeom prst="ellipse">
            <a:avLst/>
          </a:prstGeom>
          <a:solidFill>
            <a:srgbClr val="4A647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69264" y="4032504"/>
            <a:ext cx="329184" cy="329184"/>
          </a:xfrm>
          <a:prstGeom prst="rect">
            <a:avLst/>
          </a:prstGeom>
        </p:spPr>
      </p:pic>
      <p:sp>
        <p:nvSpPr>
          <p:cNvPr id="22" name="Text 16"/>
          <p:cNvSpPr/>
          <p:nvPr/>
        </p:nvSpPr>
        <p:spPr>
          <a:xfrm>
            <a:off x="1645920" y="3904488"/>
            <a:ext cx="2331720" cy="384048"/>
          </a:xfrm>
          <a:prstGeom prst="rect">
            <a:avLst/>
          </a:prstGeom>
          <a:noFill/>
          <a:ln/>
        </p:spPr>
        <p:txBody>
          <a:bodyPr wrap="square" lIns="0" tIns="0" rIns="0" bIns="0" rtlCol="0" anchor="ctr"/>
          <a:lstStyle/>
          <a:p>
            <a:pPr marL="0" indent="0">
              <a:buNone/>
            </a:pPr>
            <a:r>
              <a:rPr lang="en-US" sz="1800" b="1" dirty="0">
                <a:solidFill>
                  <a:srgbClr val="33291F"/>
                </a:solidFill>
                <a:latin typeface="Cambria" pitchFamily="34" charset="0"/>
                <a:ea typeface="Cambria" pitchFamily="34" charset="-122"/>
                <a:cs typeface="Cambria" pitchFamily="34" charset="-120"/>
              </a:rPr>
              <a:t>React</a:t>
            </a:r>
            <a:endParaRPr lang="en-US" sz="1800" dirty="0"/>
          </a:p>
        </p:txBody>
      </p:sp>
      <p:sp>
        <p:nvSpPr>
          <p:cNvPr id="23" name="Text 17"/>
          <p:cNvSpPr/>
          <p:nvPr/>
        </p:nvSpPr>
        <p:spPr>
          <a:xfrm>
            <a:off x="1645920" y="4325112"/>
            <a:ext cx="2286000" cy="960120"/>
          </a:xfrm>
          <a:prstGeom prst="rect">
            <a:avLst/>
          </a:prstGeom>
          <a:noFill/>
          <a:ln/>
        </p:spPr>
        <p:txBody>
          <a:bodyPr wrap="square" lIns="0" tIns="0" rIns="0" bIns="0" rtlCol="0" anchor="ctr"/>
          <a:lstStyle/>
          <a:p>
            <a:pPr marL="0" indent="0">
              <a:lnSpc>
                <a:spcPct val="104000"/>
              </a:lnSpc>
              <a:buNone/>
            </a:pPr>
            <a:r>
              <a:rPr lang="en-US" sz="1150" dirty="0">
                <a:solidFill>
                  <a:srgbClr val="4A3C2C"/>
                </a:solidFill>
                <a:latin typeface="Calibri" pitchFamily="34" charset="0"/>
                <a:ea typeface="Calibri" pitchFamily="34" charset="-122"/>
                <a:cs typeface="Calibri" pitchFamily="34" charset="-120"/>
              </a:rPr>
              <a:t>Meta's interface library behind millions of websites and apps.</a:t>
            </a:r>
            <a:endParaRPr lang="en-US" sz="1150" dirty="0"/>
          </a:p>
        </p:txBody>
      </p:sp>
      <p:sp>
        <p:nvSpPr>
          <p:cNvPr id="24" name="Shape 18"/>
          <p:cNvSpPr/>
          <p:nvPr/>
        </p:nvSpPr>
        <p:spPr>
          <a:xfrm>
            <a:off x="4325112" y="3611880"/>
            <a:ext cx="3538728" cy="1783080"/>
          </a:xfrm>
          <a:prstGeom prst="roundRect">
            <a:avLst>
              <a:gd name="adj" fmla="val 6154"/>
            </a:avLst>
          </a:prstGeom>
          <a:solidFill>
            <a:srgbClr val="F3EEE3"/>
          </a:solidFill>
          <a:ln w="12700">
            <a:solidFill>
              <a:srgbClr val="DDD3BF"/>
            </a:solidFill>
            <a:prstDash val="solid"/>
          </a:ln>
        </p:spPr>
        <p:txBody>
          <a:bodyPr/>
          <a:lstStyle/>
          <a:p>
            <a:endParaRPr lang="en-US"/>
          </a:p>
        </p:txBody>
      </p:sp>
      <p:sp>
        <p:nvSpPr>
          <p:cNvPr id="25" name="Shape 19"/>
          <p:cNvSpPr/>
          <p:nvPr/>
        </p:nvSpPr>
        <p:spPr>
          <a:xfrm>
            <a:off x="4581144" y="3867912"/>
            <a:ext cx="658368" cy="658368"/>
          </a:xfrm>
          <a:prstGeom prst="ellipse">
            <a:avLst/>
          </a:prstGeom>
          <a:solidFill>
            <a:srgbClr val="B0552F"/>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745736" y="4032504"/>
            <a:ext cx="329184" cy="329184"/>
          </a:xfrm>
          <a:prstGeom prst="rect">
            <a:avLst/>
          </a:prstGeom>
        </p:spPr>
      </p:pic>
      <p:sp>
        <p:nvSpPr>
          <p:cNvPr id="27" name="Text 20"/>
          <p:cNvSpPr/>
          <p:nvPr/>
        </p:nvSpPr>
        <p:spPr>
          <a:xfrm>
            <a:off x="5422392" y="3904488"/>
            <a:ext cx="2331720" cy="384048"/>
          </a:xfrm>
          <a:prstGeom prst="rect">
            <a:avLst/>
          </a:prstGeom>
          <a:noFill/>
          <a:ln/>
        </p:spPr>
        <p:txBody>
          <a:bodyPr wrap="square" lIns="0" tIns="0" rIns="0" bIns="0" rtlCol="0" anchor="ctr"/>
          <a:lstStyle/>
          <a:p>
            <a:pPr marL="0" indent="0">
              <a:buNone/>
            </a:pPr>
            <a:r>
              <a:rPr lang="en-US" sz="1800" b="1" dirty="0">
                <a:solidFill>
                  <a:srgbClr val="33291F"/>
                </a:solidFill>
                <a:latin typeface="Cambria" pitchFamily="34" charset="0"/>
                <a:ea typeface="Cambria" pitchFamily="34" charset="-122"/>
                <a:cs typeface="Cambria" pitchFamily="34" charset="-120"/>
              </a:rPr>
              <a:t>TensorFlow</a:t>
            </a:r>
            <a:endParaRPr lang="en-US" sz="1800" dirty="0"/>
          </a:p>
        </p:txBody>
      </p:sp>
      <p:sp>
        <p:nvSpPr>
          <p:cNvPr id="28" name="Text 21"/>
          <p:cNvSpPr/>
          <p:nvPr/>
        </p:nvSpPr>
        <p:spPr>
          <a:xfrm>
            <a:off x="5422392" y="4325112"/>
            <a:ext cx="2286000" cy="960120"/>
          </a:xfrm>
          <a:prstGeom prst="rect">
            <a:avLst/>
          </a:prstGeom>
          <a:noFill/>
          <a:ln/>
        </p:spPr>
        <p:txBody>
          <a:bodyPr wrap="square" lIns="0" tIns="0" rIns="0" bIns="0" rtlCol="0" anchor="ctr"/>
          <a:lstStyle/>
          <a:p>
            <a:pPr marL="0" indent="0">
              <a:lnSpc>
                <a:spcPct val="104000"/>
              </a:lnSpc>
              <a:buNone/>
            </a:pPr>
            <a:r>
              <a:rPr lang="en-US" sz="1150" dirty="0">
                <a:solidFill>
                  <a:srgbClr val="4A3C2C"/>
                </a:solidFill>
                <a:latin typeface="Calibri" pitchFamily="34" charset="0"/>
                <a:ea typeface="Calibri" pitchFamily="34" charset="-122"/>
                <a:cs typeface="Calibri" pitchFamily="34" charset="-120"/>
              </a:rPr>
              <a:t>Google's machine learning engine, handed to the world in 2015.</a:t>
            </a:r>
            <a:endParaRPr lang="en-US" sz="1150" dirty="0"/>
          </a:p>
        </p:txBody>
      </p:sp>
      <p:sp>
        <p:nvSpPr>
          <p:cNvPr id="29" name="Shape 22"/>
          <p:cNvSpPr/>
          <p:nvPr/>
        </p:nvSpPr>
        <p:spPr>
          <a:xfrm>
            <a:off x="8101584" y="3611880"/>
            <a:ext cx="3538728" cy="1783080"/>
          </a:xfrm>
          <a:prstGeom prst="roundRect">
            <a:avLst>
              <a:gd name="adj" fmla="val 6154"/>
            </a:avLst>
          </a:prstGeom>
          <a:solidFill>
            <a:srgbClr val="F3EEE3"/>
          </a:solidFill>
          <a:ln w="12700">
            <a:solidFill>
              <a:srgbClr val="DDD3BF"/>
            </a:solidFill>
            <a:prstDash val="solid"/>
          </a:ln>
        </p:spPr>
        <p:txBody>
          <a:bodyPr/>
          <a:lstStyle/>
          <a:p>
            <a:endParaRPr lang="en-US"/>
          </a:p>
        </p:txBody>
      </p:sp>
      <p:sp>
        <p:nvSpPr>
          <p:cNvPr id="30" name="Shape 23"/>
          <p:cNvSpPr/>
          <p:nvPr/>
        </p:nvSpPr>
        <p:spPr>
          <a:xfrm>
            <a:off x="8357616" y="3867912"/>
            <a:ext cx="658368" cy="658368"/>
          </a:xfrm>
          <a:prstGeom prst="ellipse">
            <a:avLst/>
          </a:prstGeom>
          <a:solidFill>
            <a:srgbClr val="5E7A8A"/>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522208" y="4032504"/>
            <a:ext cx="329184" cy="329184"/>
          </a:xfrm>
          <a:prstGeom prst="rect">
            <a:avLst/>
          </a:prstGeom>
        </p:spPr>
      </p:pic>
      <p:sp>
        <p:nvSpPr>
          <p:cNvPr id="32" name="Text 24"/>
          <p:cNvSpPr/>
          <p:nvPr/>
        </p:nvSpPr>
        <p:spPr>
          <a:xfrm>
            <a:off x="9198864" y="3904488"/>
            <a:ext cx="2331720" cy="384048"/>
          </a:xfrm>
          <a:prstGeom prst="rect">
            <a:avLst/>
          </a:prstGeom>
          <a:noFill/>
          <a:ln/>
        </p:spPr>
        <p:txBody>
          <a:bodyPr wrap="square" lIns="0" tIns="0" rIns="0" bIns="0" rtlCol="0" anchor="ctr"/>
          <a:lstStyle/>
          <a:p>
            <a:pPr marL="0" indent="0">
              <a:buNone/>
            </a:pPr>
            <a:r>
              <a:rPr lang="en-US" sz="1800" b="1" dirty="0">
                <a:solidFill>
                  <a:srgbClr val="33291F"/>
                </a:solidFill>
                <a:latin typeface="Cambria" pitchFamily="34" charset="0"/>
                <a:ea typeface="Cambria" pitchFamily="34" charset="-122"/>
                <a:cs typeface="Cambria" pitchFamily="34" charset="-120"/>
              </a:rPr>
              <a:t>Kubernetes</a:t>
            </a:r>
            <a:endParaRPr lang="en-US" sz="1800" dirty="0"/>
          </a:p>
        </p:txBody>
      </p:sp>
      <p:sp>
        <p:nvSpPr>
          <p:cNvPr id="33" name="Text 25"/>
          <p:cNvSpPr/>
          <p:nvPr/>
        </p:nvSpPr>
        <p:spPr>
          <a:xfrm>
            <a:off x="9198864" y="4325112"/>
            <a:ext cx="2286000" cy="960120"/>
          </a:xfrm>
          <a:prstGeom prst="rect">
            <a:avLst/>
          </a:prstGeom>
          <a:noFill/>
          <a:ln/>
        </p:spPr>
        <p:txBody>
          <a:bodyPr wrap="square" lIns="0" tIns="0" rIns="0" bIns="0" rtlCol="0" anchor="ctr"/>
          <a:lstStyle/>
          <a:p>
            <a:pPr marL="0" indent="0">
              <a:lnSpc>
                <a:spcPct val="104000"/>
              </a:lnSpc>
              <a:buNone/>
            </a:pPr>
            <a:r>
              <a:rPr lang="en-US" sz="1150" dirty="0">
                <a:solidFill>
                  <a:srgbClr val="4A3C2C"/>
                </a:solidFill>
                <a:latin typeface="Calibri" pitchFamily="34" charset="0"/>
                <a:ea typeface="Calibri" pitchFamily="34" charset="-122"/>
                <a:cs typeface="Calibri" pitchFamily="34" charset="-120"/>
              </a:rPr>
              <a:t>The traffic controller of the cloud, orchestrating apps for the biggest companies alive.</a:t>
            </a:r>
            <a:endParaRPr lang="en-US" sz="1150" dirty="0"/>
          </a:p>
        </p:txBody>
      </p:sp>
      <p:sp>
        <p:nvSpPr>
          <p:cNvPr id="34" name="Text 26"/>
          <p:cNvSpPr/>
          <p:nvPr/>
        </p:nvSpPr>
        <p:spPr>
          <a:xfrm>
            <a:off x="548640" y="5715000"/>
            <a:ext cx="11091672" cy="502920"/>
          </a:xfrm>
          <a:prstGeom prst="rect">
            <a:avLst/>
          </a:prstGeom>
          <a:noFill/>
          <a:ln/>
        </p:spPr>
        <p:txBody>
          <a:bodyPr wrap="square" lIns="0" tIns="0" rIns="0" bIns="0" rtlCol="0" anchor="ctr"/>
          <a:lstStyle/>
          <a:p>
            <a:pPr marL="0" indent="0" algn="ctr">
              <a:buNone/>
            </a:pPr>
            <a:r>
              <a:rPr lang="en-US" sz="1300" i="1" dirty="0">
                <a:solidFill>
                  <a:srgbClr val="4A6472"/>
                </a:solidFill>
                <a:latin typeface="Calibri" pitchFamily="34" charset="0"/>
                <a:ea typeface="Calibri" pitchFamily="34" charset="-122"/>
                <a:cs typeface="Calibri" pitchFamily="34" charset="-120"/>
              </a:rPr>
              <a:t>Some were born on GitHub; others, like Linux and Python, moved their public life there. Either way, GitHub is where they grow now.</a:t>
            </a:r>
            <a:endParaRPr lang="en-US" sz="1300" dirty="0"/>
          </a:p>
        </p:txBody>
      </p:sp>
      <p:pic>
        <p:nvPicPr>
          <p:cNvPr id="35" name="Image 2" descr="/home/claude/assets/cije_mark.png">
            <a:extLst>
              <a:ext uri="{FF2B5EF4-FFF2-40B4-BE49-F238E27FC236}">
                <a16:creationId xmlns:a16="http://schemas.microsoft.com/office/drawing/2014/main" id="{37CCAB44-FCB2-3F36-DFC3-6AB58E2D85EB}"/>
              </a:ext>
            </a:extLst>
          </p:cNvPr>
          <p:cNvPicPr>
            <a:picLocks noChangeAspect="1"/>
          </p:cNvPicPr>
          <p:nvPr/>
        </p:nvPicPr>
        <p:blipFill>
          <a:blip r:embed="rId9">
            <a:alphaModFix amt="75000"/>
          </a:blip>
          <a:stretch>
            <a:fillRect/>
          </a:stretch>
        </p:blipFill>
        <p:spPr>
          <a:xfrm>
            <a:off x="11448288" y="6419088"/>
            <a:ext cx="512064" cy="3456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THE TOWN SQUARE OF SOFTWARE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GitHub, by the numbers</a:t>
            </a:r>
            <a:endParaRPr lang="en-US" sz="3000" dirty="0"/>
          </a:p>
        </p:txBody>
      </p:sp>
      <p:sp>
        <p:nvSpPr>
          <p:cNvPr id="4" name="Shape 2"/>
          <p:cNvSpPr/>
          <p:nvPr/>
        </p:nvSpPr>
        <p:spPr>
          <a:xfrm>
            <a:off x="548640" y="1783080"/>
            <a:ext cx="2642616" cy="3017520"/>
          </a:xfrm>
          <a:prstGeom prst="roundRect">
            <a:avLst>
              <a:gd name="adj" fmla="val 4152"/>
            </a:avLst>
          </a:prstGeom>
          <a:solidFill>
            <a:srgbClr val="F3EEE3"/>
          </a:solidFill>
          <a:ln w="12700">
            <a:solidFill>
              <a:srgbClr val="DDD3BF"/>
            </a:solidFill>
            <a:prstDash val="solid"/>
          </a:ln>
        </p:spPr>
        <p:txBody>
          <a:bodyPr/>
          <a:lstStyle/>
          <a:p>
            <a:endParaRPr lang="en-US"/>
          </a:p>
        </p:txBody>
      </p:sp>
      <p:sp>
        <p:nvSpPr>
          <p:cNvPr id="5" name="Text 3"/>
          <p:cNvSpPr/>
          <p:nvPr/>
        </p:nvSpPr>
        <p:spPr>
          <a:xfrm>
            <a:off x="685800" y="2148840"/>
            <a:ext cx="2368296" cy="868680"/>
          </a:xfrm>
          <a:prstGeom prst="rect">
            <a:avLst/>
          </a:prstGeom>
          <a:noFill/>
          <a:ln/>
        </p:spPr>
        <p:txBody>
          <a:bodyPr wrap="square" lIns="0" tIns="0" rIns="0" bIns="0" rtlCol="0" anchor="ctr"/>
          <a:lstStyle/>
          <a:p>
            <a:pPr marL="0" indent="0" algn="ctr">
              <a:buNone/>
            </a:pPr>
            <a:r>
              <a:rPr lang="en-US" sz="4200" b="1" dirty="0">
                <a:solidFill>
                  <a:srgbClr val="5E7A8A"/>
                </a:solidFill>
                <a:latin typeface="Cambria" pitchFamily="34" charset="0"/>
                <a:ea typeface="Cambria" pitchFamily="34" charset="-122"/>
                <a:cs typeface="Cambria" pitchFamily="34" charset="-120"/>
              </a:rPr>
              <a:t>2008</a:t>
            </a:r>
            <a:endParaRPr lang="en-US" sz="4200" dirty="0"/>
          </a:p>
        </p:txBody>
      </p:sp>
      <p:sp>
        <p:nvSpPr>
          <p:cNvPr id="6" name="Text 4"/>
          <p:cNvSpPr/>
          <p:nvPr/>
        </p:nvSpPr>
        <p:spPr>
          <a:xfrm>
            <a:off x="804672" y="3154680"/>
            <a:ext cx="2130552" cy="1463040"/>
          </a:xfrm>
          <a:prstGeom prst="rect">
            <a:avLst/>
          </a:prstGeom>
          <a:noFill/>
          <a:ln/>
        </p:spPr>
        <p:txBody>
          <a:bodyPr wrap="square" lIns="0" tIns="0" rIns="0" bIns="0" rtlCol="0" anchor="ctr"/>
          <a:lstStyle/>
          <a:p>
            <a:pPr marL="0" indent="0" algn="ctr">
              <a:lnSpc>
                <a:spcPct val="108000"/>
              </a:lnSpc>
              <a:buNone/>
            </a:pPr>
            <a:r>
              <a:rPr lang="en-US" sz="1200" dirty="0">
                <a:solidFill>
                  <a:srgbClr val="4A3C2C"/>
                </a:solidFill>
                <a:latin typeface="Calibri" pitchFamily="34" charset="0"/>
                <a:ea typeface="Calibri" pitchFamily="34" charset="-122"/>
                <a:cs typeface="Calibri" pitchFamily="34" charset="-120"/>
              </a:rPr>
              <a:t>Founded, built around Git, a version control tool created by Linus Torvalds in 2005</a:t>
            </a:r>
            <a:endParaRPr lang="en-US" sz="1200" dirty="0"/>
          </a:p>
        </p:txBody>
      </p:sp>
      <p:sp>
        <p:nvSpPr>
          <p:cNvPr id="7" name="Shape 5"/>
          <p:cNvSpPr/>
          <p:nvPr/>
        </p:nvSpPr>
        <p:spPr>
          <a:xfrm>
            <a:off x="3364992" y="1783080"/>
            <a:ext cx="2642616" cy="3017520"/>
          </a:xfrm>
          <a:prstGeom prst="roundRect">
            <a:avLst>
              <a:gd name="adj" fmla="val 4152"/>
            </a:avLst>
          </a:prstGeom>
          <a:solidFill>
            <a:srgbClr val="F3EEE3"/>
          </a:solidFill>
          <a:ln w="12700">
            <a:solidFill>
              <a:srgbClr val="DDD3BF"/>
            </a:solidFill>
            <a:prstDash val="solid"/>
          </a:ln>
        </p:spPr>
        <p:txBody>
          <a:bodyPr/>
          <a:lstStyle/>
          <a:p>
            <a:endParaRPr lang="en-US"/>
          </a:p>
        </p:txBody>
      </p:sp>
      <p:sp>
        <p:nvSpPr>
          <p:cNvPr id="8" name="Text 6"/>
          <p:cNvSpPr/>
          <p:nvPr/>
        </p:nvSpPr>
        <p:spPr>
          <a:xfrm>
            <a:off x="3502152" y="2148840"/>
            <a:ext cx="2368296" cy="868680"/>
          </a:xfrm>
          <a:prstGeom prst="rect">
            <a:avLst/>
          </a:prstGeom>
          <a:noFill/>
          <a:ln/>
        </p:spPr>
        <p:txBody>
          <a:bodyPr wrap="square" lIns="0" tIns="0" rIns="0" bIns="0" rtlCol="0" anchor="ctr"/>
          <a:lstStyle/>
          <a:p>
            <a:pPr marL="0" indent="0" algn="ctr">
              <a:buNone/>
            </a:pPr>
            <a:r>
              <a:rPr lang="en-US" sz="4200" b="1" dirty="0">
                <a:solidFill>
                  <a:srgbClr val="B0552F"/>
                </a:solidFill>
                <a:latin typeface="Cambria" pitchFamily="34" charset="0"/>
                <a:ea typeface="Cambria" pitchFamily="34" charset="-122"/>
                <a:cs typeface="Cambria" pitchFamily="34" charset="-120"/>
              </a:rPr>
              <a:t>100M+</a:t>
            </a:r>
            <a:endParaRPr lang="en-US" sz="4200" dirty="0"/>
          </a:p>
        </p:txBody>
      </p:sp>
      <p:sp>
        <p:nvSpPr>
          <p:cNvPr id="9" name="Text 7"/>
          <p:cNvSpPr/>
          <p:nvPr/>
        </p:nvSpPr>
        <p:spPr>
          <a:xfrm>
            <a:off x="3621024" y="3154680"/>
            <a:ext cx="2130552" cy="1463040"/>
          </a:xfrm>
          <a:prstGeom prst="rect">
            <a:avLst/>
          </a:prstGeom>
          <a:noFill/>
          <a:ln/>
        </p:spPr>
        <p:txBody>
          <a:bodyPr wrap="square" lIns="0" tIns="0" rIns="0" bIns="0" rtlCol="0" anchor="ctr"/>
          <a:lstStyle/>
          <a:p>
            <a:pPr marL="0" indent="0" algn="ctr">
              <a:lnSpc>
                <a:spcPct val="108000"/>
              </a:lnSpc>
              <a:buNone/>
            </a:pPr>
            <a:r>
              <a:rPr lang="en-US" sz="1200" dirty="0">
                <a:solidFill>
                  <a:srgbClr val="4A3C2C"/>
                </a:solidFill>
                <a:latin typeface="Calibri" pitchFamily="34" charset="0"/>
                <a:ea typeface="Calibri" pitchFamily="34" charset="-122"/>
                <a:cs typeface="Calibri" pitchFamily="34" charset="-120"/>
              </a:rPr>
              <a:t>Developers with accounts, from Google engineers to middle schoolers</a:t>
            </a:r>
            <a:endParaRPr lang="en-US" sz="1200" dirty="0"/>
          </a:p>
        </p:txBody>
      </p:sp>
      <p:sp>
        <p:nvSpPr>
          <p:cNvPr id="10" name="Shape 8"/>
          <p:cNvSpPr/>
          <p:nvPr/>
        </p:nvSpPr>
        <p:spPr>
          <a:xfrm>
            <a:off x="6181344" y="1783080"/>
            <a:ext cx="2642616" cy="3017520"/>
          </a:xfrm>
          <a:prstGeom prst="roundRect">
            <a:avLst>
              <a:gd name="adj" fmla="val 4152"/>
            </a:avLst>
          </a:prstGeom>
          <a:solidFill>
            <a:srgbClr val="F3EEE3"/>
          </a:solidFill>
          <a:ln w="12700">
            <a:solidFill>
              <a:srgbClr val="DDD3BF"/>
            </a:solidFill>
            <a:prstDash val="solid"/>
          </a:ln>
        </p:spPr>
        <p:txBody>
          <a:bodyPr/>
          <a:lstStyle/>
          <a:p>
            <a:endParaRPr lang="en-US"/>
          </a:p>
        </p:txBody>
      </p:sp>
      <p:sp>
        <p:nvSpPr>
          <p:cNvPr id="11" name="Text 9"/>
          <p:cNvSpPr/>
          <p:nvPr/>
        </p:nvSpPr>
        <p:spPr>
          <a:xfrm>
            <a:off x="6318504" y="2148840"/>
            <a:ext cx="2368296" cy="868680"/>
          </a:xfrm>
          <a:prstGeom prst="rect">
            <a:avLst/>
          </a:prstGeom>
          <a:noFill/>
          <a:ln/>
        </p:spPr>
        <p:txBody>
          <a:bodyPr wrap="square" lIns="0" tIns="0" rIns="0" bIns="0" rtlCol="0" anchor="ctr"/>
          <a:lstStyle/>
          <a:p>
            <a:pPr marL="0" indent="0" algn="ctr">
              <a:buNone/>
            </a:pPr>
            <a:r>
              <a:rPr lang="en-US" sz="4200" b="1" dirty="0">
                <a:solidFill>
                  <a:srgbClr val="B98F35"/>
                </a:solidFill>
                <a:latin typeface="Cambria" pitchFamily="34" charset="0"/>
                <a:ea typeface="Cambria" pitchFamily="34" charset="-122"/>
                <a:cs typeface="Cambria" pitchFamily="34" charset="-120"/>
              </a:rPr>
              <a:t>400M+</a:t>
            </a:r>
            <a:endParaRPr lang="en-US" sz="4200" dirty="0"/>
          </a:p>
        </p:txBody>
      </p:sp>
      <p:sp>
        <p:nvSpPr>
          <p:cNvPr id="12" name="Text 10"/>
          <p:cNvSpPr/>
          <p:nvPr/>
        </p:nvSpPr>
        <p:spPr>
          <a:xfrm>
            <a:off x="6437376" y="3154680"/>
            <a:ext cx="2130552" cy="1463040"/>
          </a:xfrm>
          <a:prstGeom prst="rect">
            <a:avLst/>
          </a:prstGeom>
          <a:noFill/>
          <a:ln/>
        </p:spPr>
        <p:txBody>
          <a:bodyPr wrap="square" lIns="0" tIns="0" rIns="0" bIns="0" rtlCol="0" anchor="ctr"/>
          <a:lstStyle/>
          <a:p>
            <a:pPr marL="0" indent="0" algn="ctr">
              <a:lnSpc>
                <a:spcPct val="108000"/>
              </a:lnSpc>
              <a:buNone/>
            </a:pPr>
            <a:r>
              <a:rPr lang="en-US" sz="1200" dirty="0">
                <a:solidFill>
                  <a:srgbClr val="4A3C2C"/>
                </a:solidFill>
                <a:latin typeface="Calibri" pitchFamily="34" charset="0"/>
                <a:ea typeface="Calibri" pitchFamily="34" charset="-122"/>
                <a:cs typeface="Calibri" pitchFamily="34" charset="-120"/>
              </a:rPr>
              <a:t>Repositories: public and private homes for the world's projects</a:t>
            </a:r>
            <a:endParaRPr lang="en-US" sz="1200" dirty="0"/>
          </a:p>
        </p:txBody>
      </p:sp>
      <p:sp>
        <p:nvSpPr>
          <p:cNvPr id="13" name="Shape 11"/>
          <p:cNvSpPr/>
          <p:nvPr/>
        </p:nvSpPr>
        <p:spPr>
          <a:xfrm>
            <a:off x="8997696" y="1783080"/>
            <a:ext cx="2642616" cy="3017520"/>
          </a:xfrm>
          <a:prstGeom prst="roundRect">
            <a:avLst>
              <a:gd name="adj" fmla="val 4152"/>
            </a:avLst>
          </a:prstGeom>
          <a:solidFill>
            <a:srgbClr val="F3EEE3"/>
          </a:solidFill>
          <a:ln w="12700">
            <a:solidFill>
              <a:srgbClr val="DDD3BF"/>
            </a:solidFill>
            <a:prstDash val="solid"/>
          </a:ln>
        </p:spPr>
        <p:txBody>
          <a:bodyPr/>
          <a:lstStyle/>
          <a:p>
            <a:endParaRPr lang="en-US"/>
          </a:p>
        </p:txBody>
      </p:sp>
      <p:sp>
        <p:nvSpPr>
          <p:cNvPr id="14" name="Text 12"/>
          <p:cNvSpPr/>
          <p:nvPr/>
        </p:nvSpPr>
        <p:spPr>
          <a:xfrm>
            <a:off x="9134856" y="2148840"/>
            <a:ext cx="2368296" cy="868680"/>
          </a:xfrm>
          <a:prstGeom prst="rect">
            <a:avLst/>
          </a:prstGeom>
          <a:noFill/>
          <a:ln/>
        </p:spPr>
        <p:txBody>
          <a:bodyPr wrap="square" lIns="0" tIns="0" rIns="0" bIns="0" rtlCol="0" anchor="ctr"/>
          <a:lstStyle/>
          <a:p>
            <a:pPr marL="0" indent="0" algn="ctr">
              <a:buNone/>
            </a:pPr>
            <a:r>
              <a:rPr lang="en-US" sz="4200" b="1" dirty="0">
                <a:solidFill>
                  <a:srgbClr val="4A6472"/>
                </a:solidFill>
                <a:latin typeface="Cambria" pitchFamily="34" charset="0"/>
                <a:ea typeface="Cambria" pitchFamily="34" charset="-122"/>
                <a:cs typeface="Cambria" pitchFamily="34" charset="-120"/>
              </a:rPr>
              <a:t>$7.5B</a:t>
            </a:r>
            <a:endParaRPr lang="en-US" sz="4200" dirty="0"/>
          </a:p>
        </p:txBody>
      </p:sp>
      <p:sp>
        <p:nvSpPr>
          <p:cNvPr id="15" name="Text 13"/>
          <p:cNvSpPr/>
          <p:nvPr/>
        </p:nvSpPr>
        <p:spPr>
          <a:xfrm>
            <a:off x="9253728" y="3154680"/>
            <a:ext cx="2130552" cy="1463040"/>
          </a:xfrm>
          <a:prstGeom prst="rect">
            <a:avLst/>
          </a:prstGeom>
          <a:noFill/>
          <a:ln/>
        </p:spPr>
        <p:txBody>
          <a:bodyPr wrap="square" lIns="0" tIns="0" rIns="0" bIns="0" rtlCol="0" anchor="ctr"/>
          <a:lstStyle/>
          <a:p>
            <a:pPr marL="0" indent="0" algn="ctr">
              <a:lnSpc>
                <a:spcPct val="108000"/>
              </a:lnSpc>
              <a:buNone/>
            </a:pPr>
            <a:r>
              <a:rPr lang="en-US" sz="1200" dirty="0">
                <a:solidFill>
                  <a:srgbClr val="4A3C2C"/>
                </a:solidFill>
                <a:latin typeface="Calibri" pitchFamily="34" charset="0"/>
                <a:ea typeface="Calibri" pitchFamily="34" charset="-122"/>
                <a:cs typeface="Calibri" pitchFamily="34" charset="-120"/>
              </a:rPr>
              <a:t>What Microsoft paid for it in 2018, then kept it open to all</a:t>
            </a:r>
            <a:endParaRPr lang="en-US" sz="1200" dirty="0"/>
          </a:p>
        </p:txBody>
      </p:sp>
      <p:sp>
        <p:nvSpPr>
          <p:cNvPr id="16" name="Shape 14"/>
          <p:cNvSpPr/>
          <p:nvPr/>
        </p:nvSpPr>
        <p:spPr>
          <a:xfrm>
            <a:off x="548640" y="5212080"/>
            <a:ext cx="11091672" cy="777240"/>
          </a:xfrm>
          <a:prstGeom prst="roundRect">
            <a:avLst>
              <a:gd name="adj" fmla="val 11765"/>
            </a:avLst>
          </a:prstGeom>
          <a:solidFill>
            <a:srgbClr val="33291F"/>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841248" y="5426964"/>
            <a:ext cx="347472" cy="347472"/>
          </a:xfrm>
          <a:prstGeom prst="rect">
            <a:avLst/>
          </a:prstGeom>
        </p:spPr>
      </p:pic>
      <p:sp>
        <p:nvSpPr>
          <p:cNvPr id="18" name="Text 15"/>
          <p:cNvSpPr/>
          <p:nvPr/>
        </p:nvSpPr>
        <p:spPr>
          <a:xfrm>
            <a:off x="1371600" y="5212080"/>
            <a:ext cx="9994392"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One important distinction: Git is the tool that tracks changes. GitHub is the town square built around that tool.</a:t>
            </a:r>
            <a:endParaRPr lang="en-US" sz="1500" dirty="0"/>
          </a:p>
        </p:txBody>
      </p:sp>
      <p:pic>
        <p:nvPicPr>
          <p:cNvPr id="19" name="Image 2" descr="/home/claude/assets/cije_mark.png">
            <a:extLst>
              <a:ext uri="{FF2B5EF4-FFF2-40B4-BE49-F238E27FC236}">
                <a16:creationId xmlns:a16="http://schemas.microsoft.com/office/drawing/2014/main" id="{EA596FE6-2252-598E-3225-525F0DF6A97C}"/>
              </a:ext>
            </a:extLst>
          </p:cNvPr>
          <p:cNvPicPr>
            <a:picLocks noChangeAspect="1"/>
          </p:cNvPicPr>
          <p:nvPr/>
        </p:nvPicPr>
        <p:blipFill>
          <a:blip r:embed="rId4">
            <a:alphaModFix amt="75000"/>
          </a:blip>
          <a:stretch>
            <a:fillRect/>
          </a:stretch>
        </p:blipFill>
        <p:spPr>
          <a:xfrm>
            <a:off x="11448288" y="6419088"/>
            <a:ext cx="512064" cy="3456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FOUR JOBS IN ONE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So what does GitHub actually do?</a:t>
            </a:r>
            <a:endParaRPr lang="en-US" sz="3000" dirty="0"/>
          </a:p>
        </p:txBody>
      </p:sp>
      <p:sp>
        <p:nvSpPr>
          <p:cNvPr id="4" name="Shape 2"/>
          <p:cNvSpPr/>
          <p:nvPr/>
        </p:nvSpPr>
        <p:spPr>
          <a:xfrm>
            <a:off x="548640" y="1691640"/>
            <a:ext cx="7315200" cy="932688"/>
          </a:xfrm>
          <a:prstGeom prst="roundRect">
            <a:avLst>
              <a:gd name="adj" fmla="val 8824"/>
            </a:avLst>
          </a:prstGeom>
          <a:solidFill>
            <a:srgbClr val="F3EEE3"/>
          </a:solidFill>
          <a:ln w="12700">
            <a:solidFill>
              <a:srgbClr val="DDD3BF"/>
            </a:solidFill>
            <a:prstDash val="solid"/>
          </a:ln>
        </p:spPr>
        <p:txBody>
          <a:bodyPr/>
          <a:lstStyle/>
          <a:p>
            <a:endParaRPr lang="en-US"/>
          </a:p>
        </p:txBody>
      </p:sp>
      <p:sp>
        <p:nvSpPr>
          <p:cNvPr id="5" name="Shape 3"/>
          <p:cNvSpPr/>
          <p:nvPr/>
        </p:nvSpPr>
        <p:spPr>
          <a:xfrm>
            <a:off x="777240" y="1847088"/>
            <a:ext cx="621792" cy="621792"/>
          </a:xfrm>
          <a:prstGeom prst="ellipse">
            <a:avLst/>
          </a:prstGeom>
          <a:solidFill>
            <a:srgbClr val="5E7A8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32688" y="2002536"/>
            <a:ext cx="310896" cy="310896"/>
          </a:xfrm>
          <a:prstGeom prst="rect">
            <a:avLst/>
          </a:prstGeom>
        </p:spPr>
      </p:pic>
      <p:sp>
        <p:nvSpPr>
          <p:cNvPr id="7" name="Text 4"/>
          <p:cNvSpPr/>
          <p:nvPr/>
        </p:nvSpPr>
        <p:spPr>
          <a:xfrm>
            <a:off x="1645920" y="1810512"/>
            <a:ext cx="6035040" cy="310896"/>
          </a:xfrm>
          <a:prstGeom prst="rect">
            <a:avLst/>
          </a:prstGeom>
          <a:noFill/>
          <a:ln/>
        </p:spPr>
        <p:txBody>
          <a:bodyPr wrap="square" lIns="0" tIns="0" rIns="0" bIns="0" rtlCol="0" anchor="ctr"/>
          <a:lstStyle/>
          <a:p>
            <a:pPr marL="0" indent="0">
              <a:buNone/>
            </a:pPr>
            <a:r>
              <a:rPr lang="en-US" sz="1550" b="1" dirty="0">
                <a:solidFill>
                  <a:srgbClr val="B0552F"/>
                </a:solidFill>
                <a:latin typeface="Cambria" pitchFamily="34" charset="0"/>
                <a:ea typeface="Cambria" pitchFamily="34" charset="-122"/>
                <a:cs typeface="Cambria" pitchFamily="34" charset="-120"/>
              </a:rPr>
              <a:t>A safe home</a:t>
            </a:r>
            <a:endParaRPr lang="en-US" sz="1550" dirty="0"/>
          </a:p>
        </p:txBody>
      </p:sp>
      <p:sp>
        <p:nvSpPr>
          <p:cNvPr id="8" name="Text 5"/>
          <p:cNvSpPr/>
          <p:nvPr/>
        </p:nvSpPr>
        <p:spPr>
          <a:xfrm>
            <a:off x="1645920" y="2148840"/>
            <a:ext cx="6035040" cy="402336"/>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Your project lives online, backed up, organized, and reachable from any machine, anywhere.</a:t>
            </a:r>
            <a:endParaRPr lang="en-US" sz="1250" dirty="0"/>
          </a:p>
        </p:txBody>
      </p:sp>
      <p:sp>
        <p:nvSpPr>
          <p:cNvPr id="9" name="Shape 6"/>
          <p:cNvSpPr/>
          <p:nvPr/>
        </p:nvSpPr>
        <p:spPr>
          <a:xfrm>
            <a:off x="548640" y="2770632"/>
            <a:ext cx="7315200" cy="932688"/>
          </a:xfrm>
          <a:prstGeom prst="roundRect">
            <a:avLst>
              <a:gd name="adj" fmla="val 8824"/>
            </a:avLst>
          </a:prstGeom>
          <a:solidFill>
            <a:srgbClr val="F3EEE3"/>
          </a:solidFill>
          <a:ln w="12700">
            <a:solidFill>
              <a:srgbClr val="DDD3BF"/>
            </a:solidFill>
            <a:prstDash val="solid"/>
          </a:ln>
        </p:spPr>
        <p:txBody>
          <a:bodyPr/>
          <a:lstStyle/>
          <a:p>
            <a:endParaRPr lang="en-US"/>
          </a:p>
        </p:txBody>
      </p:sp>
      <p:sp>
        <p:nvSpPr>
          <p:cNvPr id="10" name="Shape 7"/>
          <p:cNvSpPr/>
          <p:nvPr/>
        </p:nvSpPr>
        <p:spPr>
          <a:xfrm>
            <a:off x="777240" y="2926080"/>
            <a:ext cx="621792" cy="621792"/>
          </a:xfrm>
          <a:prstGeom prst="ellipse">
            <a:avLst/>
          </a:prstGeom>
          <a:solidFill>
            <a:srgbClr val="B98F35"/>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32688" y="3081528"/>
            <a:ext cx="310896" cy="310896"/>
          </a:xfrm>
          <a:prstGeom prst="rect">
            <a:avLst/>
          </a:prstGeom>
        </p:spPr>
      </p:pic>
      <p:sp>
        <p:nvSpPr>
          <p:cNvPr id="12" name="Text 8"/>
          <p:cNvSpPr/>
          <p:nvPr/>
        </p:nvSpPr>
        <p:spPr>
          <a:xfrm>
            <a:off x="1645920" y="2889504"/>
            <a:ext cx="6035040" cy="310896"/>
          </a:xfrm>
          <a:prstGeom prst="rect">
            <a:avLst/>
          </a:prstGeom>
          <a:noFill/>
          <a:ln/>
        </p:spPr>
        <p:txBody>
          <a:bodyPr wrap="square" lIns="0" tIns="0" rIns="0" bIns="0" rtlCol="0" anchor="ctr"/>
          <a:lstStyle/>
          <a:p>
            <a:pPr marL="0" indent="0">
              <a:buNone/>
            </a:pPr>
            <a:r>
              <a:rPr lang="en-US" sz="1550" b="1" dirty="0">
                <a:solidFill>
                  <a:srgbClr val="B0552F"/>
                </a:solidFill>
                <a:latin typeface="Cambria" pitchFamily="34" charset="0"/>
                <a:ea typeface="Cambria" pitchFamily="34" charset="-122"/>
                <a:cs typeface="Cambria" pitchFamily="34" charset="-120"/>
              </a:rPr>
              <a:t>A time machine</a:t>
            </a:r>
            <a:endParaRPr lang="en-US" sz="1550" dirty="0"/>
          </a:p>
        </p:txBody>
      </p:sp>
      <p:sp>
        <p:nvSpPr>
          <p:cNvPr id="13" name="Text 9"/>
          <p:cNvSpPr/>
          <p:nvPr/>
        </p:nvSpPr>
        <p:spPr>
          <a:xfrm>
            <a:off x="1645920" y="3227832"/>
            <a:ext cx="6035040" cy="402336"/>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Every saved change is kept forever. Break something Tuesday? Roll back to Monday in seconds.</a:t>
            </a:r>
            <a:endParaRPr lang="en-US" sz="1250" dirty="0"/>
          </a:p>
        </p:txBody>
      </p:sp>
      <p:sp>
        <p:nvSpPr>
          <p:cNvPr id="14" name="Shape 10"/>
          <p:cNvSpPr/>
          <p:nvPr/>
        </p:nvSpPr>
        <p:spPr>
          <a:xfrm>
            <a:off x="548640" y="3849624"/>
            <a:ext cx="7315200" cy="932688"/>
          </a:xfrm>
          <a:prstGeom prst="roundRect">
            <a:avLst>
              <a:gd name="adj" fmla="val 8824"/>
            </a:avLst>
          </a:prstGeom>
          <a:solidFill>
            <a:srgbClr val="F3EEE3"/>
          </a:solidFill>
          <a:ln w="12700">
            <a:solidFill>
              <a:srgbClr val="DDD3BF"/>
            </a:solidFill>
            <a:prstDash val="solid"/>
          </a:ln>
        </p:spPr>
        <p:txBody>
          <a:bodyPr/>
          <a:lstStyle/>
          <a:p>
            <a:endParaRPr lang="en-US"/>
          </a:p>
        </p:txBody>
      </p:sp>
      <p:sp>
        <p:nvSpPr>
          <p:cNvPr id="15" name="Shape 11"/>
          <p:cNvSpPr/>
          <p:nvPr/>
        </p:nvSpPr>
        <p:spPr>
          <a:xfrm>
            <a:off x="777240" y="4005072"/>
            <a:ext cx="621792" cy="621792"/>
          </a:xfrm>
          <a:prstGeom prst="ellipse">
            <a:avLst/>
          </a:prstGeom>
          <a:solidFill>
            <a:srgbClr val="B0552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32688" y="4160520"/>
            <a:ext cx="310896" cy="310896"/>
          </a:xfrm>
          <a:prstGeom prst="rect">
            <a:avLst/>
          </a:prstGeom>
        </p:spPr>
      </p:pic>
      <p:sp>
        <p:nvSpPr>
          <p:cNvPr id="17" name="Text 12"/>
          <p:cNvSpPr/>
          <p:nvPr/>
        </p:nvSpPr>
        <p:spPr>
          <a:xfrm>
            <a:off x="1645920" y="3968496"/>
            <a:ext cx="6035040" cy="310896"/>
          </a:xfrm>
          <a:prstGeom prst="rect">
            <a:avLst/>
          </a:prstGeom>
          <a:noFill/>
          <a:ln/>
        </p:spPr>
        <p:txBody>
          <a:bodyPr wrap="square" lIns="0" tIns="0" rIns="0" bIns="0" rtlCol="0" anchor="ctr"/>
          <a:lstStyle/>
          <a:p>
            <a:pPr marL="0" indent="0">
              <a:buNone/>
            </a:pPr>
            <a:r>
              <a:rPr lang="en-US" sz="1550" b="1" dirty="0">
                <a:solidFill>
                  <a:srgbClr val="B0552F"/>
                </a:solidFill>
                <a:latin typeface="Cambria" pitchFamily="34" charset="0"/>
                <a:ea typeface="Cambria" pitchFamily="34" charset="-122"/>
                <a:cs typeface="Cambria" pitchFamily="34" charset="-120"/>
              </a:rPr>
              <a:t>A collaboration engine</a:t>
            </a:r>
            <a:endParaRPr lang="en-US" sz="1550" dirty="0"/>
          </a:p>
        </p:txBody>
      </p:sp>
      <p:sp>
        <p:nvSpPr>
          <p:cNvPr id="18" name="Text 13"/>
          <p:cNvSpPr/>
          <p:nvPr/>
        </p:nvSpPr>
        <p:spPr>
          <a:xfrm>
            <a:off x="1645920" y="4306824"/>
            <a:ext cx="6035040" cy="402336"/>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Dozens of people can work on the same project at once without overwriting each other.</a:t>
            </a:r>
            <a:endParaRPr lang="en-US" sz="1250" dirty="0"/>
          </a:p>
        </p:txBody>
      </p:sp>
      <p:sp>
        <p:nvSpPr>
          <p:cNvPr id="19" name="Shape 14"/>
          <p:cNvSpPr/>
          <p:nvPr/>
        </p:nvSpPr>
        <p:spPr>
          <a:xfrm>
            <a:off x="548640" y="4928616"/>
            <a:ext cx="7315200" cy="932688"/>
          </a:xfrm>
          <a:prstGeom prst="roundRect">
            <a:avLst>
              <a:gd name="adj" fmla="val 8824"/>
            </a:avLst>
          </a:prstGeom>
          <a:solidFill>
            <a:srgbClr val="F3EEE3"/>
          </a:solidFill>
          <a:ln w="12700">
            <a:solidFill>
              <a:srgbClr val="DDD3BF"/>
            </a:solidFill>
            <a:prstDash val="solid"/>
          </a:ln>
        </p:spPr>
        <p:txBody>
          <a:bodyPr/>
          <a:lstStyle/>
          <a:p>
            <a:endParaRPr lang="en-US"/>
          </a:p>
        </p:txBody>
      </p:sp>
      <p:sp>
        <p:nvSpPr>
          <p:cNvPr id="20" name="Shape 15"/>
          <p:cNvSpPr/>
          <p:nvPr/>
        </p:nvSpPr>
        <p:spPr>
          <a:xfrm>
            <a:off x="777240" y="5084064"/>
            <a:ext cx="621792" cy="621792"/>
          </a:xfrm>
          <a:prstGeom prst="ellipse">
            <a:avLst/>
          </a:prstGeom>
          <a:solidFill>
            <a:srgbClr val="4A647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32688" y="5239512"/>
            <a:ext cx="310896" cy="310896"/>
          </a:xfrm>
          <a:prstGeom prst="rect">
            <a:avLst/>
          </a:prstGeom>
        </p:spPr>
      </p:pic>
      <p:sp>
        <p:nvSpPr>
          <p:cNvPr id="22" name="Text 16"/>
          <p:cNvSpPr/>
          <p:nvPr/>
        </p:nvSpPr>
        <p:spPr>
          <a:xfrm>
            <a:off x="1645920" y="5047488"/>
            <a:ext cx="6035040" cy="310896"/>
          </a:xfrm>
          <a:prstGeom prst="rect">
            <a:avLst/>
          </a:prstGeom>
          <a:noFill/>
          <a:ln/>
        </p:spPr>
        <p:txBody>
          <a:bodyPr wrap="square" lIns="0" tIns="0" rIns="0" bIns="0" rtlCol="0" anchor="ctr"/>
          <a:lstStyle/>
          <a:p>
            <a:pPr marL="0" indent="0">
              <a:buNone/>
            </a:pPr>
            <a:r>
              <a:rPr lang="en-US" sz="1550" b="1" dirty="0">
                <a:solidFill>
                  <a:srgbClr val="B0552F"/>
                </a:solidFill>
                <a:latin typeface="Cambria" pitchFamily="34" charset="0"/>
                <a:ea typeface="Cambria" pitchFamily="34" charset="-122"/>
                <a:cs typeface="Cambria" pitchFamily="34" charset="-120"/>
              </a:rPr>
              <a:t>A public portfolio</a:t>
            </a:r>
            <a:endParaRPr lang="en-US" sz="1550" dirty="0"/>
          </a:p>
        </p:txBody>
      </p:sp>
      <p:sp>
        <p:nvSpPr>
          <p:cNvPr id="23" name="Text 17"/>
          <p:cNvSpPr/>
          <p:nvPr/>
        </p:nvSpPr>
        <p:spPr>
          <a:xfrm>
            <a:off x="1645920" y="5385816"/>
            <a:ext cx="6035040" cy="402336"/>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Your profile shows what you have built. Colleges and employers really do look.</a:t>
            </a:r>
            <a:endParaRPr lang="en-US" sz="1250" dirty="0"/>
          </a:p>
        </p:txBody>
      </p:sp>
      <p:sp>
        <p:nvSpPr>
          <p:cNvPr id="24" name="Shape 18"/>
          <p:cNvSpPr/>
          <p:nvPr/>
        </p:nvSpPr>
        <p:spPr>
          <a:xfrm>
            <a:off x="8092440" y="1691640"/>
            <a:ext cx="3547872" cy="4169664"/>
          </a:xfrm>
          <a:prstGeom prst="roundRect">
            <a:avLst>
              <a:gd name="adj" fmla="val 3093"/>
            </a:avLst>
          </a:prstGeom>
          <a:solidFill>
            <a:srgbClr val="EAF0F2"/>
          </a:solidFill>
          <a:ln w="12700">
            <a:solidFill>
              <a:srgbClr val="DDD3BF"/>
            </a:solidFill>
            <a:prstDash val="solid"/>
          </a:ln>
        </p:spPr>
        <p:txBody>
          <a:bodyPr/>
          <a:lstStyle/>
          <a:p>
            <a:endParaRPr lang="en-US"/>
          </a:p>
        </p:txBody>
      </p:sp>
      <p:sp>
        <p:nvSpPr>
          <p:cNvPr id="25" name="Shape 19"/>
          <p:cNvSpPr/>
          <p:nvPr/>
        </p:nvSpPr>
        <p:spPr>
          <a:xfrm>
            <a:off x="9454896" y="2057400"/>
            <a:ext cx="822960" cy="822960"/>
          </a:xfrm>
          <a:prstGeom prst="ellipse">
            <a:avLst/>
          </a:prstGeom>
          <a:solidFill>
            <a:srgbClr val="33291F"/>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9660636" y="2263140"/>
            <a:ext cx="411480" cy="411480"/>
          </a:xfrm>
          <a:prstGeom prst="rect">
            <a:avLst/>
          </a:prstGeom>
        </p:spPr>
      </p:pic>
      <p:sp>
        <p:nvSpPr>
          <p:cNvPr id="27" name="Text 20"/>
          <p:cNvSpPr/>
          <p:nvPr/>
        </p:nvSpPr>
        <p:spPr>
          <a:xfrm>
            <a:off x="8321040" y="3063240"/>
            <a:ext cx="3090672" cy="365760"/>
          </a:xfrm>
          <a:prstGeom prst="rect">
            <a:avLst/>
          </a:prstGeom>
          <a:noFill/>
          <a:ln/>
        </p:spPr>
        <p:txBody>
          <a:bodyPr wrap="square" lIns="0" tIns="0" rIns="0" bIns="0" rtlCol="0" anchor="ctr"/>
          <a:lstStyle/>
          <a:p>
            <a:pPr marL="0" indent="0" algn="ctr">
              <a:buNone/>
            </a:pPr>
            <a:r>
              <a:rPr lang="en-US" sz="1600" b="1" dirty="0">
                <a:solidFill>
                  <a:srgbClr val="4A6472"/>
                </a:solidFill>
                <a:latin typeface="Cambria" pitchFamily="34" charset="0"/>
                <a:ea typeface="Cambria" pitchFamily="34" charset="-122"/>
                <a:cs typeface="Cambria" pitchFamily="34" charset="-120"/>
              </a:rPr>
              <a:t>Not just for code</a:t>
            </a:r>
            <a:endParaRPr lang="en-US" sz="1600" dirty="0"/>
          </a:p>
        </p:txBody>
      </p:sp>
      <p:sp>
        <p:nvSpPr>
          <p:cNvPr id="28" name="Text 21"/>
          <p:cNvSpPr/>
          <p:nvPr/>
        </p:nvSpPr>
        <p:spPr>
          <a:xfrm>
            <a:off x="8412480" y="3493008"/>
            <a:ext cx="2907792" cy="1417320"/>
          </a:xfrm>
          <a:prstGeom prst="rect">
            <a:avLst/>
          </a:prstGeom>
          <a:noFill/>
          <a:ln/>
        </p:spPr>
        <p:txBody>
          <a:bodyPr wrap="square" lIns="0" tIns="0" rIns="0" bIns="0" rtlCol="0" anchor="ctr"/>
          <a:lstStyle/>
          <a:p>
            <a:pPr marL="0" indent="0" algn="ctr">
              <a:lnSpc>
                <a:spcPct val="110000"/>
              </a:lnSpc>
              <a:buNone/>
            </a:pPr>
            <a:r>
              <a:rPr lang="en-US" sz="1250" dirty="0">
                <a:solidFill>
                  <a:srgbClr val="4A3C2C"/>
                </a:solidFill>
                <a:latin typeface="Calibri" pitchFamily="34" charset="0"/>
                <a:ea typeface="Calibri" pitchFamily="34" charset="-122"/>
                <a:cs typeface="Calibri" pitchFamily="34" charset="-120"/>
              </a:rPr>
              <a:t>People use GitHub to write laws, books, curricula, and recipes, because "track every change and let people suggest improvements" is useful far beyond software.</a:t>
            </a:r>
            <a:endParaRPr lang="en-US" sz="1250" dirty="0"/>
          </a:p>
        </p:txBody>
      </p:sp>
      <p:sp>
        <p:nvSpPr>
          <p:cNvPr id="29" name="Text 22"/>
          <p:cNvSpPr/>
          <p:nvPr/>
        </p:nvSpPr>
        <p:spPr>
          <a:xfrm>
            <a:off x="8412480" y="5029200"/>
            <a:ext cx="2907792" cy="548640"/>
          </a:xfrm>
          <a:prstGeom prst="rect">
            <a:avLst/>
          </a:prstGeom>
          <a:noFill/>
          <a:ln/>
        </p:spPr>
        <p:txBody>
          <a:bodyPr wrap="square" lIns="0" tIns="0" rIns="0" bIns="0" rtlCol="0" anchor="ctr"/>
          <a:lstStyle/>
          <a:p>
            <a:pPr marL="0" indent="0" algn="ctr">
              <a:buNone/>
            </a:pPr>
            <a:r>
              <a:rPr lang="en-US" sz="1200" i="1" dirty="0">
                <a:solidFill>
                  <a:srgbClr val="4A6472"/>
                </a:solidFill>
                <a:latin typeface="Calibri" pitchFamily="34" charset="0"/>
                <a:ea typeface="Calibri" pitchFamily="34" charset="-122"/>
                <a:cs typeface="Calibri" pitchFamily="34" charset="-120"/>
              </a:rPr>
              <a:t>Our PD decks could live there too.</a:t>
            </a:r>
            <a:endParaRPr lang="en-US" sz="1200" dirty="0"/>
          </a:p>
        </p:txBody>
      </p:sp>
      <p:pic>
        <p:nvPicPr>
          <p:cNvPr id="30" name="Image 2" descr="/home/claude/assets/cije_mark.png">
            <a:extLst>
              <a:ext uri="{FF2B5EF4-FFF2-40B4-BE49-F238E27FC236}">
                <a16:creationId xmlns:a16="http://schemas.microsoft.com/office/drawing/2014/main" id="{068FAD18-E423-9053-AEF3-C69BFE7ECF15}"/>
              </a:ext>
            </a:extLst>
          </p:cNvPr>
          <p:cNvPicPr>
            <a:picLocks noChangeAspect="1"/>
          </p:cNvPicPr>
          <p:nvPr/>
        </p:nvPicPr>
        <p:blipFill>
          <a:blip r:embed="rId8">
            <a:alphaModFix amt="75000"/>
          </a:blip>
          <a:stretch>
            <a:fillRect/>
          </a:stretch>
        </p:blipFill>
        <p:spPr>
          <a:xfrm>
            <a:off x="11448288" y="6419088"/>
            <a:ext cx="512064" cy="3456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CLEARING THE FOG</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Just as important: what GitHub is not</a:t>
            </a:r>
            <a:endParaRPr lang="en-US" sz="3000" dirty="0"/>
          </a:p>
        </p:txBody>
      </p:sp>
      <p:sp>
        <p:nvSpPr>
          <p:cNvPr id="4" name="Shape 2"/>
          <p:cNvSpPr/>
          <p:nvPr/>
        </p:nvSpPr>
        <p:spPr>
          <a:xfrm>
            <a:off x="548640" y="1645920"/>
            <a:ext cx="6903720" cy="1225296"/>
          </a:xfrm>
          <a:prstGeom prst="roundRect">
            <a:avLst>
              <a:gd name="adj" fmla="val 7463"/>
            </a:avLst>
          </a:prstGeom>
          <a:solidFill>
            <a:srgbClr val="EDE6D6"/>
          </a:solidFill>
          <a:ln w="12700">
            <a:solidFill>
              <a:srgbClr val="DDD3BF"/>
            </a:solidFill>
            <a:prstDash val="solid"/>
          </a:ln>
        </p:spPr>
        <p:txBody>
          <a:bodyPr/>
          <a:lstStyle/>
          <a:p>
            <a:endParaRPr lang="en-US"/>
          </a:p>
        </p:txBody>
      </p:sp>
      <p:sp>
        <p:nvSpPr>
          <p:cNvPr id="5" name="Shape 3"/>
          <p:cNvSpPr/>
          <p:nvPr/>
        </p:nvSpPr>
        <p:spPr>
          <a:xfrm>
            <a:off x="804672" y="1938528"/>
            <a:ext cx="640080" cy="640080"/>
          </a:xfrm>
          <a:prstGeom prst="ellipse">
            <a:avLst/>
          </a:prstGeom>
          <a:solidFill>
            <a:srgbClr val="33291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64692" y="2098548"/>
            <a:ext cx="320040" cy="320040"/>
          </a:xfrm>
          <a:prstGeom prst="rect">
            <a:avLst/>
          </a:prstGeom>
        </p:spPr>
      </p:pic>
      <p:sp>
        <p:nvSpPr>
          <p:cNvPr id="7" name="Text 4"/>
          <p:cNvSpPr/>
          <p:nvPr/>
        </p:nvSpPr>
        <p:spPr>
          <a:xfrm>
            <a:off x="1691640" y="1810512"/>
            <a:ext cx="5532120" cy="329184"/>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Not where code runs</a:t>
            </a:r>
            <a:endParaRPr lang="en-US" sz="1600" dirty="0"/>
          </a:p>
        </p:txBody>
      </p:sp>
      <p:sp>
        <p:nvSpPr>
          <p:cNvPr id="8" name="Text 5"/>
          <p:cNvSpPr/>
          <p:nvPr/>
        </p:nvSpPr>
        <p:spPr>
          <a:xfrm>
            <a:off x="1691640" y="2176272"/>
            <a:ext cx="5532120" cy="640080"/>
          </a:xfrm>
          <a:prstGeom prst="rect">
            <a:avLst/>
          </a:prstGeom>
          <a:noFill/>
          <a:ln/>
        </p:spPr>
        <p:txBody>
          <a:bodyPr wrap="square" lIns="0" tIns="0" rIns="0" bIns="0" rtlCol="0" anchor="ctr"/>
          <a:lstStyle/>
          <a:p>
            <a:pPr marL="0" indent="0">
              <a:lnSpc>
                <a:spcPct val="102000"/>
              </a:lnSpc>
              <a:buNone/>
            </a:pPr>
            <a:r>
              <a:rPr lang="en-US" sz="1200" dirty="0">
                <a:solidFill>
                  <a:srgbClr val="4A3C2C"/>
                </a:solidFill>
                <a:latin typeface="Calibri" pitchFamily="34" charset="0"/>
                <a:ea typeface="Calibri" pitchFamily="34" charset="-122"/>
                <a:cs typeface="Calibri" pitchFamily="34" charset="-120"/>
              </a:rPr>
              <a:t>GitHub never executes your project. The Birdwatcher's processing happens on the ESP32 camera and in the cloud services we chose, not on github.com.</a:t>
            </a:r>
            <a:endParaRPr lang="en-US" sz="1200" dirty="0"/>
          </a:p>
        </p:txBody>
      </p:sp>
      <p:sp>
        <p:nvSpPr>
          <p:cNvPr id="9" name="Shape 6"/>
          <p:cNvSpPr/>
          <p:nvPr/>
        </p:nvSpPr>
        <p:spPr>
          <a:xfrm>
            <a:off x="548640" y="3035808"/>
            <a:ext cx="6903720" cy="1225296"/>
          </a:xfrm>
          <a:prstGeom prst="roundRect">
            <a:avLst>
              <a:gd name="adj" fmla="val 7463"/>
            </a:avLst>
          </a:prstGeom>
          <a:solidFill>
            <a:srgbClr val="EDE6D6"/>
          </a:solidFill>
          <a:ln w="12700">
            <a:solidFill>
              <a:srgbClr val="DDD3BF"/>
            </a:solidFill>
            <a:prstDash val="solid"/>
          </a:ln>
        </p:spPr>
        <p:txBody>
          <a:bodyPr/>
          <a:lstStyle/>
          <a:p>
            <a:endParaRPr lang="en-US"/>
          </a:p>
        </p:txBody>
      </p:sp>
      <p:sp>
        <p:nvSpPr>
          <p:cNvPr id="10" name="Shape 7"/>
          <p:cNvSpPr/>
          <p:nvPr/>
        </p:nvSpPr>
        <p:spPr>
          <a:xfrm>
            <a:off x="804672" y="3328416"/>
            <a:ext cx="640080" cy="640080"/>
          </a:xfrm>
          <a:prstGeom prst="ellipse">
            <a:avLst/>
          </a:prstGeom>
          <a:solidFill>
            <a:srgbClr val="33291F"/>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64692" y="3488436"/>
            <a:ext cx="320040" cy="320040"/>
          </a:xfrm>
          <a:prstGeom prst="rect">
            <a:avLst/>
          </a:prstGeom>
        </p:spPr>
      </p:pic>
      <p:sp>
        <p:nvSpPr>
          <p:cNvPr id="12" name="Text 8"/>
          <p:cNvSpPr/>
          <p:nvPr/>
        </p:nvSpPr>
        <p:spPr>
          <a:xfrm>
            <a:off x="1691640" y="3200400"/>
            <a:ext cx="5532120" cy="329184"/>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Not where code is written</a:t>
            </a:r>
            <a:endParaRPr lang="en-US" sz="1600" dirty="0"/>
          </a:p>
        </p:txBody>
      </p:sp>
      <p:sp>
        <p:nvSpPr>
          <p:cNvPr id="13" name="Text 9"/>
          <p:cNvSpPr/>
          <p:nvPr/>
        </p:nvSpPr>
        <p:spPr>
          <a:xfrm>
            <a:off x="1691640" y="3566160"/>
            <a:ext cx="5532120" cy="640080"/>
          </a:xfrm>
          <a:prstGeom prst="rect">
            <a:avLst/>
          </a:prstGeom>
          <a:noFill/>
          <a:ln/>
        </p:spPr>
        <p:txBody>
          <a:bodyPr wrap="square" lIns="0" tIns="0" rIns="0" bIns="0" rtlCol="0" anchor="ctr"/>
          <a:lstStyle/>
          <a:p>
            <a:pPr marL="0" indent="0">
              <a:lnSpc>
                <a:spcPct val="102000"/>
              </a:lnSpc>
              <a:buNone/>
            </a:pPr>
            <a:r>
              <a:rPr lang="en-US" sz="1200" dirty="0">
                <a:solidFill>
                  <a:srgbClr val="4A3C2C"/>
                </a:solidFill>
                <a:latin typeface="Calibri" pitchFamily="34" charset="0"/>
                <a:ea typeface="Calibri" pitchFamily="34" charset="-122"/>
                <a:cs typeface="Calibri" pitchFamily="34" charset="-120"/>
              </a:rPr>
              <a:t>You write in an editor like VS Code on your own machine. GitHub receives the finished changes you decide to send.</a:t>
            </a:r>
            <a:endParaRPr lang="en-US" sz="1200" dirty="0"/>
          </a:p>
        </p:txBody>
      </p:sp>
      <p:sp>
        <p:nvSpPr>
          <p:cNvPr id="14" name="Shape 10"/>
          <p:cNvSpPr/>
          <p:nvPr/>
        </p:nvSpPr>
        <p:spPr>
          <a:xfrm>
            <a:off x="548640" y="4425696"/>
            <a:ext cx="6903720" cy="1225296"/>
          </a:xfrm>
          <a:prstGeom prst="roundRect">
            <a:avLst>
              <a:gd name="adj" fmla="val 7463"/>
            </a:avLst>
          </a:prstGeom>
          <a:solidFill>
            <a:srgbClr val="EDE6D6"/>
          </a:solidFill>
          <a:ln w="12700">
            <a:solidFill>
              <a:srgbClr val="DDD3BF"/>
            </a:solidFill>
            <a:prstDash val="solid"/>
          </a:ln>
        </p:spPr>
        <p:txBody>
          <a:bodyPr/>
          <a:lstStyle/>
          <a:p>
            <a:endParaRPr lang="en-US"/>
          </a:p>
        </p:txBody>
      </p:sp>
      <p:sp>
        <p:nvSpPr>
          <p:cNvPr id="15" name="Shape 11"/>
          <p:cNvSpPr/>
          <p:nvPr/>
        </p:nvSpPr>
        <p:spPr>
          <a:xfrm>
            <a:off x="804672" y="4718304"/>
            <a:ext cx="640080" cy="640080"/>
          </a:xfrm>
          <a:prstGeom prst="ellipse">
            <a:avLst/>
          </a:prstGeom>
          <a:solidFill>
            <a:srgbClr val="33291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64692" y="4878324"/>
            <a:ext cx="320040" cy="320040"/>
          </a:xfrm>
          <a:prstGeom prst="rect">
            <a:avLst/>
          </a:prstGeom>
        </p:spPr>
      </p:pic>
      <p:sp>
        <p:nvSpPr>
          <p:cNvPr id="17" name="Text 12"/>
          <p:cNvSpPr/>
          <p:nvPr/>
        </p:nvSpPr>
        <p:spPr>
          <a:xfrm>
            <a:off x="1691640" y="4590288"/>
            <a:ext cx="5532120" cy="329184"/>
          </a:xfrm>
          <a:prstGeom prst="rect">
            <a:avLst/>
          </a:prstGeom>
          <a:noFill/>
          <a:ln/>
        </p:spPr>
        <p:txBody>
          <a:bodyPr wrap="square" lIns="0" tIns="0" rIns="0" bIns="0" rtlCol="0" anchor="ctr"/>
          <a:lstStyle/>
          <a:p>
            <a:pPr marL="0" indent="0">
              <a:buNone/>
            </a:pPr>
            <a:r>
              <a:rPr lang="en-US" sz="1600" b="1" dirty="0">
                <a:solidFill>
                  <a:srgbClr val="33291F"/>
                </a:solidFill>
                <a:latin typeface="Cambria" pitchFamily="34" charset="0"/>
                <a:ea typeface="Cambria" pitchFamily="34" charset="-122"/>
                <a:cs typeface="Cambria" pitchFamily="34" charset="-120"/>
              </a:rPr>
              <a:t>Not automatic</a:t>
            </a:r>
            <a:endParaRPr lang="en-US" sz="1600" dirty="0"/>
          </a:p>
        </p:txBody>
      </p:sp>
      <p:sp>
        <p:nvSpPr>
          <p:cNvPr id="18" name="Text 13"/>
          <p:cNvSpPr/>
          <p:nvPr/>
        </p:nvSpPr>
        <p:spPr>
          <a:xfrm>
            <a:off x="1691640" y="4956048"/>
            <a:ext cx="5532120" cy="640080"/>
          </a:xfrm>
          <a:prstGeom prst="rect">
            <a:avLst/>
          </a:prstGeom>
          <a:noFill/>
          <a:ln/>
        </p:spPr>
        <p:txBody>
          <a:bodyPr wrap="square" lIns="0" tIns="0" rIns="0" bIns="0" rtlCol="0" anchor="ctr"/>
          <a:lstStyle/>
          <a:p>
            <a:pPr marL="0" indent="0">
              <a:lnSpc>
                <a:spcPct val="102000"/>
              </a:lnSpc>
              <a:buNone/>
            </a:pPr>
            <a:r>
              <a:rPr lang="en-US" sz="1200" dirty="0">
                <a:solidFill>
                  <a:srgbClr val="4A3C2C"/>
                </a:solidFill>
                <a:latin typeface="Calibri" pitchFamily="34" charset="0"/>
                <a:ea typeface="Calibri" pitchFamily="34" charset="-122"/>
                <a:cs typeface="Calibri" pitchFamily="34" charset="-120"/>
              </a:rPr>
              <a:t>GitHub only knows what you commit and push. Save a file locally and tell no one? GitHub has no idea it exists.</a:t>
            </a:r>
            <a:endParaRPr lang="en-US" sz="1200" dirty="0"/>
          </a:p>
        </p:txBody>
      </p:sp>
      <p:sp>
        <p:nvSpPr>
          <p:cNvPr id="19" name="Shape 14"/>
          <p:cNvSpPr/>
          <p:nvPr/>
        </p:nvSpPr>
        <p:spPr>
          <a:xfrm>
            <a:off x="7680960" y="1645920"/>
            <a:ext cx="3959352" cy="4023360"/>
          </a:xfrm>
          <a:prstGeom prst="roundRect">
            <a:avLst>
              <a:gd name="adj" fmla="val 2771"/>
            </a:avLst>
          </a:prstGeom>
          <a:solidFill>
            <a:srgbClr val="33291F"/>
          </a:solidFill>
          <a:ln/>
        </p:spPr>
        <p:txBody>
          <a:bodyPr/>
          <a:lstStyle/>
          <a:p>
            <a:endParaRPr lang="en-US"/>
          </a:p>
        </p:txBody>
      </p:sp>
      <p:sp>
        <p:nvSpPr>
          <p:cNvPr id="20" name="Shape 15"/>
          <p:cNvSpPr/>
          <p:nvPr/>
        </p:nvSpPr>
        <p:spPr>
          <a:xfrm>
            <a:off x="9249156" y="2011680"/>
            <a:ext cx="822960" cy="822960"/>
          </a:xfrm>
          <a:prstGeom prst="ellipse">
            <a:avLst/>
          </a:prstGeom>
          <a:solidFill>
            <a:srgbClr val="B98F35"/>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454896" y="2217420"/>
            <a:ext cx="411480" cy="411480"/>
          </a:xfrm>
          <a:prstGeom prst="rect">
            <a:avLst/>
          </a:prstGeom>
        </p:spPr>
      </p:pic>
      <p:sp>
        <p:nvSpPr>
          <p:cNvPr id="22" name="Text 16"/>
          <p:cNvSpPr/>
          <p:nvPr/>
        </p:nvSpPr>
        <p:spPr>
          <a:xfrm>
            <a:off x="7909560" y="3017520"/>
            <a:ext cx="3502152" cy="384048"/>
          </a:xfrm>
          <a:prstGeom prst="rect">
            <a:avLst/>
          </a:prstGeom>
          <a:noFill/>
          <a:ln/>
        </p:spPr>
        <p:txBody>
          <a:bodyPr wrap="square" lIns="0" tIns="0" rIns="0" bIns="0" rtlCol="0" anchor="ctr"/>
          <a:lstStyle/>
          <a:p>
            <a:pPr marL="0" indent="0" algn="ctr">
              <a:buNone/>
            </a:pPr>
            <a:r>
              <a:rPr lang="en-US" sz="1700" b="1" dirty="0">
                <a:solidFill>
                  <a:srgbClr val="F3EEE3"/>
                </a:solidFill>
                <a:latin typeface="Cambria" pitchFamily="34" charset="0"/>
                <a:ea typeface="Cambria" pitchFamily="34" charset="-122"/>
                <a:cs typeface="Cambria" pitchFamily="34" charset="-120"/>
              </a:rPr>
              <a:t>A library, not a kitchen</a:t>
            </a:r>
            <a:endParaRPr lang="en-US" sz="1700" dirty="0"/>
          </a:p>
        </p:txBody>
      </p:sp>
      <p:sp>
        <p:nvSpPr>
          <p:cNvPr id="23" name="Text 17"/>
          <p:cNvSpPr/>
          <p:nvPr/>
        </p:nvSpPr>
        <p:spPr>
          <a:xfrm>
            <a:off x="8046720" y="3474720"/>
            <a:ext cx="3227832" cy="1600200"/>
          </a:xfrm>
          <a:prstGeom prst="rect">
            <a:avLst/>
          </a:prstGeom>
          <a:noFill/>
          <a:ln/>
        </p:spPr>
        <p:txBody>
          <a:bodyPr wrap="square" lIns="0" tIns="0" rIns="0" bIns="0" rtlCol="0" anchor="ctr"/>
          <a:lstStyle/>
          <a:p>
            <a:pPr marL="0" indent="0" algn="ctr">
              <a:lnSpc>
                <a:spcPct val="112000"/>
              </a:lnSpc>
              <a:buNone/>
            </a:pPr>
            <a:r>
              <a:rPr lang="en-US" sz="1250" dirty="0">
                <a:solidFill>
                  <a:srgbClr val="E8E0D0"/>
                </a:solidFill>
                <a:latin typeface="Calibri" pitchFamily="34" charset="0"/>
                <a:ea typeface="Calibri" pitchFamily="34" charset="-122"/>
                <a:cs typeface="Calibri" pitchFamily="34" charset="-120"/>
              </a:rPr>
              <a:t>The library holds every recipe, every edition, every margin note from every cook who came before you. But no meal has ever been cooked inside it. The cooking happens in your kitchen.</a:t>
            </a:r>
            <a:endParaRPr lang="en-US" sz="1250" dirty="0"/>
          </a:p>
        </p:txBody>
      </p:sp>
      <p:sp>
        <p:nvSpPr>
          <p:cNvPr id="24" name="Text 18"/>
          <p:cNvSpPr/>
          <p:nvPr/>
        </p:nvSpPr>
        <p:spPr>
          <a:xfrm>
            <a:off x="8046720" y="5120640"/>
            <a:ext cx="3227832" cy="457200"/>
          </a:xfrm>
          <a:prstGeom prst="rect">
            <a:avLst/>
          </a:prstGeom>
          <a:noFill/>
          <a:ln/>
        </p:spPr>
        <p:txBody>
          <a:bodyPr wrap="square" lIns="0" tIns="0" rIns="0" bIns="0" rtlCol="0" anchor="ctr"/>
          <a:lstStyle/>
          <a:p>
            <a:pPr marL="0" indent="0" algn="ctr">
              <a:buNone/>
            </a:pPr>
            <a:r>
              <a:rPr lang="en-US" sz="1250" b="1" i="1" dirty="0">
                <a:solidFill>
                  <a:srgbClr val="B98F35"/>
                </a:solidFill>
                <a:latin typeface="Calibri" pitchFamily="34" charset="0"/>
                <a:ea typeface="Calibri" pitchFamily="34" charset="-122"/>
                <a:cs typeface="Calibri" pitchFamily="34" charset="-120"/>
              </a:rPr>
              <a:t>GitHub is the library. Your computer is the kitchen.</a:t>
            </a:r>
            <a:endParaRPr lang="en-US" sz="1250" dirty="0"/>
          </a:p>
        </p:txBody>
      </p:sp>
      <p:pic>
        <p:nvPicPr>
          <p:cNvPr id="25" name="Image 2" descr="/home/claude/assets/cije_mark.png">
            <a:extLst>
              <a:ext uri="{FF2B5EF4-FFF2-40B4-BE49-F238E27FC236}">
                <a16:creationId xmlns:a16="http://schemas.microsoft.com/office/drawing/2014/main" id="{F2A47AD8-9642-4BE4-DEF9-F47AEA2B7762}"/>
              </a:ext>
            </a:extLst>
          </p:cNvPr>
          <p:cNvPicPr>
            <a:picLocks noChangeAspect="1"/>
          </p:cNvPicPr>
          <p:nvPr/>
        </p:nvPicPr>
        <p:blipFill>
          <a:blip r:embed="rId7">
            <a:alphaModFix amt="75000"/>
          </a:blip>
          <a:stretch>
            <a:fillRect/>
          </a:stretch>
        </p:blipFill>
        <p:spPr>
          <a:xfrm>
            <a:off x="11448288" y="6419088"/>
            <a:ext cx="512064" cy="3456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4A6472"/>
                </a:solidFill>
                <a:latin typeface="Calibri" pitchFamily="34" charset="0"/>
                <a:ea typeface="Calibri" pitchFamily="34" charset="-122"/>
                <a:cs typeface="Calibri" pitchFamily="34" charset="-120"/>
              </a:rPr>
              <a:t>FIELD GUIDE, ENTRY ONE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repository: one nest for everything</a:t>
            </a:r>
            <a:endParaRPr lang="en-US" sz="3000" dirty="0"/>
          </a:p>
        </p:txBody>
      </p:sp>
      <p:sp>
        <p:nvSpPr>
          <p:cNvPr id="4" name="Shape 2"/>
          <p:cNvSpPr/>
          <p:nvPr/>
        </p:nvSpPr>
        <p:spPr>
          <a:xfrm>
            <a:off x="10698480" y="475488"/>
            <a:ext cx="868680" cy="868680"/>
          </a:xfrm>
          <a:prstGeom prst="ellipse">
            <a:avLst/>
          </a:prstGeom>
          <a:solidFill>
            <a:srgbClr val="5E7A8A"/>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15650" y="692658"/>
            <a:ext cx="434340" cy="434340"/>
          </a:xfrm>
          <a:prstGeom prst="rect">
            <a:avLst/>
          </a:prstGeom>
        </p:spPr>
      </p:pic>
      <p:sp>
        <p:nvSpPr>
          <p:cNvPr id="6" name="Shape 3"/>
          <p:cNvSpPr/>
          <p:nvPr/>
        </p:nvSpPr>
        <p:spPr>
          <a:xfrm>
            <a:off x="548640" y="1691640"/>
            <a:ext cx="7315200" cy="1170432"/>
          </a:xfrm>
          <a:prstGeom prst="roundRect">
            <a:avLst>
              <a:gd name="adj" fmla="val 7031"/>
            </a:avLst>
          </a:prstGeom>
          <a:solidFill>
            <a:srgbClr val="F3EEE3"/>
          </a:solidFill>
          <a:ln w="12700">
            <a:solidFill>
              <a:srgbClr val="DDD3BF"/>
            </a:solidFill>
            <a:prstDash val="solid"/>
          </a:ln>
        </p:spPr>
        <p:txBody>
          <a:bodyPr/>
          <a:lstStyle/>
          <a:p>
            <a:endParaRPr lang="en-US"/>
          </a:p>
        </p:txBody>
      </p:sp>
      <p:sp>
        <p:nvSpPr>
          <p:cNvPr id="7" name="Text 4"/>
          <p:cNvSpPr/>
          <p:nvPr/>
        </p:nvSpPr>
        <p:spPr>
          <a:xfrm>
            <a:off x="777240" y="1828800"/>
            <a:ext cx="6858000" cy="329184"/>
          </a:xfrm>
          <a:prstGeom prst="rect">
            <a:avLst/>
          </a:prstGeom>
          <a:noFill/>
          <a:ln/>
        </p:spPr>
        <p:txBody>
          <a:bodyPr wrap="square" lIns="0" tIns="0" rIns="0" bIns="0" rtlCol="0" anchor="ctr"/>
          <a:lstStyle/>
          <a:p>
            <a:pPr marL="0" indent="0">
              <a:buNone/>
            </a:pPr>
            <a:r>
              <a:rPr lang="en-US" sz="1600" b="1" dirty="0">
                <a:solidFill>
                  <a:srgbClr val="B0552F"/>
                </a:solidFill>
                <a:latin typeface="Cambria" pitchFamily="34" charset="0"/>
                <a:ea typeface="Cambria" pitchFamily="34" charset="-122"/>
                <a:cs typeface="Cambria" pitchFamily="34" charset="-120"/>
              </a:rPr>
              <a:t>What it is</a:t>
            </a:r>
            <a:endParaRPr lang="en-US" sz="1600" dirty="0"/>
          </a:p>
        </p:txBody>
      </p:sp>
      <p:sp>
        <p:nvSpPr>
          <p:cNvPr id="8" name="Text 5"/>
          <p:cNvSpPr/>
          <p:nvPr/>
        </p:nvSpPr>
        <p:spPr>
          <a:xfrm>
            <a:off x="777240" y="2194560"/>
            <a:ext cx="6858000" cy="603504"/>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A project's complete home: code, images, documentation, and the full history of every change ever made.</a:t>
            </a:r>
            <a:endParaRPr lang="en-US" sz="1300" dirty="0"/>
          </a:p>
        </p:txBody>
      </p:sp>
      <p:sp>
        <p:nvSpPr>
          <p:cNvPr id="9" name="Shape 6"/>
          <p:cNvSpPr/>
          <p:nvPr/>
        </p:nvSpPr>
        <p:spPr>
          <a:xfrm>
            <a:off x="548640" y="3026664"/>
            <a:ext cx="7315200" cy="1170432"/>
          </a:xfrm>
          <a:prstGeom prst="roundRect">
            <a:avLst>
              <a:gd name="adj" fmla="val 7031"/>
            </a:avLst>
          </a:prstGeom>
          <a:solidFill>
            <a:srgbClr val="F3EEE3"/>
          </a:solidFill>
          <a:ln w="12700">
            <a:solidFill>
              <a:srgbClr val="DDD3BF"/>
            </a:solidFill>
            <a:prstDash val="solid"/>
          </a:ln>
        </p:spPr>
        <p:txBody>
          <a:bodyPr/>
          <a:lstStyle/>
          <a:p>
            <a:endParaRPr lang="en-US"/>
          </a:p>
        </p:txBody>
      </p:sp>
      <p:sp>
        <p:nvSpPr>
          <p:cNvPr id="10" name="Text 7"/>
          <p:cNvSpPr/>
          <p:nvPr/>
        </p:nvSpPr>
        <p:spPr>
          <a:xfrm>
            <a:off x="777240" y="3163824"/>
            <a:ext cx="6858000" cy="329184"/>
          </a:xfrm>
          <a:prstGeom prst="rect">
            <a:avLst/>
          </a:prstGeom>
          <a:noFill/>
          <a:ln/>
        </p:spPr>
        <p:txBody>
          <a:bodyPr wrap="square" lIns="0" tIns="0" rIns="0" bIns="0" rtlCol="0" anchor="ctr"/>
          <a:lstStyle/>
          <a:p>
            <a:pPr marL="0" indent="0">
              <a:buNone/>
            </a:pPr>
            <a:r>
              <a:rPr lang="en-US" sz="1600" b="1" dirty="0">
                <a:solidFill>
                  <a:srgbClr val="B0552F"/>
                </a:solidFill>
                <a:latin typeface="Cambria" pitchFamily="34" charset="0"/>
                <a:ea typeface="Cambria" pitchFamily="34" charset="-122"/>
                <a:cs typeface="Cambria" pitchFamily="34" charset="-120"/>
              </a:rPr>
              <a:t>The front door</a:t>
            </a:r>
            <a:endParaRPr lang="en-US" sz="1600" dirty="0"/>
          </a:p>
        </p:txBody>
      </p:sp>
      <p:sp>
        <p:nvSpPr>
          <p:cNvPr id="11" name="Text 8"/>
          <p:cNvSpPr/>
          <p:nvPr/>
        </p:nvSpPr>
        <p:spPr>
          <a:xfrm>
            <a:off x="777240" y="3529584"/>
            <a:ext cx="6858000" cy="603504"/>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A README file greets visitors and explains what the project is and how to use it. Good projects treat it like a welcome mat.</a:t>
            </a:r>
            <a:endParaRPr lang="en-US" sz="1300" dirty="0"/>
          </a:p>
        </p:txBody>
      </p:sp>
      <p:sp>
        <p:nvSpPr>
          <p:cNvPr id="12" name="Shape 9"/>
          <p:cNvSpPr/>
          <p:nvPr/>
        </p:nvSpPr>
        <p:spPr>
          <a:xfrm>
            <a:off x="548640" y="4361688"/>
            <a:ext cx="7315200" cy="1170432"/>
          </a:xfrm>
          <a:prstGeom prst="roundRect">
            <a:avLst>
              <a:gd name="adj" fmla="val 7031"/>
            </a:avLst>
          </a:prstGeom>
          <a:solidFill>
            <a:srgbClr val="F3EEE3"/>
          </a:solidFill>
          <a:ln w="12700">
            <a:solidFill>
              <a:srgbClr val="DDD3BF"/>
            </a:solidFill>
            <a:prstDash val="solid"/>
          </a:ln>
        </p:spPr>
        <p:txBody>
          <a:bodyPr/>
          <a:lstStyle/>
          <a:p>
            <a:endParaRPr lang="en-US"/>
          </a:p>
        </p:txBody>
      </p:sp>
      <p:sp>
        <p:nvSpPr>
          <p:cNvPr id="13" name="Text 10"/>
          <p:cNvSpPr/>
          <p:nvPr/>
        </p:nvSpPr>
        <p:spPr>
          <a:xfrm>
            <a:off x="777240" y="4498848"/>
            <a:ext cx="6858000" cy="329184"/>
          </a:xfrm>
          <a:prstGeom prst="rect">
            <a:avLst/>
          </a:prstGeom>
          <a:noFill/>
          <a:ln/>
        </p:spPr>
        <p:txBody>
          <a:bodyPr wrap="square" lIns="0" tIns="0" rIns="0" bIns="0" rtlCol="0" anchor="ctr"/>
          <a:lstStyle/>
          <a:p>
            <a:pPr marL="0" indent="0">
              <a:buNone/>
            </a:pPr>
            <a:r>
              <a:rPr lang="en-US" sz="1600" b="1" dirty="0">
                <a:solidFill>
                  <a:srgbClr val="B0552F"/>
                </a:solidFill>
                <a:latin typeface="Cambria" pitchFamily="34" charset="0"/>
                <a:ea typeface="Cambria" pitchFamily="34" charset="-122"/>
                <a:cs typeface="Cambria" pitchFamily="34" charset="-120"/>
              </a:rPr>
              <a:t>Public or private</a:t>
            </a:r>
            <a:endParaRPr lang="en-US" sz="1600" dirty="0"/>
          </a:p>
        </p:txBody>
      </p:sp>
      <p:sp>
        <p:nvSpPr>
          <p:cNvPr id="14" name="Text 11"/>
          <p:cNvSpPr/>
          <p:nvPr/>
        </p:nvSpPr>
        <p:spPr>
          <a:xfrm>
            <a:off x="777240" y="4864608"/>
            <a:ext cx="6858000" cy="603504"/>
          </a:xfrm>
          <a:prstGeom prst="rect">
            <a:avLst/>
          </a:prstGeom>
          <a:noFill/>
          <a:ln/>
        </p:spPr>
        <p:txBody>
          <a:bodyPr wrap="square" lIns="0" tIns="0" rIns="0" bIns="0" rtlCol="0" anchor="ctr"/>
          <a:lstStyle/>
          <a:p>
            <a:pPr marL="0" indent="0">
              <a:lnSpc>
                <a:spcPct val="103000"/>
              </a:lnSpc>
              <a:buNone/>
            </a:pPr>
            <a:r>
              <a:rPr lang="en-US" sz="1300" dirty="0">
                <a:solidFill>
                  <a:srgbClr val="4A3C2C"/>
                </a:solidFill>
                <a:latin typeface="Calibri" pitchFamily="34" charset="0"/>
                <a:ea typeface="Calibri" pitchFamily="34" charset="-122"/>
                <a:cs typeface="Calibri" pitchFamily="34" charset="-120"/>
              </a:rPr>
              <a:t>Public repos are open to the world. Private repos are visible only to people you invite. You choose per project.</a:t>
            </a:r>
            <a:endParaRPr lang="en-US" sz="1300" dirty="0"/>
          </a:p>
        </p:txBody>
      </p:sp>
      <p:sp>
        <p:nvSpPr>
          <p:cNvPr id="15" name="Shape 12"/>
          <p:cNvSpPr/>
          <p:nvPr/>
        </p:nvSpPr>
        <p:spPr>
          <a:xfrm>
            <a:off x="8092440" y="1691640"/>
            <a:ext cx="3547872" cy="4023360"/>
          </a:xfrm>
          <a:prstGeom prst="roundRect">
            <a:avLst>
              <a:gd name="adj" fmla="val 3093"/>
            </a:avLst>
          </a:prstGeom>
          <a:solidFill>
            <a:srgbClr val="EAF0F2"/>
          </a:solidFill>
          <a:ln w="12700">
            <a:solidFill>
              <a:srgbClr val="DDD3BF"/>
            </a:solidFill>
            <a:prstDash val="solid"/>
          </a:ln>
        </p:spPr>
        <p:txBody>
          <a:bodyPr/>
          <a:lstStyle/>
          <a:p>
            <a:endParaRPr lang="en-US"/>
          </a:p>
        </p:txBody>
      </p:sp>
      <p:sp>
        <p:nvSpPr>
          <p:cNvPr id="16" name="Text 13"/>
          <p:cNvSpPr/>
          <p:nvPr/>
        </p:nvSpPr>
        <p:spPr>
          <a:xfrm>
            <a:off x="8321040" y="1920240"/>
            <a:ext cx="3090672" cy="365760"/>
          </a:xfrm>
          <a:prstGeom prst="rect">
            <a:avLst/>
          </a:prstGeom>
          <a:noFill/>
          <a:ln/>
        </p:spPr>
        <p:txBody>
          <a:bodyPr wrap="square" lIns="0" tIns="0" rIns="0" bIns="0" rtlCol="0" anchor="ctr"/>
          <a:lstStyle/>
          <a:p>
            <a:pPr marL="0" indent="0" algn="ctr">
              <a:buNone/>
            </a:pPr>
            <a:r>
              <a:rPr lang="en-US" sz="1500" b="1" dirty="0">
                <a:solidFill>
                  <a:srgbClr val="4A6472"/>
                </a:solidFill>
                <a:latin typeface="Cambria" pitchFamily="34" charset="0"/>
                <a:ea typeface="Cambria" pitchFamily="34" charset="-122"/>
                <a:cs typeface="Cambria" pitchFamily="34" charset="-120"/>
              </a:rPr>
              <a:t>Inside a Birdwatcher repo</a:t>
            </a:r>
            <a:endParaRPr lang="en-US" sz="1500" dirty="0"/>
          </a:p>
        </p:txBody>
      </p:sp>
      <p:pic>
        <p:nvPicPr>
          <p:cNvPr id="17" name="Image 1" descr="preencoded.png"/>
          <p:cNvPicPr>
            <a:picLocks noChangeAspect="1"/>
          </p:cNvPicPr>
          <p:nvPr/>
        </p:nvPicPr>
        <p:blipFill>
          <a:blip r:embed="rId4"/>
          <a:stretch>
            <a:fillRect/>
          </a:stretch>
        </p:blipFill>
        <p:spPr>
          <a:xfrm>
            <a:off x="8458200" y="2450592"/>
            <a:ext cx="274320" cy="274320"/>
          </a:xfrm>
          <a:prstGeom prst="rect">
            <a:avLst/>
          </a:prstGeom>
        </p:spPr>
      </p:pic>
      <p:sp>
        <p:nvSpPr>
          <p:cNvPr id="18" name="Text 14"/>
          <p:cNvSpPr/>
          <p:nvPr/>
        </p:nvSpPr>
        <p:spPr>
          <a:xfrm>
            <a:off x="8869680" y="2423160"/>
            <a:ext cx="2651760" cy="384048"/>
          </a:xfrm>
          <a:prstGeom prst="rect">
            <a:avLst/>
          </a:prstGeom>
          <a:noFill/>
          <a:ln/>
        </p:spPr>
        <p:txBody>
          <a:bodyPr wrap="square" lIns="0" tIns="0" rIns="0" bIns="0" rtlCol="0" anchor="ctr"/>
          <a:lstStyle/>
          <a:p>
            <a:pPr marL="0" indent="0">
              <a:buNone/>
            </a:pPr>
            <a:r>
              <a:rPr lang="en-US" sz="1150" dirty="0">
                <a:solidFill>
                  <a:srgbClr val="4A3C2C"/>
                </a:solidFill>
                <a:latin typeface="Calibri" pitchFamily="34" charset="0"/>
                <a:ea typeface="Calibri" pitchFamily="34" charset="-122"/>
                <a:cs typeface="Calibri" pitchFamily="34" charset="-120"/>
              </a:rPr>
              <a:t>firmware/  camera + motion code</a:t>
            </a:r>
            <a:endParaRPr lang="en-US" sz="1150" dirty="0"/>
          </a:p>
        </p:txBody>
      </p:sp>
      <p:pic>
        <p:nvPicPr>
          <p:cNvPr id="19" name="Image 2" descr="preencoded.png"/>
          <p:cNvPicPr>
            <a:picLocks noChangeAspect="1"/>
          </p:cNvPicPr>
          <p:nvPr/>
        </p:nvPicPr>
        <p:blipFill>
          <a:blip r:embed="rId5"/>
          <a:stretch>
            <a:fillRect/>
          </a:stretch>
        </p:blipFill>
        <p:spPr>
          <a:xfrm>
            <a:off x="8458200" y="3017520"/>
            <a:ext cx="274320" cy="274320"/>
          </a:xfrm>
          <a:prstGeom prst="rect">
            <a:avLst/>
          </a:prstGeom>
        </p:spPr>
      </p:pic>
      <p:sp>
        <p:nvSpPr>
          <p:cNvPr id="20" name="Text 15"/>
          <p:cNvSpPr/>
          <p:nvPr/>
        </p:nvSpPr>
        <p:spPr>
          <a:xfrm>
            <a:off x="8869680" y="2990088"/>
            <a:ext cx="2651760" cy="384048"/>
          </a:xfrm>
          <a:prstGeom prst="rect">
            <a:avLst/>
          </a:prstGeom>
          <a:noFill/>
          <a:ln/>
        </p:spPr>
        <p:txBody>
          <a:bodyPr wrap="square" lIns="0" tIns="0" rIns="0" bIns="0" rtlCol="0" anchor="ctr"/>
          <a:lstStyle/>
          <a:p>
            <a:pPr marL="0" indent="0">
              <a:buNone/>
            </a:pPr>
            <a:r>
              <a:rPr lang="en-US" sz="1150" dirty="0">
                <a:solidFill>
                  <a:srgbClr val="4A3C2C"/>
                </a:solidFill>
                <a:latin typeface="Calibri" pitchFamily="34" charset="0"/>
                <a:ea typeface="Calibri" pitchFamily="34" charset="-122"/>
                <a:cs typeface="Calibri" pitchFamily="34" charset="-120"/>
              </a:rPr>
              <a:t>dashboard/  the public webpage</a:t>
            </a:r>
            <a:endParaRPr lang="en-US" sz="1150" dirty="0"/>
          </a:p>
        </p:txBody>
      </p:sp>
      <p:pic>
        <p:nvPicPr>
          <p:cNvPr id="21" name="Image 3" descr="preencoded.png"/>
          <p:cNvPicPr>
            <a:picLocks noChangeAspect="1"/>
          </p:cNvPicPr>
          <p:nvPr/>
        </p:nvPicPr>
        <p:blipFill>
          <a:blip r:embed="rId6"/>
          <a:stretch>
            <a:fillRect/>
          </a:stretch>
        </p:blipFill>
        <p:spPr>
          <a:xfrm>
            <a:off x="8458200" y="3584448"/>
            <a:ext cx="274320" cy="274320"/>
          </a:xfrm>
          <a:prstGeom prst="rect">
            <a:avLst/>
          </a:prstGeom>
        </p:spPr>
      </p:pic>
      <p:sp>
        <p:nvSpPr>
          <p:cNvPr id="22" name="Text 16"/>
          <p:cNvSpPr/>
          <p:nvPr/>
        </p:nvSpPr>
        <p:spPr>
          <a:xfrm>
            <a:off x="8869680" y="3557016"/>
            <a:ext cx="2651760" cy="384048"/>
          </a:xfrm>
          <a:prstGeom prst="rect">
            <a:avLst/>
          </a:prstGeom>
          <a:noFill/>
          <a:ln/>
        </p:spPr>
        <p:txBody>
          <a:bodyPr wrap="square" lIns="0" tIns="0" rIns="0" bIns="0" rtlCol="0" anchor="ctr"/>
          <a:lstStyle/>
          <a:p>
            <a:pPr marL="0" indent="0">
              <a:buNone/>
            </a:pPr>
            <a:r>
              <a:rPr lang="en-US" sz="1150" dirty="0">
                <a:solidFill>
                  <a:srgbClr val="4A3C2C"/>
                </a:solidFill>
                <a:latin typeface="Calibri" pitchFamily="34" charset="0"/>
                <a:ea typeface="Calibri" pitchFamily="34" charset="-122"/>
                <a:cs typeface="Calibri" pitchFamily="34" charset="-120"/>
              </a:rPr>
              <a:t>README.md  start here</a:t>
            </a:r>
            <a:endParaRPr lang="en-US" sz="1150" dirty="0"/>
          </a:p>
        </p:txBody>
      </p:sp>
      <p:pic>
        <p:nvPicPr>
          <p:cNvPr id="23" name="Image 4" descr="preencoded.png"/>
          <p:cNvPicPr>
            <a:picLocks noChangeAspect="1"/>
          </p:cNvPicPr>
          <p:nvPr/>
        </p:nvPicPr>
        <p:blipFill>
          <a:blip r:embed="rId7"/>
          <a:stretch>
            <a:fillRect/>
          </a:stretch>
        </p:blipFill>
        <p:spPr>
          <a:xfrm>
            <a:off x="8458200" y="4151376"/>
            <a:ext cx="274320" cy="274320"/>
          </a:xfrm>
          <a:prstGeom prst="rect">
            <a:avLst/>
          </a:prstGeom>
        </p:spPr>
      </p:pic>
      <p:sp>
        <p:nvSpPr>
          <p:cNvPr id="24" name="Text 17"/>
          <p:cNvSpPr/>
          <p:nvPr/>
        </p:nvSpPr>
        <p:spPr>
          <a:xfrm>
            <a:off x="8869680" y="4123944"/>
            <a:ext cx="2651760" cy="384048"/>
          </a:xfrm>
          <a:prstGeom prst="rect">
            <a:avLst/>
          </a:prstGeom>
          <a:noFill/>
          <a:ln/>
        </p:spPr>
        <p:txBody>
          <a:bodyPr wrap="square" lIns="0" tIns="0" rIns="0" bIns="0" rtlCol="0" anchor="ctr"/>
          <a:lstStyle/>
          <a:p>
            <a:pPr marL="0" indent="0">
              <a:buNone/>
            </a:pPr>
            <a:r>
              <a:rPr lang="en-US" sz="1150" dirty="0">
                <a:solidFill>
                  <a:srgbClr val="4A3C2C"/>
                </a:solidFill>
                <a:latin typeface="Calibri" pitchFamily="34" charset="0"/>
                <a:ea typeface="Calibri" pitchFamily="34" charset="-122"/>
                <a:cs typeface="Calibri" pitchFamily="34" charset="-120"/>
              </a:rPr>
              <a:t>LICENSE  the sharing rules</a:t>
            </a:r>
            <a:endParaRPr lang="en-US" sz="1150" dirty="0"/>
          </a:p>
        </p:txBody>
      </p:sp>
      <p:pic>
        <p:nvPicPr>
          <p:cNvPr id="25" name="Image 5" descr="preencoded.png"/>
          <p:cNvPicPr>
            <a:picLocks noChangeAspect="1"/>
          </p:cNvPicPr>
          <p:nvPr/>
        </p:nvPicPr>
        <p:blipFill>
          <a:blip r:embed="rId8"/>
          <a:stretch>
            <a:fillRect/>
          </a:stretch>
        </p:blipFill>
        <p:spPr>
          <a:xfrm>
            <a:off x="8458200" y="4718304"/>
            <a:ext cx="274320" cy="274320"/>
          </a:xfrm>
          <a:prstGeom prst="rect">
            <a:avLst/>
          </a:prstGeom>
        </p:spPr>
      </p:pic>
      <p:sp>
        <p:nvSpPr>
          <p:cNvPr id="26" name="Text 18"/>
          <p:cNvSpPr/>
          <p:nvPr/>
        </p:nvSpPr>
        <p:spPr>
          <a:xfrm>
            <a:off x="8869680" y="4690872"/>
            <a:ext cx="2651760" cy="384048"/>
          </a:xfrm>
          <a:prstGeom prst="rect">
            <a:avLst/>
          </a:prstGeom>
          <a:noFill/>
          <a:ln/>
        </p:spPr>
        <p:txBody>
          <a:bodyPr wrap="square" lIns="0" tIns="0" rIns="0" bIns="0" rtlCol="0" anchor="ctr"/>
          <a:lstStyle/>
          <a:p>
            <a:pPr marL="0" indent="0">
              <a:buNone/>
            </a:pPr>
            <a:r>
              <a:rPr lang="en-US" sz="1150" dirty="0">
                <a:solidFill>
                  <a:srgbClr val="4A3C2C"/>
                </a:solidFill>
                <a:latin typeface="Calibri" pitchFamily="34" charset="0"/>
                <a:ea typeface="Calibri" pitchFamily="34" charset="-122"/>
                <a:cs typeface="Calibri" pitchFamily="34" charset="-120"/>
              </a:rPr>
              <a:t>History: every change, forever</a:t>
            </a:r>
            <a:endParaRPr lang="en-US" sz="1150" dirty="0"/>
          </a:p>
        </p:txBody>
      </p:sp>
      <p:sp>
        <p:nvSpPr>
          <p:cNvPr id="27" name="Shape 19"/>
          <p:cNvSpPr/>
          <p:nvPr/>
        </p:nvSpPr>
        <p:spPr>
          <a:xfrm>
            <a:off x="548640" y="5870448"/>
            <a:ext cx="11091672" cy="640080"/>
          </a:xfrm>
          <a:prstGeom prst="roundRect">
            <a:avLst>
              <a:gd name="adj" fmla="val 14286"/>
            </a:avLst>
          </a:prstGeom>
          <a:solidFill>
            <a:srgbClr val="33291F"/>
          </a:solidFill>
          <a:ln/>
        </p:spPr>
        <p:txBody>
          <a:bodyPr/>
          <a:lstStyle/>
          <a:p>
            <a:endParaRPr lang="en-US"/>
          </a:p>
        </p:txBody>
      </p:sp>
      <p:pic>
        <p:nvPicPr>
          <p:cNvPr id="28" name="Image 6" descr="preencoded.png"/>
          <p:cNvPicPr>
            <a:picLocks noChangeAspect="1"/>
          </p:cNvPicPr>
          <p:nvPr/>
        </p:nvPicPr>
        <p:blipFill>
          <a:blip r:embed="rId9"/>
          <a:stretch>
            <a:fillRect/>
          </a:stretch>
        </p:blipFill>
        <p:spPr>
          <a:xfrm>
            <a:off x="841248" y="6016752"/>
            <a:ext cx="347472" cy="347472"/>
          </a:xfrm>
          <a:prstGeom prst="rect">
            <a:avLst/>
          </a:prstGeom>
        </p:spPr>
      </p:pic>
      <p:sp>
        <p:nvSpPr>
          <p:cNvPr id="29" name="Text 20"/>
          <p:cNvSpPr/>
          <p:nvPr/>
        </p:nvSpPr>
        <p:spPr>
          <a:xfrm>
            <a:off x="1371600" y="5870448"/>
            <a:ext cx="9994392" cy="64008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libri" pitchFamily="34" charset="0"/>
                <a:ea typeface="Calibri" pitchFamily="34" charset="-122"/>
                <a:cs typeface="Calibri" pitchFamily="34" charset="-120"/>
              </a:rPr>
              <a:t>Repo is just short for repository. Once you say it out loud twice, it stops sounding intimidating.</a:t>
            </a:r>
            <a:endParaRPr lang="en-US" sz="1350" dirty="0"/>
          </a:p>
        </p:txBody>
      </p:sp>
      <p:pic>
        <p:nvPicPr>
          <p:cNvPr id="30" name="Image 2" descr="/home/claude/assets/cije_mark.png">
            <a:extLst>
              <a:ext uri="{FF2B5EF4-FFF2-40B4-BE49-F238E27FC236}">
                <a16:creationId xmlns:a16="http://schemas.microsoft.com/office/drawing/2014/main" id="{BAD93914-5139-BDE6-6DBB-BBD272AAB88B}"/>
              </a:ext>
            </a:extLst>
          </p:cNvPr>
          <p:cNvPicPr>
            <a:picLocks noChangeAspect="1"/>
          </p:cNvPicPr>
          <p:nvPr/>
        </p:nvPicPr>
        <p:blipFill>
          <a:blip r:embed="rId10">
            <a:alphaModFix amt="75000"/>
          </a:blip>
          <a:stretch>
            <a:fillRect/>
          </a:stretch>
        </p:blipFill>
        <p:spPr>
          <a:xfrm>
            <a:off x="11448288" y="6419088"/>
            <a:ext cx="512064" cy="3456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4A6472"/>
                </a:solidFill>
                <a:latin typeface="Calibri" pitchFamily="34" charset="0"/>
                <a:ea typeface="Calibri" pitchFamily="34" charset="-122"/>
                <a:cs typeface="Calibri" pitchFamily="34" charset="-120"/>
              </a:rPr>
              <a:t>FIELD GUIDE, ENTRY TWO</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commit: a snapshot with a story</a:t>
            </a:r>
            <a:endParaRPr lang="en-US" sz="3000" dirty="0"/>
          </a:p>
        </p:txBody>
      </p:sp>
      <p:sp>
        <p:nvSpPr>
          <p:cNvPr id="4" name="Shape 2"/>
          <p:cNvSpPr/>
          <p:nvPr/>
        </p:nvSpPr>
        <p:spPr>
          <a:xfrm>
            <a:off x="10698480" y="475488"/>
            <a:ext cx="868680" cy="868680"/>
          </a:xfrm>
          <a:prstGeom prst="ellipse">
            <a:avLst/>
          </a:prstGeom>
          <a:solidFill>
            <a:srgbClr val="B0552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15650" y="692658"/>
            <a:ext cx="434340" cy="434340"/>
          </a:xfrm>
          <a:prstGeom prst="rect">
            <a:avLst/>
          </a:prstGeom>
        </p:spPr>
      </p:pic>
      <p:sp>
        <p:nvSpPr>
          <p:cNvPr id="6" name="Text 3"/>
          <p:cNvSpPr/>
          <p:nvPr/>
        </p:nvSpPr>
        <p:spPr>
          <a:xfrm>
            <a:off x="548640" y="1481328"/>
            <a:ext cx="7223760" cy="777240"/>
          </a:xfrm>
          <a:prstGeom prst="rect">
            <a:avLst/>
          </a:prstGeom>
          <a:noFill/>
          <a:ln/>
        </p:spPr>
        <p:txBody>
          <a:bodyPr wrap="square" lIns="0" tIns="0" rIns="0" bIns="0" rtlCol="0" anchor="ctr"/>
          <a:lstStyle/>
          <a:p>
            <a:pPr marL="0" indent="0">
              <a:lnSpc>
                <a:spcPct val="108000"/>
              </a:lnSpc>
              <a:buNone/>
            </a:pPr>
            <a:r>
              <a:rPr lang="en-US" sz="1450" dirty="0">
                <a:solidFill>
                  <a:srgbClr val="4A3C2C"/>
                </a:solidFill>
                <a:latin typeface="Calibri" pitchFamily="34" charset="0"/>
                <a:ea typeface="Calibri" pitchFamily="34" charset="-122"/>
                <a:cs typeface="Calibri" pitchFamily="34" charset="-120"/>
              </a:rPr>
              <a:t>A commit is a saved snapshot of your project at one moment, stamped with who made it, when, and, crucially, why. The chain of commits is your project's diary.</a:t>
            </a:r>
            <a:endParaRPr lang="en-US" sz="1450" dirty="0"/>
          </a:p>
        </p:txBody>
      </p:sp>
      <p:sp>
        <p:nvSpPr>
          <p:cNvPr id="7" name="Shape 4"/>
          <p:cNvSpPr/>
          <p:nvPr/>
        </p:nvSpPr>
        <p:spPr>
          <a:xfrm>
            <a:off x="548640" y="2423160"/>
            <a:ext cx="5394960" cy="2331720"/>
          </a:xfrm>
          <a:prstGeom prst="roundRect">
            <a:avLst>
              <a:gd name="adj" fmla="val 3922"/>
            </a:avLst>
          </a:prstGeom>
          <a:solidFill>
            <a:srgbClr val="33291F"/>
          </a:solidFill>
          <a:ln/>
        </p:spPr>
        <p:txBody>
          <a:bodyPr/>
          <a:lstStyle/>
          <a:p>
            <a:endParaRPr lang="en-US"/>
          </a:p>
        </p:txBody>
      </p:sp>
      <p:sp>
        <p:nvSpPr>
          <p:cNvPr id="8" name="Text 5"/>
          <p:cNvSpPr/>
          <p:nvPr/>
        </p:nvSpPr>
        <p:spPr>
          <a:xfrm>
            <a:off x="868680" y="2651760"/>
            <a:ext cx="4846320" cy="1920240"/>
          </a:xfrm>
          <a:prstGeom prst="rect">
            <a:avLst/>
          </a:prstGeom>
          <a:noFill/>
          <a:ln/>
        </p:spPr>
        <p:txBody>
          <a:bodyPr wrap="square" lIns="0" tIns="0" rIns="0" bIns="0" rtlCol="0" anchor="ctr"/>
          <a:lstStyle/>
          <a:p>
            <a:pPr marL="0" indent="0">
              <a:lnSpc>
                <a:spcPct val="115000"/>
              </a:lnSpc>
              <a:buNone/>
            </a:pPr>
            <a:r>
              <a:rPr lang="en-US" sz="1300" dirty="0">
                <a:solidFill>
                  <a:srgbClr val="B98F35"/>
                </a:solidFill>
                <a:latin typeface="Courier New" pitchFamily="34" charset="0"/>
                <a:ea typeface="Courier New" pitchFamily="34" charset="-122"/>
                <a:cs typeface="Courier New" pitchFamily="34" charset="-120"/>
              </a:rPr>
              <a:t>commit 4f2c9ab</a:t>
            </a:r>
            <a:endParaRPr lang="en-US" sz="1300" dirty="0"/>
          </a:p>
          <a:p>
            <a:pPr marL="0" indent="0">
              <a:lnSpc>
                <a:spcPct val="115000"/>
              </a:lnSpc>
              <a:buNone/>
            </a:pPr>
            <a:r>
              <a:rPr lang="en-US" sz="1300" dirty="0">
                <a:solidFill>
                  <a:srgbClr val="C9BFA9"/>
                </a:solidFill>
                <a:latin typeface="Courier New" pitchFamily="34" charset="0"/>
                <a:ea typeface="Courier New" pitchFamily="34" charset="-122"/>
                <a:cs typeface="Courier New" pitchFamily="34" charset="-120"/>
              </a:rPr>
              <a:t>Author: Orly N.</a:t>
            </a:r>
            <a:endParaRPr lang="en-US" sz="1300" dirty="0"/>
          </a:p>
          <a:p>
            <a:pPr marL="0" indent="0">
              <a:lnSpc>
                <a:spcPct val="115000"/>
              </a:lnSpc>
              <a:buNone/>
            </a:pPr>
            <a:r>
              <a:rPr lang="en-US" sz="1300" dirty="0">
                <a:solidFill>
                  <a:srgbClr val="C9BFA9"/>
                </a:solidFill>
                <a:latin typeface="Courier New" pitchFamily="34" charset="0"/>
                <a:ea typeface="Courier New" pitchFamily="34" charset="-122"/>
                <a:cs typeface="Courier New" pitchFamily="34" charset="-120"/>
              </a:rPr>
              <a:t>Date:   Tue Jul 7 2026</a:t>
            </a:r>
            <a:endParaRPr lang="en-US" sz="1300" dirty="0"/>
          </a:p>
          <a:p>
            <a:pPr marL="0" indent="0">
              <a:lnSpc>
                <a:spcPct val="115000"/>
              </a:lnSpc>
              <a:buNone/>
            </a:pPr>
            <a:endParaRPr lang="en-US" sz="1300" dirty="0"/>
          </a:p>
          <a:p>
            <a:pPr marL="0" indent="0">
              <a:lnSpc>
                <a:spcPct val="115000"/>
              </a:lnSpc>
              <a:buNone/>
            </a:pPr>
            <a:r>
              <a:rPr lang="en-US" sz="1300" dirty="0">
                <a:solidFill>
                  <a:srgbClr val="F3EEE3"/>
                </a:solidFill>
                <a:latin typeface="Courier New" pitchFamily="34" charset="0"/>
                <a:ea typeface="Courier New" pitchFamily="34" charset="-122"/>
                <a:cs typeface="Courier New" pitchFamily="34" charset="-120"/>
              </a:rPr>
              <a:t>  Disable IR at night to stop</a:t>
            </a:r>
            <a:endParaRPr lang="en-US" sz="1300" dirty="0"/>
          </a:p>
          <a:p>
            <a:pPr marL="0" indent="0">
              <a:lnSpc>
                <a:spcPct val="115000"/>
              </a:lnSpc>
              <a:buNone/>
            </a:pPr>
            <a:r>
              <a:rPr lang="en-US" sz="1300" dirty="0">
                <a:solidFill>
                  <a:srgbClr val="F3EEE3"/>
                </a:solidFill>
                <a:latin typeface="Courier New" pitchFamily="34" charset="0"/>
                <a:ea typeface="Courier New" pitchFamily="34" charset="-122"/>
                <a:cs typeface="Courier New" pitchFamily="34" charset="-120"/>
              </a:rPr>
              <a:t>  window glare in captures</a:t>
            </a:r>
            <a:endParaRPr lang="en-US" sz="1300" dirty="0"/>
          </a:p>
        </p:txBody>
      </p:sp>
      <p:sp>
        <p:nvSpPr>
          <p:cNvPr id="9" name="Shape 6"/>
          <p:cNvSpPr/>
          <p:nvPr/>
        </p:nvSpPr>
        <p:spPr>
          <a:xfrm>
            <a:off x="6263640" y="2423160"/>
            <a:ext cx="5376672" cy="2331720"/>
          </a:xfrm>
          <a:prstGeom prst="roundRect">
            <a:avLst>
              <a:gd name="adj" fmla="val 4706"/>
            </a:avLst>
          </a:prstGeom>
          <a:solidFill>
            <a:srgbClr val="F3EEE3"/>
          </a:solidFill>
          <a:ln w="12700">
            <a:solidFill>
              <a:srgbClr val="DDD3BF"/>
            </a:solidFill>
            <a:prstDash val="solid"/>
          </a:ln>
        </p:spPr>
        <p:txBody>
          <a:bodyPr/>
          <a:lstStyle/>
          <a:p>
            <a:endParaRPr lang="en-US"/>
          </a:p>
        </p:txBody>
      </p:sp>
      <p:sp>
        <p:nvSpPr>
          <p:cNvPr id="10" name="Text 7"/>
          <p:cNvSpPr/>
          <p:nvPr/>
        </p:nvSpPr>
        <p:spPr>
          <a:xfrm>
            <a:off x="6492240" y="2606040"/>
            <a:ext cx="4937760" cy="347472"/>
          </a:xfrm>
          <a:prstGeom prst="rect">
            <a:avLst/>
          </a:prstGeom>
          <a:noFill/>
          <a:ln/>
        </p:spPr>
        <p:txBody>
          <a:bodyPr wrap="square" lIns="0" tIns="0" rIns="0" bIns="0" rtlCol="0" anchor="ctr"/>
          <a:lstStyle/>
          <a:p>
            <a:pPr marL="0" indent="0">
              <a:buNone/>
            </a:pPr>
            <a:r>
              <a:rPr lang="en-US" sz="1550" b="1" dirty="0">
                <a:solidFill>
                  <a:srgbClr val="B0552F"/>
                </a:solidFill>
                <a:latin typeface="Cambria" pitchFamily="34" charset="0"/>
                <a:ea typeface="Cambria" pitchFamily="34" charset="-122"/>
                <a:cs typeface="Cambria" pitchFamily="34" charset="-120"/>
              </a:rPr>
              <a:t>The message is the whole game</a:t>
            </a:r>
            <a:endParaRPr lang="en-US" sz="1550" dirty="0"/>
          </a:p>
        </p:txBody>
      </p:sp>
      <p:pic>
        <p:nvPicPr>
          <p:cNvPr id="11" name="Image 1" descr="preencoded.png"/>
          <p:cNvPicPr>
            <a:picLocks noChangeAspect="1"/>
          </p:cNvPicPr>
          <p:nvPr/>
        </p:nvPicPr>
        <p:blipFill>
          <a:blip r:embed="rId4"/>
          <a:stretch>
            <a:fillRect/>
          </a:stretch>
        </p:blipFill>
        <p:spPr>
          <a:xfrm>
            <a:off x="6537960" y="3127248"/>
            <a:ext cx="292608" cy="292608"/>
          </a:xfrm>
          <a:prstGeom prst="rect">
            <a:avLst/>
          </a:prstGeom>
        </p:spPr>
      </p:pic>
      <p:sp>
        <p:nvSpPr>
          <p:cNvPr id="12" name="Text 8"/>
          <p:cNvSpPr/>
          <p:nvPr/>
        </p:nvSpPr>
        <p:spPr>
          <a:xfrm>
            <a:off x="6949440" y="3108960"/>
            <a:ext cx="4480560" cy="365760"/>
          </a:xfrm>
          <a:prstGeom prst="rect">
            <a:avLst/>
          </a:prstGeom>
          <a:noFill/>
          <a:ln/>
        </p:spPr>
        <p:txBody>
          <a:bodyPr wrap="square" lIns="0" tIns="0" rIns="0" bIns="0" rtlCol="0" anchor="ctr"/>
          <a:lstStyle/>
          <a:p>
            <a:pPr marL="0" indent="0">
              <a:buNone/>
            </a:pPr>
            <a:r>
              <a:rPr lang="en-US" sz="1300" dirty="0">
                <a:solidFill>
                  <a:srgbClr val="4A3C2C"/>
                </a:solidFill>
                <a:latin typeface="Calibri" pitchFamily="34" charset="0"/>
                <a:ea typeface="Calibri" pitchFamily="34" charset="-122"/>
                <a:cs typeface="Calibri" pitchFamily="34" charset="-120"/>
              </a:rPr>
              <a:t>"fixed stuff": future you will weep</a:t>
            </a:r>
            <a:endParaRPr lang="en-US" sz="1300" dirty="0"/>
          </a:p>
        </p:txBody>
      </p:sp>
      <p:pic>
        <p:nvPicPr>
          <p:cNvPr id="13" name="Image 2" descr="preencoded.png"/>
          <p:cNvPicPr>
            <a:picLocks noChangeAspect="1"/>
          </p:cNvPicPr>
          <p:nvPr/>
        </p:nvPicPr>
        <p:blipFill>
          <a:blip r:embed="rId5"/>
          <a:stretch>
            <a:fillRect/>
          </a:stretch>
        </p:blipFill>
        <p:spPr>
          <a:xfrm>
            <a:off x="6537960" y="3611880"/>
            <a:ext cx="292608" cy="292608"/>
          </a:xfrm>
          <a:prstGeom prst="rect">
            <a:avLst/>
          </a:prstGeom>
        </p:spPr>
      </p:pic>
      <p:sp>
        <p:nvSpPr>
          <p:cNvPr id="14" name="Text 9"/>
          <p:cNvSpPr/>
          <p:nvPr/>
        </p:nvSpPr>
        <p:spPr>
          <a:xfrm>
            <a:off x="6949440" y="3547872"/>
            <a:ext cx="4480560" cy="548640"/>
          </a:xfrm>
          <a:prstGeom prst="rect">
            <a:avLst/>
          </a:prstGeom>
          <a:noFill/>
          <a:ln/>
        </p:spPr>
        <p:txBody>
          <a:bodyPr wrap="square" lIns="0" tIns="0" rIns="0" bIns="0" rtlCol="0" anchor="ctr"/>
          <a:lstStyle/>
          <a:p>
            <a:pPr marL="0" indent="0">
              <a:lnSpc>
                <a:spcPct val="102000"/>
              </a:lnSpc>
              <a:buNone/>
            </a:pPr>
            <a:r>
              <a:rPr lang="en-US" sz="1300" dirty="0">
                <a:solidFill>
                  <a:srgbClr val="4A3C2C"/>
                </a:solidFill>
                <a:latin typeface="Calibri" pitchFamily="34" charset="0"/>
                <a:ea typeface="Calibri" pitchFamily="34" charset="-122"/>
                <a:cs typeface="Calibri" pitchFamily="34" charset="-120"/>
              </a:rPr>
              <a:t>"Disable IR at night to stop window glare": a gift to every future reader</a:t>
            </a:r>
            <a:endParaRPr lang="en-US" sz="1300" dirty="0"/>
          </a:p>
        </p:txBody>
      </p:sp>
      <p:sp>
        <p:nvSpPr>
          <p:cNvPr id="15" name="Text 10"/>
          <p:cNvSpPr/>
          <p:nvPr/>
        </p:nvSpPr>
        <p:spPr>
          <a:xfrm>
            <a:off x="6492240" y="4224528"/>
            <a:ext cx="4937760" cy="457200"/>
          </a:xfrm>
          <a:prstGeom prst="rect">
            <a:avLst/>
          </a:prstGeom>
          <a:noFill/>
          <a:ln/>
        </p:spPr>
        <p:txBody>
          <a:bodyPr wrap="square" lIns="0" tIns="0" rIns="0" bIns="0" rtlCol="0" anchor="ctr"/>
          <a:lstStyle/>
          <a:p>
            <a:pPr marL="0" indent="0">
              <a:buNone/>
            </a:pPr>
            <a:r>
              <a:rPr lang="en-US" sz="1200" i="1" dirty="0">
                <a:solidFill>
                  <a:srgbClr val="4A6472"/>
                </a:solidFill>
                <a:latin typeface="Calibri" pitchFamily="34" charset="0"/>
                <a:ea typeface="Calibri" pitchFamily="34" charset="-122"/>
                <a:cs typeface="Calibri" pitchFamily="34" charset="-120"/>
              </a:rPr>
              <a:t>Commit small and commit often: many little snapshots beat one giant one.</a:t>
            </a:r>
            <a:endParaRPr lang="en-US" sz="1200" dirty="0"/>
          </a:p>
        </p:txBody>
      </p:sp>
      <p:sp>
        <p:nvSpPr>
          <p:cNvPr id="16" name="Shape 11"/>
          <p:cNvSpPr/>
          <p:nvPr/>
        </p:nvSpPr>
        <p:spPr>
          <a:xfrm>
            <a:off x="548640" y="5074920"/>
            <a:ext cx="11091672" cy="777240"/>
          </a:xfrm>
          <a:prstGeom prst="roundRect">
            <a:avLst>
              <a:gd name="adj" fmla="val 11765"/>
            </a:avLst>
          </a:prstGeom>
          <a:solidFill>
            <a:srgbClr val="33291F"/>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841248" y="5289804"/>
            <a:ext cx="347472" cy="347472"/>
          </a:xfrm>
          <a:prstGeom prst="rect">
            <a:avLst/>
          </a:prstGeom>
        </p:spPr>
      </p:pic>
      <p:sp>
        <p:nvSpPr>
          <p:cNvPr id="18" name="Text 12"/>
          <p:cNvSpPr/>
          <p:nvPr/>
        </p:nvSpPr>
        <p:spPr>
          <a:xfrm>
            <a:off x="1371600" y="5074920"/>
            <a:ext cx="9994392"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Commit locally, then push to send your snapshots up to GitHub, and pull to bring down everyone else's.</a:t>
            </a:r>
            <a:endParaRPr lang="en-US" sz="1500" dirty="0"/>
          </a:p>
        </p:txBody>
      </p:sp>
      <p:pic>
        <p:nvPicPr>
          <p:cNvPr id="19" name="Image 2" descr="/home/claude/assets/cije_mark.png">
            <a:extLst>
              <a:ext uri="{FF2B5EF4-FFF2-40B4-BE49-F238E27FC236}">
                <a16:creationId xmlns:a16="http://schemas.microsoft.com/office/drawing/2014/main" id="{A2BEDFC8-AE2F-A430-77F5-CDF06C9F8626}"/>
              </a:ext>
            </a:extLst>
          </p:cNvPr>
          <p:cNvPicPr>
            <a:picLocks noChangeAspect="1"/>
          </p:cNvPicPr>
          <p:nvPr/>
        </p:nvPicPr>
        <p:blipFill>
          <a:blip r:embed="rId7">
            <a:alphaModFix amt="75000"/>
          </a:blip>
          <a:stretch>
            <a:fillRect/>
          </a:stretch>
        </p:blipFill>
        <p:spPr>
          <a:xfrm>
            <a:off x="11448288" y="6419088"/>
            <a:ext cx="512064" cy="3456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4A6472"/>
                </a:solidFill>
                <a:latin typeface="Calibri" pitchFamily="34" charset="0"/>
                <a:ea typeface="Calibri" pitchFamily="34" charset="-122"/>
                <a:cs typeface="Calibri" pitchFamily="34" charset="-120"/>
              </a:rPr>
              <a:t>FIELD GUIDE, ENTRY THREE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branch: a parallel path off the trunk</a:t>
            </a:r>
            <a:endParaRPr lang="en-US" sz="3000" dirty="0"/>
          </a:p>
        </p:txBody>
      </p:sp>
      <p:sp>
        <p:nvSpPr>
          <p:cNvPr id="4" name="Shape 2"/>
          <p:cNvSpPr/>
          <p:nvPr/>
        </p:nvSpPr>
        <p:spPr>
          <a:xfrm>
            <a:off x="10698480" y="475488"/>
            <a:ext cx="868680" cy="868680"/>
          </a:xfrm>
          <a:prstGeom prst="ellipse">
            <a:avLst/>
          </a:prstGeom>
          <a:solidFill>
            <a:srgbClr val="B98F3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15650" y="692658"/>
            <a:ext cx="434340" cy="434340"/>
          </a:xfrm>
          <a:prstGeom prst="rect">
            <a:avLst/>
          </a:prstGeom>
        </p:spPr>
      </p:pic>
      <p:sp>
        <p:nvSpPr>
          <p:cNvPr id="6" name="Text 3"/>
          <p:cNvSpPr/>
          <p:nvPr/>
        </p:nvSpPr>
        <p:spPr>
          <a:xfrm>
            <a:off x="548640" y="1481328"/>
            <a:ext cx="10789920" cy="548640"/>
          </a:xfrm>
          <a:prstGeom prst="rect">
            <a:avLst/>
          </a:prstGeom>
          <a:noFill/>
          <a:ln/>
        </p:spPr>
        <p:txBody>
          <a:bodyPr wrap="square" lIns="0" tIns="0" rIns="0" bIns="0" rtlCol="0" anchor="ctr"/>
          <a:lstStyle/>
          <a:p>
            <a:pPr marL="0" indent="0">
              <a:lnSpc>
                <a:spcPct val="106000"/>
              </a:lnSpc>
              <a:buNone/>
            </a:pPr>
            <a:r>
              <a:rPr lang="en-US" sz="1450" dirty="0">
                <a:solidFill>
                  <a:srgbClr val="4A3C2C"/>
                </a:solidFill>
                <a:latin typeface="Calibri" pitchFamily="34" charset="0"/>
                <a:ea typeface="Calibri" pitchFamily="34" charset="-122"/>
                <a:cs typeface="Calibri" pitchFamily="34" charset="-120"/>
              </a:rPr>
              <a:t>A branch lets you try something new in a safe copy of the timeline while the main project stays untouched. Finished and happy? Merge it back into the trunk.</a:t>
            </a:r>
            <a:endParaRPr lang="en-US" sz="1450" dirty="0"/>
          </a:p>
        </p:txBody>
      </p:sp>
      <p:sp>
        <p:nvSpPr>
          <p:cNvPr id="7" name="Shape 4"/>
          <p:cNvSpPr/>
          <p:nvPr/>
        </p:nvSpPr>
        <p:spPr>
          <a:xfrm>
            <a:off x="548640" y="2240280"/>
            <a:ext cx="11091672" cy="2880360"/>
          </a:xfrm>
          <a:prstGeom prst="roundRect">
            <a:avLst>
              <a:gd name="adj" fmla="val 3810"/>
            </a:avLst>
          </a:prstGeom>
          <a:solidFill>
            <a:srgbClr val="F3EEE3"/>
          </a:solidFill>
          <a:ln w="12700">
            <a:solidFill>
              <a:srgbClr val="DDD3BF"/>
            </a:solidFill>
            <a:prstDash val="solid"/>
          </a:ln>
        </p:spPr>
        <p:txBody>
          <a:bodyPr/>
          <a:lstStyle/>
          <a:p>
            <a:endParaRPr lang="en-US"/>
          </a:p>
        </p:txBody>
      </p:sp>
      <p:sp>
        <p:nvSpPr>
          <p:cNvPr id="8" name="Shape 5"/>
          <p:cNvSpPr/>
          <p:nvPr/>
        </p:nvSpPr>
        <p:spPr>
          <a:xfrm>
            <a:off x="1188720" y="4434840"/>
            <a:ext cx="9784080" cy="0"/>
          </a:xfrm>
          <a:prstGeom prst="line">
            <a:avLst/>
          </a:prstGeom>
          <a:noFill/>
          <a:ln w="44450">
            <a:solidFill>
              <a:srgbClr val="33291F"/>
            </a:solidFill>
            <a:prstDash val="solid"/>
          </a:ln>
        </p:spPr>
        <p:txBody>
          <a:bodyPr/>
          <a:lstStyle/>
          <a:p>
            <a:endParaRPr lang="en-US"/>
          </a:p>
        </p:txBody>
      </p:sp>
      <p:sp>
        <p:nvSpPr>
          <p:cNvPr id="9" name="Shape 6"/>
          <p:cNvSpPr/>
          <p:nvPr/>
        </p:nvSpPr>
        <p:spPr>
          <a:xfrm flipV="1">
            <a:off x="3749040" y="3063240"/>
            <a:ext cx="1005840" cy="1371600"/>
          </a:xfrm>
          <a:prstGeom prst="line">
            <a:avLst/>
          </a:prstGeom>
          <a:noFill/>
          <a:ln w="38100">
            <a:solidFill>
              <a:srgbClr val="5E7A8A"/>
            </a:solidFill>
            <a:prstDash val="solid"/>
          </a:ln>
        </p:spPr>
        <p:txBody>
          <a:bodyPr/>
          <a:lstStyle/>
          <a:p>
            <a:endParaRPr lang="en-US"/>
          </a:p>
        </p:txBody>
      </p:sp>
      <p:sp>
        <p:nvSpPr>
          <p:cNvPr id="10" name="Shape 7"/>
          <p:cNvSpPr/>
          <p:nvPr/>
        </p:nvSpPr>
        <p:spPr>
          <a:xfrm>
            <a:off x="4754880" y="3063240"/>
            <a:ext cx="2926080" cy="0"/>
          </a:xfrm>
          <a:prstGeom prst="line">
            <a:avLst/>
          </a:prstGeom>
          <a:noFill/>
          <a:ln w="38100">
            <a:solidFill>
              <a:srgbClr val="5E7A8A"/>
            </a:solidFill>
            <a:prstDash val="solid"/>
          </a:ln>
        </p:spPr>
        <p:txBody>
          <a:bodyPr/>
          <a:lstStyle/>
          <a:p>
            <a:endParaRPr lang="en-US"/>
          </a:p>
        </p:txBody>
      </p:sp>
      <p:sp>
        <p:nvSpPr>
          <p:cNvPr id="11" name="Shape 8"/>
          <p:cNvSpPr/>
          <p:nvPr/>
        </p:nvSpPr>
        <p:spPr>
          <a:xfrm>
            <a:off x="7680960" y="3063240"/>
            <a:ext cx="1005840" cy="1371600"/>
          </a:xfrm>
          <a:prstGeom prst="line">
            <a:avLst/>
          </a:prstGeom>
          <a:noFill/>
          <a:ln w="38100">
            <a:solidFill>
              <a:srgbClr val="5E7A8A"/>
            </a:solidFill>
            <a:prstDash val="solid"/>
          </a:ln>
        </p:spPr>
        <p:txBody>
          <a:bodyPr/>
          <a:lstStyle/>
          <a:p>
            <a:endParaRPr lang="en-US"/>
          </a:p>
        </p:txBody>
      </p:sp>
      <p:sp>
        <p:nvSpPr>
          <p:cNvPr id="12" name="Text 9"/>
          <p:cNvSpPr/>
          <p:nvPr/>
        </p:nvSpPr>
        <p:spPr>
          <a:xfrm>
            <a:off x="1188720" y="4636008"/>
            <a:ext cx="1097280" cy="274320"/>
          </a:xfrm>
          <a:prstGeom prst="rect">
            <a:avLst/>
          </a:prstGeom>
          <a:noFill/>
          <a:ln/>
        </p:spPr>
        <p:txBody>
          <a:bodyPr wrap="square" lIns="0" tIns="0" rIns="0" bIns="0" rtlCol="0" anchor="ctr"/>
          <a:lstStyle/>
          <a:p>
            <a:pPr marL="0" indent="0">
              <a:buNone/>
            </a:pPr>
            <a:r>
              <a:rPr lang="en-US" sz="1300" b="1" dirty="0">
                <a:solidFill>
                  <a:srgbClr val="33291F"/>
                </a:solidFill>
                <a:latin typeface="Courier New" pitchFamily="34" charset="0"/>
                <a:ea typeface="Courier New" pitchFamily="34" charset="-122"/>
                <a:cs typeface="Courier New" pitchFamily="34" charset="-120"/>
              </a:rPr>
              <a:t>main</a:t>
            </a:r>
            <a:endParaRPr lang="en-US" sz="1300" dirty="0"/>
          </a:p>
        </p:txBody>
      </p:sp>
      <p:sp>
        <p:nvSpPr>
          <p:cNvPr id="13" name="Text 10"/>
          <p:cNvSpPr/>
          <p:nvPr/>
        </p:nvSpPr>
        <p:spPr>
          <a:xfrm>
            <a:off x="4754880" y="2560320"/>
            <a:ext cx="1828800" cy="274320"/>
          </a:xfrm>
          <a:prstGeom prst="rect">
            <a:avLst/>
          </a:prstGeom>
          <a:noFill/>
          <a:ln/>
        </p:spPr>
        <p:txBody>
          <a:bodyPr wrap="square" lIns="0" tIns="0" rIns="0" bIns="0" rtlCol="0" anchor="ctr"/>
          <a:lstStyle/>
          <a:p>
            <a:pPr marL="0" indent="0">
              <a:buNone/>
            </a:pPr>
            <a:r>
              <a:rPr lang="en-US" sz="1300" b="1" dirty="0">
                <a:solidFill>
                  <a:srgbClr val="4A6472"/>
                </a:solidFill>
                <a:latin typeface="Courier New" pitchFamily="34" charset="0"/>
                <a:ea typeface="Courier New" pitchFamily="34" charset="-122"/>
                <a:cs typeface="Courier New" pitchFamily="34" charset="-120"/>
              </a:rPr>
              <a:t>night-mode</a:t>
            </a:r>
            <a:endParaRPr lang="en-US" sz="1300" dirty="0"/>
          </a:p>
        </p:txBody>
      </p:sp>
      <p:sp>
        <p:nvSpPr>
          <p:cNvPr id="14" name="Shape 11"/>
          <p:cNvSpPr/>
          <p:nvPr/>
        </p:nvSpPr>
        <p:spPr>
          <a:xfrm>
            <a:off x="1508760" y="4297680"/>
            <a:ext cx="274320" cy="274320"/>
          </a:xfrm>
          <a:prstGeom prst="ellipse">
            <a:avLst/>
          </a:prstGeom>
          <a:solidFill>
            <a:srgbClr val="33291F"/>
          </a:solidFill>
          <a:ln w="25400">
            <a:solidFill>
              <a:srgbClr val="FFFFFF"/>
            </a:solidFill>
            <a:prstDash val="solid"/>
          </a:ln>
        </p:spPr>
        <p:txBody>
          <a:bodyPr/>
          <a:lstStyle/>
          <a:p>
            <a:endParaRPr lang="en-US"/>
          </a:p>
        </p:txBody>
      </p:sp>
      <p:sp>
        <p:nvSpPr>
          <p:cNvPr id="15" name="Shape 12"/>
          <p:cNvSpPr/>
          <p:nvPr/>
        </p:nvSpPr>
        <p:spPr>
          <a:xfrm>
            <a:off x="2606040" y="4297680"/>
            <a:ext cx="274320" cy="274320"/>
          </a:xfrm>
          <a:prstGeom prst="ellipse">
            <a:avLst/>
          </a:prstGeom>
          <a:solidFill>
            <a:srgbClr val="33291F"/>
          </a:solidFill>
          <a:ln w="25400">
            <a:solidFill>
              <a:srgbClr val="FFFFFF"/>
            </a:solidFill>
            <a:prstDash val="solid"/>
          </a:ln>
        </p:spPr>
        <p:txBody>
          <a:bodyPr/>
          <a:lstStyle/>
          <a:p>
            <a:endParaRPr lang="en-US"/>
          </a:p>
        </p:txBody>
      </p:sp>
      <p:sp>
        <p:nvSpPr>
          <p:cNvPr id="16" name="Shape 13"/>
          <p:cNvSpPr/>
          <p:nvPr/>
        </p:nvSpPr>
        <p:spPr>
          <a:xfrm>
            <a:off x="3611880" y="4297680"/>
            <a:ext cx="274320" cy="274320"/>
          </a:xfrm>
          <a:prstGeom prst="ellipse">
            <a:avLst/>
          </a:prstGeom>
          <a:solidFill>
            <a:srgbClr val="33291F"/>
          </a:solidFill>
          <a:ln w="25400">
            <a:solidFill>
              <a:srgbClr val="FFFFFF"/>
            </a:solidFill>
            <a:prstDash val="solid"/>
          </a:ln>
        </p:spPr>
        <p:txBody>
          <a:bodyPr/>
          <a:lstStyle/>
          <a:p>
            <a:endParaRPr lang="en-US"/>
          </a:p>
        </p:txBody>
      </p:sp>
      <p:sp>
        <p:nvSpPr>
          <p:cNvPr id="17" name="Shape 14"/>
          <p:cNvSpPr/>
          <p:nvPr/>
        </p:nvSpPr>
        <p:spPr>
          <a:xfrm>
            <a:off x="5897880" y="4297680"/>
            <a:ext cx="274320" cy="274320"/>
          </a:xfrm>
          <a:prstGeom prst="ellipse">
            <a:avLst/>
          </a:prstGeom>
          <a:solidFill>
            <a:srgbClr val="33291F"/>
          </a:solidFill>
          <a:ln w="25400">
            <a:solidFill>
              <a:srgbClr val="FFFFFF"/>
            </a:solidFill>
            <a:prstDash val="solid"/>
          </a:ln>
        </p:spPr>
        <p:txBody>
          <a:bodyPr/>
          <a:lstStyle/>
          <a:p>
            <a:endParaRPr lang="en-US"/>
          </a:p>
        </p:txBody>
      </p:sp>
      <p:sp>
        <p:nvSpPr>
          <p:cNvPr id="18" name="Shape 15"/>
          <p:cNvSpPr/>
          <p:nvPr/>
        </p:nvSpPr>
        <p:spPr>
          <a:xfrm>
            <a:off x="4983480" y="2926080"/>
            <a:ext cx="274320" cy="274320"/>
          </a:xfrm>
          <a:prstGeom prst="ellipse">
            <a:avLst/>
          </a:prstGeom>
          <a:solidFill>
            <a:srgbClr val="5E7A8A"/>
          </a:solidFill>
          <a:ln w="25400">
            <a:solidFill>
              <a:srgbClr val="FFFFFF"/>
            </a:solidFill>
            <a:prstDash val="solid"/>
          </a:ln>
        </p:spPr>
        <p:txBody>
          <a:bodyPr/>
          <a:lstStyle/>
          <a:p>
            <a:endParaRPr lang="en-US"/>
          </a:p>
        </p:txBody>
      </p:sp>
      <p:sp>
        <p:nvSpPr>
          <p:cNvPr id="19" name="Shape 16"/>
          <p:cNvSpPr/>
          <p:nvPr/>
        </p:nvSpPr>
        <p:spPr>
          <a:xfrm>
            <a:off x="6080760" y="2926080"/>
            <a:ext cx="274320" cy="274320"/>
          </a:xfrm>
          <a:prstGeom prst="ellipse">
            <a:avLst/>
          </a:prstGeom>
          <a:solidFill>
            <a:srgbClr val="5E7A8A"/>
          </a:solidFill>
          <a:ln w="25400">
            <a:solidFill>
              <a:srgbClr val="FFFFFF"/>
            </a:solidFill>
            <a:prstDash val="solid"/>
          </a:ln>
        </p:spPr>
        <p:txBody>
          <a:bodyPr/>
          <a:lstStyle/>
          <a:p>
            <a:endParaRPr lang="en-US"/>
          </a:p>
        </p:txBody>
      </p:sp>
      <p:sp>
        <p:nvSpPr>
          <p:cNvPr id="20" name="Shape 17"/>
          <p:cNvSpPr/>
          <p:nvPr/>
        </p:nvSpPr>
        <p:spPr>
          <a:xfrm>
            <a:off x="7178040" y="2926080"/>
            <a:ext cx="274320" cy="274320"/>
          </a:xfrm>
          <a:prstGeom prst="ellipse">
            <a:avLst/>
          </a:prstGeom>
          <a:solidFill>
            <a:srgbClr val="5E7A8A"/>
          </a:solidFill>
          <a:ln w="25400">
            <a:solidFill>
              <a:srgbClr val="FFFFFF"/>
            </a:solidFill>
            <a:prstDash val="solid"/>
          </a:ln>
        </p:spPr>
        <p:txBody>
          <a:bodyPr/>
          <a:lstStyle/>
          <a:p>
            <a:endParaRPr lang="en-US"/>
          </a:p>
        </p:txBody>
      </p:sp>
      <p:sp>
        <p:nvSpPr>
          <p:cNvPr id="21" name="Shape 18"/>
          <p:cNvSpPr/>
          <p:nvPr/>
        </p:nvSpPr>
        <p:spPr>
          <a:xfrm>
            <a:off x="8513064" y="4261104"/>
            <a:ext cx="347472" cy="347472"/>
          </a:xfrm>
          <a:prstGeom prst="ellipse">
            <a:avLst/>
          </a:prstGeom>
          <a:solidFill>
            <a:srgbClr val="B0552F"/>
          </a:solidFill>
          <a:ln w="25400">
            <a:solidFill>
              <a:srgbClr val="FFFFFF"/>
            </a:solidFill>
            <a:prstDash val="solid"/>
          </a:ln>
        </p:spPr>
        <p:txBody>
          <a:bodyPr/>
          <a:lstStyle/>
          <a:p>
            <a:endParaRPr lang="en-US"/>
          </a:p>
        </p:txBody>
      </p:sp>
      <p:sp>
        <p:nvSpPr>
          <p:cNvPr id="22" name="Text 19"/>
          <p:cNvSpPr/>
          <p:nvPr/>
        </p:nvSpPr>
        <p:spPr>
          <a:xfrm>
            <a:off x="8366760" y="4690872"/>
            <a:ext cx="1005840" cy="274320"/>
          </a:xfrm>
          <a:prstGeom prst="rect">
            <a:avLst/>
          </a:prstGeom>
          <a:noFill/>
          <a:ln/>
        </p:spPr>
        <p:txBody>
          <a:bodyPr wrap="square" lIns="0" tIns="0" rIns="0" bIns="0" rtlCol="0" anchor="ctr"/>
          <a:lstStyle/>
          <a:p>
            <a:pPr marL="0" indent="0" algn="ctr">
              <a:buNone/>
            </a:pPr>
            <a:r>
              <a:rPr lang="en-US" sz="1250" b="1" i="1" dirty="0">
                <a:solidFill>
                  <a:srgbClr val="B0552F"/>
                </a:solidFill>
                <a:latin typeface="Calibri" pitchFamily="34" charset="0"/>
                <a:ea typeface="Calibri" pitchFamily="34" charset="-122"/>
                <a:cs typeface="Calibri" pitchFamily="34" charset="-120"/>
              </a:rPr>
              <a:t>merge!</a:t>
            </a:r>
            <a:endParaRPr lang="en-US" sz="1250" dirty="0"/>
          </a:p>
        </p:txBody>
      </p:sp>
      <p:sp>
        <p:nvSpPr>
          <p:cNvPr id="23" name="Shape 20"/>
          <p:cNvSpPr/>
          <p:nvPr/>
        </p:nvSpPr>
        <p:spPr>
          <a:xfrm>
            <a:off x="10104120" y="4297680"/>
            <a:ext cx="274320" cy="274320"/>
          </a:xfrm>
          <a:prstGeom prst="ellipse">
            <a:avLst/>
          </a:prstGeom>
          <a:solidFill>
            <a:srgbClr val="33291F"/>
          </a:solidFill>
          <a:ln w="25400">
            <a:solidFill>
              <a:srgbClr val="FFFFFF"/>
            </a:solidFill>
            <a:prstDash val="solid"/>
          </a:ln>
        </p:spPr>
        <p:txBody>
          <a:bodyPr/>
          <a:lstStyle/>
          <a:p>
            <a:endParaRPr lang="en-US"/>
          </a:p>
        </p:txBody>
      </p:sp>
      <p:sp>
        <p:nvSpPr>
          <p:cNvPr id="24" name="Text 21"/>
          <p:cNvSpPr/>
          <p:nvPr/>
        </p:nvSpPr>
        <p:spPr>
          <a:xfrm>
            <a:off x="9326880" y="2468880"/>
            <a:ext cx="2103120" cy="274320"/>
          </a:xfrm>
          <a:prstGeom prst="rect">
            <a:avLst/>
          </a:prstGeom>
          <a:noFill/>
          <a:ln/>
        </p:spPr>
        <p:txBody>
          <a:bodyPr wrap="square" lIns="0" tIns="0" rIns="0" bIns="0" rtlCol="0" anchor="ctr"/>
          <a:lstStyle/>
          <a:p>
            <a:pPr marL="0" indent="0" algn="r">
              <a:buNone/>
            </a:pPr>
            <a:r>
              <a:rPr lang="en-US" sz="1150" i="1" dirty="0">
                <a:solidFill>
                  <a:srgbClr val="756A5B"/>
                </a:solidFill>
                <a:latin typeface="Calibri" pitchFamily="34" charset="0"/>
                <a:ea typeface="Calibri" pitchFamily="34" charset="-122"/>
                <a:cs typeface="Calibri" pitchFamily="34" charset="-120"/>
              </a:rPr>
              <a:t>each dot is a commit</a:t>
            </a:r>
            <a:endParaRPr lang="en-US" sz="1150" dirty="0"/>
          </a:p>
        </p:txBody>
      </p:sp>
      <p:sp>
        <p:nvSpPr>
          <p:cNvPr id="25" name="Shape 22"/>
          <p:cNvSpPr/>
          <p:nvPr/>
        </p:nvSpPr>
        <p:spPr>
          <a:xfrm>
            <a:off x="548640" y="5440680"/>
            <a:ext cx="11091672" cy="777240"/>
          </a:xfrm>
          <a:prstGeom prst="roundRect">
            <a:avLst>
              <a:gd name="adj" fmla="val 11765"/>
            </a:avLst>
          </a:prstGeom>
          <a:solidFill>
            <a:srgbClr val="33291F"/>
          </a:solidFill>
          <a:ln/>
        </p:spPr>
        <p:txBody>
          <a:bodyPr/>
          <a:lstStyle/>
          <a:p>
            <a:endParaRPr lang="en-US"/>
          </a:p>
        </p:txBody>
      </p:sp>
      <p:pic>
        <p:nvPicPr>
          <p:cNvPr id="26" name="Image 1" descr="preencoded.png"/>
          <p:cNvPicPr>
            <a:picLocks noChangeAspect="1"/>
          </p:cNvPicPr>
          <p:nvPr/>
        </p:nvPicPr>
        <p:blipFill>
          <a:blip r:embed="rId4"/>
          <a:stretch>
            <a:fillRect/>
          </a:stretch>
        </p:blipFill>
        <p:spPr>
          <a:xfrm>
            <a:off x="841248" y="5655564"/>
            <a:ext cx="347472" cy="347472"/>
          </a:xfrm>
          <a:prstGeom prst="rect">
            <a:avLst/>
          </a:prstGeom>
        </p:spPr>
      </p:pic>
      <p:sp>
        <p:nvSpPr>
          <p:cNvPr id="27" name="Text 23"/>
          <p:cNvSpPr/>
          <p:nvPr/>
        </p:nvSpPr>
        <p:spPr>
          <a:xfrm>
            <a:off x="1371600" y="5440680"/>
            <a:ext cx="9994392" cy="777240"/>
          </a:xfrm>
          <a:prstGeom prst="rect">
            <a:avLst/>
          </a:prstGeom>
          <a:noFill/>
          <a:ln/>
        </p:spPr>
        <p:txBody>
          <a:bodyPr wrap="square" lIns="0" tIns="0" rIns="0" bIns="0" rtlCol="0" anchor="ctr"/>
          <a:lstStyle/>
          <a:p>
            <a:pPr marL="0" indent="0">
              <a:lnSpc>
                <a:spcPct val="105000"/>
              </a:lnSpc>
              <a:buNone/>
            </a:pPr>
            <a:r>
              <a:rPr lang="en-US" sz="1400" b="1" dirty="0">
                <a:solidFill>
                  <a:srgbClr val="FFFFFF"/>
                </a:solidFill>
                <a:latin typeface="Calibri" pitchFamily="34" charset="0"/>
                <a:ea typeface="Calibri" pitchFamily="34" charset="-122"/>
                <a:cs typeface="Calibri" pitchFamily="34" charset="-120"/>
              </a:rPr>
              <a:t>While night-mode is being tinkered with, main keeps working perfectly. Nobody's experiment can break the class project.</a:t>
            </a:r>
            <a:endParaRPr lang="en-US" sz="1400" dirty="0"/>
          </a:p>
        </p:txBody>
      </p:sp>
      <p:pic>
        <p:nvPicPr>
          <p:cNvPr id="28" name="Image 2" descr="/home/claude/assets/cije_mark.png">
            <a:extLst>
              <a:ext uri="{FF2B5EF4-FFF2-40B4-BE49-F238E27FC236}">
                <a16:creationId xmlns:a16="http://schemas.microsoft.com/office/drawing/2014/main" id="{571BCA18-704E-D8E4-E9CF-C52BA6DE49E6}"/>
              </a:ext>
            </a:extLst>
          </p:cNvPr>
          <p:cNvPicPr>
            <a:picLocks noChangeAspect="1"/>
          </p:cNvPicPr>
          <p:nvPr/>
        </p:nvPicPr>
        <p:blipFill>
          <a:blip r:embed="rId5">
            <a:alphaModFix amt="75000"/>
          </a:blip>
          <a:stretch>
            <a:fillRect/>
          </a:stretch>
        </p:blipFill>
        <p:spPr>
          <a:xfrm>
            <a:off x="11448288" y="6419088"/>
            <a:ext cx="512064" cy="3456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4A6472"/>
                </a:solidFill>
                <a:latin typeface="Calibri" pitchFamily="34" charset="0"/>
                <a:ea typeface="Calibri" pitchFamily="34" charset="-122"/>
                <a:cs typeface="Calibri" pitchFamily="34" charset="-120"/>
              </a:rPr>
              <a:t>FIELD GUIDE, ENTRY FOUR</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pull request: a conversation before the merge</a:t>
            </a:r>
            <a:endParaRPr lang="en-US" sz="3000" dirty="0"/>
          </a:p>
        </p:txBody>
      </p:sp>
      <p:sp>
        <p:nvSpPr>
          <p:cNvPr id="4" name="Shape 2"/>
          <p:cNvSpPr/>
          <p:nvPr/>
        </p:nvSpPr>
        <p:spPr>
          <a:xfrm>
            <a:off x="10698480" y="475488"/>
            <a:ext cx="868680" cy="868680"/>
          </a:xfrm>
          <a:prstGeom prst="ellipse">
            <a:avLst/>
          </a:prstGeom>
          <a:solidFill>
            <a:srgbClr val="5E7A8A"/>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15650" y="692658"/>
            <a:ext cx="434340" cy="434340"/>
          </a:xfrm>
          <a:prstGeom prst="rect">
            <a:avLst/>
          </a:prstGeom>
        </p:spPr>
      </p:pic>
      <p:sp>
        <p:nvSpPr>
          <p:cNvPr id="6" name="Text 3"/>
          <p:cNvSpPr/>
          <p:nvPr/>
        </p:nvSpPr>
        <p:spPr>
          <a:xfrm>
            <a:off x="548640" y="1481328"/>
            <a:ext cx="10789920" cy="731520"/>
          </a:xfrm>
          <a:prstGeom prst="rect">
            <a:avLst/>
          </a:prstGeom>
          <a:noFill/>
          <a:ln/>
        </p:spPr>
        <p:txBody>
          <a:bodyPr wrap="square" lIns="0" tIns="0" rIns="0" bIns="0" rtlCol="0" anchor="ctr"/>
          <a:lstStyle/>
          <a:p>
            <a:pPr marL="0" indent="0">
              <a:lnSpc>
                <a:spcPct val="108000"/>
              </a:lnSpc>
              <a:buNone/>
            </a:pPr>
            <a:r>
              <a:rPr lang="en-US" sz="1450" dirty="0">
                <a:solidFill>
                  <a:srgbClr val="4A3C2C"/>
                </a:solidFill>
                <a:latin typeface="Calibri" pitchFamily="34" charset="0"/>
                <a:ea typeface="Calibri" pitchFamily="34" charset="-122"/>
                <a:cs typeface="Calibri" pitchFamily="34" charset="-120"/>
              </a:rPr>
              <a:t>Merging folds a branch's changes back into the main project. On GitHub, teams rarely merge silently. They open a pull request: "Here is my work. Please look before it joins the trunk."</a:t>
            </a:r>
            <a:endParaRPr lang="en-US" sz="1450" dirty="0"/>
          </a:p>
        </p:txBody>
      </p:sp>
      <p:sp>
        <p:nvSpPr>
          <p:cNvPr id="7" name="Shape 4"/>
          <p:cNvSpPr/>
          <p:nvPr/>
        </p:nvSpPr>
        <p:spPr>
          <a:xfrm>
            <a:off x="548640" y="2468880"/>
            <a:ext cx="2642616" cy="2377440"/>
          </a:xfrm>
          <a:prstGeom prst="roundRect">
            <a:avLst>
              <a:gd name="adj" fmla="val 4615"/>
            </a:avLst>
          </a:prstGeom>
          <a:solidFill>
            <a:srgbClr val="EAF0F2"/>
          </a:solidFill>
          <a:ln w="12700">
            <a:solidFill>
              <a:srgbClr val="DDD3BF"/>
            </a:solidFill>
            <a:prstDash val="solid"/>
          </a:ln>
        </p:spPr>
        <p:txBody>
          <a:bodyPr/>
          <a:lstStyle/>
          <a:p>
            <a:endParaRPr lang="en-US"/>
          </a:p>
        </p:txBody>
      </p:sp>
      <p:sp>
        <p:nvSpPr>
          <p:cNvPr id="8" name="Shape 5"/>
          <p:cNvSpPr/>
          <p:nvPr/>
        </p:nvSpPr>
        <p:spPr>
          <a:xfrm>
            <a:off x="1504188" y="2697480"/>
            <a:ext cx="731520" cy="731520"/>
          </a:xfrm>
          <a:prstGeom prst="ellipse">
            <a:avLst/>
          </a:prstGeom>
          <a:solidFill>
            <a:srgbClr val="4A6472"/>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1687068" y="2880360"/>
            <a:ext cx="365760" cy="365760"/>
          </a:xfrm>
          <a:prstGeom prst="rect">
            <a:avLst/>
          </a:prstGeom>
        </p:spPr>
      </p:pic>
      <p:sp>
        <p:nvSpPr>
          <p:cNvPr id="10" name="Text 6"/>
          <p:cNvSpPr/>
          <p:nvPr/>
        </p:nvSpPr>
        <p:spPr>
          <a:xfrm>
            <a:off x="685800" y="3584448"/>
            <a:ext cx="2368296" cy="329184"/>
          </a:xfrm>
          <a:prstGeom prst="rect">
            <a:avLst/>
          </a:prstGeom>
          <a:noFill/>
          <a:ln/>
        </p:spPr>
        <p:txBody>
          <a:bodyPr wrap="square" lIns="0" tIns="0" rIns="0" bIns="0" rtlCol="0" anchor="ctr"/>
          <a:lstStyle/>
          <a:p>
            <a:pPr marL="0" indent="0" algn="ctr">
              <a:buNone/>
            </a:pPr>
            <a:r>
              <a:rPr lang="en-US" sz="1500" b="1" dirty="0">
                <a:solidFill>
                  <a:srgbClr val="B0552F"/>
                </a:solidFill>
                <a:latin typeface="Cambria" pitchFamily="34" charset="0"/>
                <a:ea typeface="Cambria" pitchFamily="34" charset="-122"/>
                <a:cs typeface="Cambria" pitchFamily="34" charset="-120"/>
              </a:rPr>
              <a:t>1. Propose</a:t>
            </a:r>
            <a:endParaRPr lang="en-US" sz="1500" dirty="0"/>
          </a:p>
        </p:txBody>
      </p:sp>
      <p:sp>
        <p:nvSpPr>
          <p:cNvPr id="11" name="Text 7"/>
          <p:cNvSpPr/>
          <p:nvPr/>
        </p:nvSpPr>
        <p:spPr>
          <a:xfrm>
            <a:off x="777240" y="3931920"/>
            <a:ext cx="2185416" cy="868680"/>
          </a:xfrm>
          <a:prstGeom prst="rect">
            <a:avLst/>
          </a:prstGeom>
          <a:noFill/>
          <a:ln/>
        </p:spPr>
        <p:txBody>
          <a:bodyPr wrap="square" lIns="0" tIns="0" rIns="0" bIns="0" rtlCol="0" anchor="ctr"/>
          <a:lstStyle/>
          <a:p>
            <a:pPr marL="0" indent="0" algn="ctr">
              <a:lnSpc>
                <a:spcPct val="105000"/>
              </a:lnSpc>
              <a:buNone/>
            </a:pPr>
            <a:r>
              <a:rPr lang="en-US" sz="1150" dirty="0">
                <a:solidFill>
                  <a:srgbClr val="4A3C2C"/>
                </a:solidFill>
                <a:latin typeface="Calibri" pitchFamily="34" charset="0"/>
                <a:ea typeface="Calibri" pitchFamily="34" charset="-122"/>
                <a:cs typeface="Calibri" pitchFamily="34" charset="-120"/>
              </a:rPr>
              <a:t>Push your branch and open a PR describing what changed and why.</a:t>
            </a:r>
            <a:endParaRPr lang="en-US" sz="1150" dirty="0"/>
          </a:p>
        </p:txBody>
      </p:sp>
      <p:sp>
        <p:nvSpPr>
          <p:cNvPr id="12" name="Shape 8"/>
          <p:cNvSpPr/>
          <p:nvPr/>
        </p:nvSpPr>
        <p:spPr>
          <a:xfrm>
            <a:off x="3364992" y="2468880"/>
            <a:ext cx="2642616" cy="2377440"/>
          </a:xfrm>
          <a:prstGeom prst="roundRect">
            <a:avLst>
              <a:gd name="adj" fmla="val 4615"/>
            </a:avLst>
          </a:prstGeom>
          <a:solidFill>
            <a:srgbClr val="EAF0F2"/>
          </a:solidFill>
          <a:ln w="12700">
            <a:solidFill>
              <a:srgbClr val="DDD3BF"/>
            </a:solidFill>
            <a:prstDash val="solid"/>
          </a:ln>
        </p:spPr>
        <p:txBody>
          <a:bodyPr/>
          <a:lstStyle/>
          <a:p>
            <a:endParaRPr lang="en-US"/>
          </a:p>
        </p:txBody>
      </p:sp>
      <p:sp>
        <p:nvSpPr>
          <p:cNvPr id="13" name="Shape 9"/>
          <p:cNvSpPr/>
          <p:nvPr/>
        </p:nvSpPr>
        <p:spPr>
          <a:xfrm>
            <a:off x="4320540" y="2697480"/>
            <a:ext cx="731520" cy="731520"/>
          </a:xfrm>
          <a:prstGeom prst="ellipse">
            <a:avLst/>
          </a:prstGeom>
          <a:solidFill>
            <a:srgbClr val="4A6472"/>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4503420" y="2880360"/>
            <a:ext cx="365760" cy="365760"/>
          </a:xfrm>
          <a:prstGeom prst="rect">
            <a:avLst/>
          </a:prstGeom>
        </p:spPr>
      </p:pic>
      <p:sp>
        <p:nvSpPr>
          <p:cNvPr id="15" name="Text 10"/>
          <p:cNvSpPr/>
          <p:nvPr/>
        </p:nvSpPr>
        <p:spPr>
          <a:xfrm>
            <a:off x="3502152" y="3584448"/>
            <a:ext cx="2368296" cy="329184"/>
          </a:xfrm>
          <a:prstGeom prst="rect">
            <a:avLst/>
          </a:prstGeom>
          <a:noFill/>
          <a:ln/>
        </p:spPr>
        <p:txBody>
          <a:bodyPr wrap="square" lIns="0" tIns="0" rIns="0" bIns="0" rtlCol="0" anchor="ctr"/>
          <a:lstStyle/>
          <a:p>
            <a:pPr marL="0" indent="0" algn="ctr">
              <a:buNone/>
            </a:pPr>
            <a:r>
              <a:rPr lang="en-US" sz="1500" b="1" dirty="0">
                <a:solidFill>
                  <a:srgbClr val="B0552F"/>
                </a:solidFill>
                <a:latin typeface="Cambria" pitchFamily="34" charset="0"/>
                <a:ea typeface="Cambria" pitchFamily="34" charset="-122"/>
                <a:cs typeface="Cambria" pitchFamily="34" charset="-120"/>
              </a:rPr>
              <a:t>2. Review</a:t>
            </a:r>
            <a:endParaRPr lang="en-US" sz="1500" dirty="0"/>
          </a:p>
        </p:txBody>
      </p:sp>
      <p:sp>
        <p:nvSpPr>
          <p:cNvPr id="16" name="Text 11"/>
          <p:cNvSpPr/>
          <p:nvPr/>
        </p:nvSpPr>
        <p:spPr>
          <a:xfrm>
            <a:off x="3593592" y="3931920"/>
            <a:ext cx="2185416" cy="868680"/>
          </a:xfrm>
          <a:prstGeom prst="rect">
            <a:avLst/>
          </a:prstGeom>
          <a:noFill/>
          <a:ln/>
        </p:spPr>
        <p:txBody>
          <a:bodyPr wrap="square" lIns="0" tIns="0" rIns="0" bIns="0" rtlCol="0" anchor="ctr"/>
          <a:lstStyle/>
          <a:p>
            <a:pPr marL="0" indent="0" algn="ctr">
              <a:lnSpc>
                <a:spcPct val="105000"/>
              </a:lnSpc>
              <a:buNone/>
            </a:pPr>
            <a:r>
              <a:rPr lang="en-US" sz="1150" dirty="0">
                <a:solidFill>
                  <a:srgbClr val="4A3C2C"/>
                </a:solidFill>
                <a:latin typeface="Calibri" pitchFamily="34" charset="0"/>
                <a:ea typeface="Calibri" pitchFamily="34" charset="-122"/>
                <a:cs typeface="Calibri" pitchFamily="34" charset="-120"/>
              </a:rPr>
              <a:t>Teammates read the exact lines you changed, side by side with the old ones.</a:t>
            </a:r>
            <a:endParaRPr lang="en-US" sz="1150" dirty="0"/>
          </a:p>
        </p:txBody>
      </p:sp>
      <p:sp>
        <p:nvSpPr>
          <p:cNvPr id="17" name="Shape 12"/>
          <p:cNvSpPr/>
          <p:nvPr/>
        </p:nvSpPr>
        <p:spPr>
          <a:xfrm>
            <a:off x="6181344" y="2468880"/>
            <a:ext cx="2642616" cy="2377440"/>
          </a:xfrm>
          <a:prstGeom prst="roundRect">
            <a:avLst>
              <a:gd name="adj" fmla="val 4615"/>
            </a:avLst>
          </a:prstGeom>
          <a:solidFill>
            <a:srgbClr val="EAF0F2"/>
          </a:solidFill>
          <a:ln w="12700">
            <a:solidFill>
              <a:srgbClr val="DDD3BF"/>
            </a:solidFill>
            <a:prstDash val="solid"/>
          </a:ln>
        </p:spPr>
        <p:txBody>
          <a:bodyPr/>
          <a:lstStyle/>
          <a:p>
            <a:endParaRPr lang="en-US"/>
          </a:p>
        </p:txBody>
      </p:sp>
      <p:sp>
        <p:nvSpPr>
          <p:cNvPr id="18" name="Shape 13"/>
          <p:cNvSpPr/>
          <p:nvPr/>
        </p:nvSpPr>
        <p:spPr>
          <a:xfrm>
            <a:off x="7136892" y="2697480"/>
            <a:ext cx="731520" cy="731520"/>
          </a:xfrm>
          <a:prstGeom prst="ellipse">
            <a:avLst/>
          </a:prstGeom>
          <a:solidFill>
            <a:srgbClr val="4A6472"/>
          </a:solidFill>
          <a:ln/>
        </p:spPr>
        <p:txBody>
          <a:bodyPr/>
          <a:lstStyle/>
          <a:p>
            <a:endParaRPr lang="en-US"/>
          </a:p>
        </p:txBody>
      </p:sp>
      <p:pic>
        <p:nvPicPr>
          <p:cNvPr id="19" name="Image 3" descr="preencoded.png"/>
          <p:cNvPicPr>
            <a:picLocks noChangeAspect="1"/>
          </p:cNvPicPr>
          <p:nvPr/>
        </p:nvPicPr>
        <p:blipFill>
          <a:blip r:embed="rId3"/>
          <a:stretch>
            <a:fillRect/>
          </a:stretch>
        </p:blipFill>
        <p:spPr>
          <a:xfrm>
            <a:off x="7319772" y="2880360"/>
            <a:ext cx="365760" cy="365760"/>
          </a:xfrm>
          <a:prstGeom prst="rect">
            <a:avLst/>
          </a:prstGeom>
        </p:spPr>
      </p:pic>
      <p:sp>
        <p:nvSpPr>
          <p:cNvPr id="20" name="Text 14"/>
          <p:cNvSpPr/>
          <p:nvPr/>
        </p:nvSpPr>
        <p:spPr>
          <a:xfrm>
            <a:off x="6318504" y="3584448"/>
            <a:ext cx="2368296" cy="329184"/>
          </a:xfrm>
          <a:prstGeom prst="rect">
            <a:avLst/>
          </a:prstGeom>
          <a:noFill/>
          <a:ln/>
        </p:spPr>
        <p:txBody>
          <a:bodyPr wrap="square" lIns="0" tIns="0" rIns="0" bIns="0" rtlCol="0" anchor="ctr"/>
          <a:lstStyle/>
          <a:p>
            <a:pPr marL="0" indent="0" algn="ctr">
              <a:buNone/>
            </a:pPr>
            <a:r>
              <a:rPr lang="en-US" sz="1500" b="1" dirty="0">
                <a:solidFill>
                  <a:srgbClr val="B0552F"/>
                </a:solidFill>
                <a:latin typeface="Cambria" pitchFamily="34" charset="0"/>
                <a:ea typeface="Cambria" pitchFamily="34" charset="-122"/>
                <a:cs typeface="Cambria" pitchFamily="34" charset="-120"/>
              </a:rPr>
              <a:t>3. Discuss</a:t>
            </a:r>
            <a:endParaRPr lang="en-US" sz="1500" dirty="0"/>
          </a:p>
        </p:txBody>
      </p:sp>
      <p:sp>
        <p:nvSpPr>
          <p:cNvPr id="21" name="Text 15"/>
          <p:cNvSpPr/>
          <p:nvPr/>
        </p:nvSpPr>
        <p:spPr>
          <a:xfrm>
            <a:off x="6409944" y="3931920"/>
            <a:ext cx="2185416" cy="868680"/>
          </a:xfrm>
          <a:prstGeom prst="rect">
            <a:avLst/>
          </a:prstGeom>
          <a:noFill/>
          <a:ln/>
        </p:spPr>
        <p:txBody>
          <a:bodyPr wrap="square" lIns="0" tIns="0" rIns="0" bIns="0" rtlCol="0" anchor="ctr"/>
          <a:lstStyle/>
          <a:p>
            <a:pPr marL="0" indent="0" algn="ctr">
              <a:lnSpc>
                <a:spcPct val="105000"/>
              </a:lnSpc>
              <a:buNone/>
            </a:pPr>
            <a:r>
              <a:rPr lang="en-US" sz="1150" dirty="0">
                <a:solidFill>
                  <a:srgbClr val="4A3C2C"/>
                </a:solidFill>
                <a:latin typeface="Calibri" pitchFamily="34" charset="0"/>
                <a:ea typeface="Calibri" pitchFamily="34" charset="-122"/>
                <a:cs typeface="Calibri" pitchFamily="34" charset="-120"/>
              </a:rPr>
              <a:t>Comments, questions, requested fixes. The code gets better in public.</a:t>
            </a:r>
            <a:endParaRPr lang="en-US" sz="1150" dirty="0"/>
          </a:p>
        </p:txBody>
      </p:sp>
      <p:sp>
        <p:nvSpPr>
          <p:cNvPr id="22" name="Shape 16"/>
          <p:cNvSpPr/>
          <p:nvPr/>
        </p:nvSpPr>
        <p:spPr>
          <a:xfrm>
            <a:off x="8997696" y="2468880"/>
            <a:ext cx="2642616" cy="2377440"/>
          </a:xfrm>
          <a:prstGeom prst="roundRect">
            <a:avLst>
              <a:gd name="adj" fmla="val 4615"/>
            </a:avLst>
          </a:prstGeom>
          <a:solidFill>
            <a:srgbClr val="EAF0F2"/>
          </a:solidFill>
          <a:ln w="12700">
            <a:solidFill>
              <a:srgbClr val="DDD3BF"/>
            </a:solidFill>
            <a:prstDash val="solid"/>
          </a:ln>
        </p:spPr>
        <p:txBody>
          <a:bodyPr/>
          <a:lstStyle/>
          <a:p>
            <a:endParaRPr lang="en-US"/>
          </a:p>
        </p:txBody>
      </p:sp>
      <p:sp>
        <p:nvSpPr>
          <p:cNvPr id="23" name="Shape 17"/>
          <p:cNvSpPr/>
          <p:nvPr/>
        </p:nvSpPr>
        <p:spPr>
          <a:xfrm>
            <a:off x="9953244" y="2697480"/>
            <a:ext cx="731520" cy="731520"/>
          </a:xfrm>
          <a:prstGeom prst="ellipse">
            <a:avLst/>
          </a:prstGeom>
          <a:solidFill>
            <a:srgbClr val="4A6472"/>
          </a:solidFill>
          <a:ln/>
        </p:spPr>
        <p:txBody>
          <a:bodyPr/>
          <a:lstStyle/>
          <a:p>
            <a:endParaRPr lang="en-US"/>
          </a:p>
        </p:txBody>
      </p:sp>
      <p:pic>
        <p:nvPicPr>
          <p:cNvPr id="24" name="Image 4" descr="preencoded.png"/>
          <p:cNvPicPr>
            <a:picLocks noChangeAspect="1"/>
          </p:cNvPicPr>
          <p:nvPr/>
        </p:nvPicPr>
        <p:blipFill>
          <a:blip r:embed="rId6"/>
          <a:stretch>
            <a:fillRect/>
          </a:stretch>
        </p:blipFill>
        <p:spPr>
          <a:xfrm>
            <a:off x="10136124" y="2880360"/>
            <a:ext cx="365760" cy="365760"/>
          </a:xfrm>
          <a:prstGeom prst="rect">
            <a:avLst/>
          </a:prstGeom>
        </p:spPr>
      </p:pic>
      <p:sp>
        <p:nvSpPr>
          <p:cNvPr id="25" name="Text 18"/>
          <p:cNvSpPr/>
          <p:nvPr/>
        </p:nvSpPr>
        <p:spPr>
          <a:xfrm>
            <a:off x="9134856" y="3584448"/>
            <a:ext cx="2368296" cy="329184"/>
          </a:xfrm>
          <a:prstGeom prst="rect">
            <a:avLst/>
          </a:prstGeom>
          <a:noFill/>
          <a:ln/>
        </p:spPr>
        <p:txBody>
          <a:bodyPr wrap="square" lIns="0" tIns="0" rIns="0" bIns="0" rtlCol="0" anchor="ctr"/>
          <a:lstStyle/>
          <a:p>
            <a:pPr marL="0" indent="0" algn="ctr">
              <a:buNone/>
            </a:pPr>
            <a:r>
              <a:rPr lang="en-US" sz="1500" b="1" dirty="0">
                <a:solidFill>
                  <a:srgbClr val="B0552F"/>
                </a:solidFill>
                <a:latin typeface="Cambria" pitchFamily="34" charset="0"/>
                <a:ea typeface="Cambria" pitchFamily="34" charset="-122"/>
                <a:cs typeface="Cambria" pitchFamily="34" charset="-120"/>
              </a:rPr>
              <a:t>4. Merge</a:t>
            </a:r>
            <a:endParaRPr lang="en-US" sz="1500" dirty="0"/>
          </a:p>
        </p:txBody>
      </p:sp>
      <p:sp>
        <p:nvSpPr>
          <p:cNvPr id="26" name="Text 19"/>
          <p:cNvSpPr/>
          <p:nvPr/>
        </p:nvSpPr>
        <p:spPr>
          <a:xfrm>
            <a:off x="9226296" y="3931920"/>
            <a:ext cx="2185416" cy="868680"/>
          </a:xfrm>
          <a:prstGeom prst="rect">
            <a:avLst/>
          </a:prstGeom>
          <a:noFill/>
          <a:ln/>
        </p:spPr>
        <p:txBody>
          <a:bodyPr wrap="square" lIns="0" tIns="0" rIns="0" bIns="0" rtlCol="0" anchor="ctr"/>
          <a:lstStyle/>
          <a:p>
            <a:pPr marL="0" indent="0" algn="ctr">
              <a:lnSpc>
                <a:spcPct val="105000"/>
              </a:lnSpc>
              <a:buNone/>
            </a:pPr>
            <a:r>
              <a:rPr lang="en-US" sz="1150" dirty="0">
                <a:solidFill>
                  <a:srgbClr val="4A3C2C"/>
                </a:solidFill>
                <a:latin typeface="Calibri" pitchFamily="34" charset="0"/>
                <a:ea typeface="Calibri" pitchFamily="34" charset="-122"/>
                <a:cs typeface="Calibri" pitchFamily="34" charset="-120"/>
              </a:rPr>
              <a:t>Approved? One click folds it into main, credited to you forever.</a:t>
            </a:r>
            <a:endParaRPr lang="en-US" sz="1150" dirty="0"/>
          </a:p>
        </p:txBody>
      </p:sp>
      <p:sp>
        <p:nvSpPr>
          <p:cNvPr id="27" name="Shape 20"/>
          <p:cNvSpPr/>
          <p:nvPr/>
        </p:nvSpPr>
        <p:spPr>
          <a:xfrm>
            <a:off x="548640" y="5257800"/>
            <a:ext cx="11091672" cy="777240"/>
          </a:xfrm>
          <a:prstGeom prst="roundRect">
            <a:avLst>
              <a:gd name="adj" fmla="val 11765"/>
            </a:avLst>
          </a:prstGeom>
          <a:solidFill>
            <a:srgbClr val="33291F"/>
          </a:solidFill>
          <a:ln/>
        </p:spPr>
        <p:txBody>
          <a:bodyPr/>
          <a:lstStyle/>
          <a:p>
            <a:endParaRPr lang="en-US"/>
          </a:p>
        </p:txBody>
      </p:sp>
      <p:pic>
        <p:nvPicPr>
          <p:cNvPr id="28" name="Image 5" descr="preencoded.png"/>
          <p:cNvPicPr>
            <a:picLocks noChangeAspect="1"/>
          </p:cNvPicPr>
          <p:nvPr/>
        </p:nvPicPr>
        <p:blipFill>
          <a:blip r:embed="rId7"/>
          <a:stretch>
            <a:fillRect/>
          </a:stretch>
        </p:blipFill>
        <p:spPr>
          <a:xfrm>
            <a:off x="841248" y="5472684"/>
            <a:ext cx="347472" cy="347472"/>
          </a:xfrm>
          <a:prstGeom prst="rect">
            <a:avLst/>
          </a:prstGeom>
        </p:spPr>
      </p:pic>
      <p:sp>
        <p:nvSpPr>
          <p:cNvPr id="29" name="Text 21"/>
          <p:cNvSpPr/>
          <p:nvPr/>
        </p:nvSpPr>
        <p:spPr>
          <a:xfrm>
            <a:off x="1371600" y="5257800"/>
            <a:ext cx="9994392"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The pull request is GitHub's greatest cultural invention: code review became a normal, respectful, everyday habit.</a:t>
            </a:r>
            <a:endParaRPr lang="en-US" sz="1500" dirty="0"/>
          </a:p>
        </p:txBody>
      </p:sp>
      <p:pic>
        <p:nvPicPr>
          <p:cNvPr id="30" name="Image 2" descr="/home/claude/assets/cije_mark.png">
            <a:extLst>
              <a:ext uri="{FF2B5EF4-FFF2-40B4-BE49-F238E27FC236}">
                <a16:creationId xmlns:a16="http://schemas.microsoft.com/office/drawing/2014/main" id="{F94CA374-97EB-E497-8DE8-8073B09E7111}"/>
              </a:ext>
            </a:extLst>
          </p:cNvPr>
          <p:cNvPicPr>
            <a:picLocks noChangeAspect="1"/>
          </p:cNvPicPr>
          <p:nvPr/>
        </p:nvPicPr>
        <p:blipFill>
          <a:blip r:embed="rId8">
            <a:alphaModFix amt="75000"/>
          </a:blip>
          <a:stretch>
            <a:fillRect/>
          </a:stretch>
        </p:blipFill>
        <p:spPr>
          <a:xfrm>
            <a:off x="11448288" y="6419088"/>
            <a:ext cx="512064" cy="3456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4A6472"/>
                </a:solidFill>
                <a:latin typeface="Calibri" pitchFamily="34" charset="0"/>
                <a:ea typeface="Calibri" pitchFamily="34" charset="-122"/>
                <a:cs typeface="Calibri" pitchFamily="34" charset="-120"/>
              </a:rPr>
              <a:t>FIELD GUIDE, ENTRY FIVE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fork: your own copy of someone else's dream</a:t>
            </a:r>
            <a:endParaRPr lang="en-US" sz="3000" dirty="0"/>
          </a:p>
        </p:txBody>
      </p:sp>
      <p:sp>
        <p:nvSpPr>
          <p:cNvPr id="4" name="Shape 2"/>
          <p:cNvSpPr/>
          <p:nvPr/>
        </p:nvSpPr>
        <p:spPr>
          <a:xfrm>
            <a:off x="10698480" y="475488"/>
            <a:ext cx="868680" cy="868680"/>
          </a:xfrm>
          <a:prstGeom prst="ellipse">
            <a:avLst/>
          </a:prstGeom>
          <a:solidFill>
            <a:srgbClr val="B0552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15650" y="692658"/>
            <a:ext cx="434340" cy="434340"/>
          </a:xfrm>
          <a:prstGeom prst="rect">
            <a:avLst/>
          </a:prstGeom>
        </p:spPr>
      </p:pic>
      <p:sp>
        <p:nvSpPr>
          <p:cNvPr id="6" name="Text 3"/>
          <p:cNvSpPr/>
          <p:nvPr/>
        </p:nvSpPr>
        <p:spPr>
          <a:xfrm>
            <a:off x="548640" y="1481328"/>
            <a:ext cx="10789920" cy="731520"/>
          </a:xfrm>
          <a:prstGeom prst="rect">
            <a:avLst/>
          </a:prstGeom>
          <a:noFill/>
          <a:ln/>
        </p:spPr>
        <p:txBody>
          <a:bodyPr wrap="square" lIns="0" tIns="0" rIns="0" bIns="0" rtlCol="0" anchor="ctr"/>
          <a:lstStyle/>
          <a:p>
            <a:pPr marL="0" indent="0">
              <a:lnSpc>
                <a:spcPct val="108000"/>
              </a:lnSpc>
              <a:buNone/>
            </a:pPr>
            <a:r>
              <a:rPr lang="en-US" sz="1450" dirty="0">
                <a:solidFill>
                  <a:srgbClr val="4A3C2C"/>
                </a:solidFill>
                <a:latin typeface="Calibri" pitchFamily="34" charset="0"/>
                <a:ea typeface="Calibri" pitchFamily="34" charset="-122"/>
                <a:cs typeface="Calibri" pitchFamily="34" charset="-120"/>
              </a:rPr>
              <a:t>A fork copies an entire repository into your own account. Now it is yours to reshape, no permission needed, while the original continues untouched. Forks are how ideas travel between strangers.</a:t>
            </a:r>
            <a:endParaRPr lang="en-US" sz="1450" dirty="0"/>
          </a:p>
        </p:txBody>
      </p:sp>
      <p:sp>
        <p:nvSpPr>
          <p:cNvPr id="7" name="Shape 4"/>
          <p:cNvSpPr/>
          <p:nvPr/>
        </p:nvSpPr>
        <p:spPr>
          <a:xfrm>
            <a:off x="548640" y="2423160"/>
            <a:ext cx="2468880" cy="530352"/>
          </a:xfrm>
          <a:prstGeom prst="rect">
            <a:avLst/>
          </a:prstGeom>
          <a:solidFill>
            <a:srgbClr val="33291F"/>
          </a:solidFill>
          <a:ln w="9525">
            <a:solidFill>
              <a:srgbClr val="DDD3BF"/>
            </a:solidFill>
            <a:prstDash val="solid"/>
          </a:ln>
        </p:spPr>
        <p:txBody>
          <a:bodyPr/>
          <a:lstStyle/>
          <a:p>
            <a:endParaRPr lang="en-US"/>
          </a:p>
        </p:txBody>
      </p:sp>
      <p:sp>
        <p:nvSpPr>
          <p:cNvPr id="8" name="Text 5"/>
          <p:cNvSpPr/>
          <p:nvPr/>
        </p:nvSpPr>
        <p:spPr>
          <a:xfrm>
            <a:off x="713232" y="2423160"/>
            <a:ext cx="2194560" cy="530352"/>
          </a:xfrm>
          <a:prstGeom prst="rect">
            <a:avLst/>
          </a:prstGeom>
          <a:noFill/>
          <a:ln/>
        </p:spPr>
        <p:txBody>
          <a:bodyPr wrap="square" lIns="0" tIns="0" rIns="0" bIns="0" rtlCol="0" anchor="ctr"/>
          <a:lstStyle/>
          <a:p>
            <a:pPr marL="0" indent="0">
              <a:buNone/>
            </a:pPr>
            <a:endParaRPr lang="en-US" sz="1400" dirty="0"/>
          </a:p>
        </p:txBody>
      </p:sp>
      <p:sp>
        <p:nvSpPr>
          <p:cNvPr id="9" name="Shape 6"/>
          <p:cNvSpPr/>
          <p:nvPr/>
        </p:nvSpPr>
        <p:spPr>
          <a:xfrm>
            <a:off x="3017520" y="2423160"/>
            <a:ext cx="4023360" cy="530352"/>
          </a:xfrm>
          <a:prstGeom prst="rect">
            <a:avLst/>
          </a:prstGeom>
          <a:solidFill>
            <a:srgbClr val="33291F"/>
          </a:solidFill>
          <a:ln w="9525">
            <a:solidFill>
              <a:srgbClr val="DDD3BF"/>
            </a:solidFill>
            <a:prstDash val="solid"/>
          </a:ln>
        </p:spPr>
        <p:txBody>
          <a:bodyPr/>
          <a:lstStyle/>
          <a:p>
            <a:endParaRPr lang="en-US"/>
          </a:p>
        </p:txBody>
      </p:sp>
      <p:sp>
        <p:nvSpPr>
          <p:cNvPr id="10" name="Text 7"/>
          <p:cNvSpPr/>
          <p:nvPr/>
        </p:nvSpPr>
        <p:spPr>
          <a:xfrm>
            <a:off x="3182112" y="2423160"/>
            <a:ext cx="3749040" cy="530352"/>
          </a:xfrm>
          <a:prstGeom prst="rect">
            <a:avLst/>
          </a:prstGeom>
          <a:noFill/>
          <a:ln/>
        </p:spPr>
        <p:txBody>
          <a:bodyPr wrap="square" lIns="0" tIns="0" rIns="0" bIns="0" rtlCol="0" anchor="ctr"/>
          <a:lstStyle/>
          <a:p>
            <a:pPr marL="0" indent="0">
              <a:buNone/>
            </a:pPr>
            <a:r>
              <a:rPr lang="en-US" sz="1400" b="1" dirty="0">
                <a:solidFill>
                  <a:srgbClr val="F3EEE3"/>
                </a:solidFill>
                <a:latin typeface="Cambria" pitchFamily="34" charset="0"/>
                <a:ea typeface="Cambria" pitchFamily="34" charset="-122"/>
                <a:cs typeface="Cambria" pitchFamily="34" charset="-120"/>
              </a:rPr>
              <a:t>Branch</a:t>
            </a:r>
            <a:endParaRPr lang="en-US" sz="1400" dirty="0"/>
          </a:p>
        </p:txBody>
      </p:sp>
      <p:sp>
        <p:nvSpPr>
          <p:cNvPr id="11" name="Shape 8"/>
          <p:cNvSpPr/>
          <p:nvPr/>
        </p:nvSpPr>
        <p:spPr>
          <a:xfrm>
            <a:off x="7040880" y="2423160"/>
            <a:ext cx="4599432" cy="530352"/>
          </a:xfrm>
          <a:prstGeom prst="rect">
            <a:avLst/>
          </a:prstGeom>
          <a:solidFill>
            <a:srgbClr val="33291F"/>
          </a:solidFill>
          <a:ln w="9525">
            <a:solidFill>
              <a:srgbClr val="DDD3BF"/>
            </a:solidFill>
            <a:prstDash val="solid"/>
          </a:ln>
        </p:spPr>
        <p:txBody>
          <a:bodyPr/>
          <a:lstStyle/>
          <a:p>
            <a:endParaRPr lang="en-US"/>
          </a:p>
        </p:txBody>
      </p:sp>
      <p:sp>
        <p:nvSpPr>
          <p:cNvPr id="12" name="Text 9"/>
          <p:cNvSpPr/>
          <p:nvPr/>
        </p:nvSpPr>
        <p:spPr>
          <a:xfrm>
            <a:off x="7205472" y="2423160"/>
            <a:ext cx="4325112" cy="530352"/>
          </a:xfrm>
          <a:prstGeom prst="rect">
            <a:avLst/>
          </a:prstGeom>
          <a:noFill/>
          <a:ln/>
        </p:spPr>
        <p:txBody>
          <a:bodyPr wrap="square" lIns="0" tIns="0" rIns="0" bIns="0" rtlCol="0" anchor="ctr"/>
          <a:lstStyle/>
          <a:p>
            <a:pPr marL="0" indent="0">
              <a:buNone/>
            </a:pPr>
            <a:r>
              <a:rPr lang="en-US" sz="1400" b="1" dirty="0">
                <a:solidFill>
                  <a:srgbClr val="F3EEE3"/>
                </a:solidFill>
                <a:latin typeface="Cambria" pitchFamily="34" charset="0"/>
                <a:ea typeface="Cambria" pitchFamily="34" charset="-122"/>
                <a:cs typeface="Cambria" pitchFamily="34" charset="-120"/>
              </a:rPr>
              <a:t>Fork</a:t>
            </a:r>
            <a:endParaRPr lang="en-US" sz="1400" dirty="0"/>
          </a:p>
        </p:txBody>
      </p:sp>
      <p:sp>
        <p:nvSpPr>
          <p:cNvPr id="13" name="Shape 10"/>
          <p:cNvSpPr/>
          <p:nvPr/>
        </p:nvSpPr>
        <p:spPr>
          <a:xfrm>
            <a:off x="548640" y="2953512"/>
            <a:ext cx="2468880" cy="530352"/>
          </a:xfrm>
          <a:prstGeom prst="rect">
            <a:avLst/>
          </a:prstGeom>
          <a:solidFill>
            <a:srgbClr val="F3EEE3"/>
          </a:solidFill>
          <a:ln w="9525">
            <a:solidFill>
              <a:srgbClr val="DDD3BF"/>
            </a:solidFill>
            <a:prstDash val="solid"/>
          </a:ln>
        </p:spPr>
        <p:txBody>
          <a:bodyPr/>
          <a:lstStyle/>
          <a:p>
            <a:endParaRPr lang="en-US"/>
          </a:p>
        </p:txBody>
      </p:sp>
      <p:sp>
        <p:nvSpPr>
          <p:cNvPr id="14" name="Text 11"/>
          <p:cNvSpPr/>
          <p:nvPr/>
        </p:nvSpPr>
        <p:spPr>
          <a:xfrm>
            <a:off x="713232" y="2953512"/>
            <a:ext cx="2194560" cy="530352"/>
          </a:xfrm>
          <a:prstGeom prst="rect">
            <a:avLst/>
          </a:prstGeom>
          <a:noFill/>
          <a:ln/>
        </p:spPr>
        <p:txBody>
          <a:bodyPr wrap="square" lIns="0" tIns="0" rIns="0" bIns="0" rtlCol="0" anchor="ctr"/>
          <a:lstStyle/>
          <a:p>
            <a:pPr marL="0" indent="0">
              <a:buNone/>
            </a:pPr>
            <a:r>
              <a:rPr lang="en-US" sz="1250" b="1" dirty="0">
                <a:solidFill>
                  <a:srgbClr val="B0552F"/>
                </a:solidFill>
                <a:latin typeface="Cambria" pitchFamily="34" charset="0"/>
                <a:ea typeface="Cambria" pitchFamily="34" charset="-122"/>
                <a:cs typeface="Cambria" pitchFamily="34" charset="-120"/>
              </a:rPr>
              <a:t>Lives where?</a:t>
            </a:r>
            <a:endParaRPr lang="en-US" sz="1250" dirty="0"/>
          </a:p>
        </p:txBody>
      </p:sp>
      <p:sp>
        <p:nvSpPr>
          <p:cNvPr id="15" name="Shape 12"/>
          <p:cNvSpPr/>
          <p:nvPr/>
        </p:nvSpPr>
        <p:spPr>
          <a:xfrm>
            <a:off x="3017520" y="2953512"/>
            <a:ext cx="4023360" cy="530352"/>
          </a:xfrm>
          <a:prstGeom prst="rect">
            <a:avLst/>
          </a:prstGeom>
          <a:solidFill>
            <a:srgbClr val="F3EEE3"/>
          </a:solidFill>
          <a:ln w="9525">
            <a:solidFill>
              <a:srgbClr val="DDD3BF"/>
            </a:solidFill>
            <a:prstDash val="solid"/>
          </a:ln>
        </p:spPr>
        <p:txBody>
          <a:bodyPr/>
          <a:lstStyle/>
          <a:p>
            <a:endParaRPr lang="en-US"/>
          </a:p>
        </p:txBody>
      </p:sp>
      <p:sp>
        <p:nvSpPr>
          <p:cNvPr id="16" name="Text 13"/>
          <p:cNvSpPr/>
          <p:nvPr/>
        </p:nvSpPr>
        <p:spPr>
          <a:xfrm>
            <a:off x="3182112" y="2953512"/>
            <a:ext cx="3749040"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Inside the same repository</a:t>
            </a:r>
            <a:endParaRPr lang="en-US" sz="1250" dirty="0"/>
          </a:p>
        </p:txBody>
      </p:sp>
      <p:sp>
        <p:nvSpPr>
          <p:cNvPr id="17" name="Shape 14"/>
          <p:cNvSpPr/>
          <p:nvPr/>
        </p:nvSpPr>
        <p:spPr>
          <a:xfrm>
            <a:off x="7040880" y="2953512"/>
            <a:ext cx="4599432" cy="530352"/>
          </a:xfrm>
          <a:prstGeom prst="rect">
            <a:avLst/>
          </a:prstGeom>
          <a:solidFill>
            <a:srgbClr val="F3EEE3"/>
          </a:solidFill>
          <a:ln w="9525">
            <a:solidFill>
              <a:srgbClr val="DDD3BF"/>
            </a:solidFill>
            <a:prstDash val="solid"/>
          </a:ln>
        </p:spPr>
        <p:txBody>
          <a:bodyPr/>
          <a:lstStyle/>
          <a:p>
            <a:endParaRPr lang="en-US"/>
          </a:p>
        </p:txBody>
      </p:sp>
      <p:sp>
        <p:nvSpPr>
          <p:cNvPr id="18" name="Text 15"/>
          <p:cNvSpPr/>
          <p:nvPr/>
        </p:nvSpPr>
        <p:spPr>
          <a:xfrm>
            <a:off x="7205472" y="2953512"/>
            <a:ext cx="4325112"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A full copy in your account</a:t>
            </a:r>
            <a:endParaRPr lang="en-US" sz="1250" dirty="0"/>
          </a:p>
        </p:txBody>
      </p:sp>
      <p:sp>
        <p:nvSpPr>
          <p:cNvPr id="19" name="Shape 16"/>
          <p:cNvSpPr/>
          <p:nvPr/>
        </p:nvSpPr>
        <p:spPr>
          <a:xfrm>
            <a:off x="548640" y="3483864"/>
            <a:ext cx="2468880" cy="530352"/>
          </a:xfrm>
          <a:prstGeom prst="rect">
            <a:avLst/>
          </a:prstGeom>
          <a:solidFill>
            <a:srgbClr val="FFFFFF"/>
          </a:solidFill>
          <a:ln w="9525">
            <a:solidFill>
              <a:srgbClr val="DDD3BF"/>
            </a:solidFill>
            <a:prstDash val="solid"/>
          </a:ln>
        </p:spPr>
        <p:txBody>
          <a:bodyPr/>
          <a:lstStyle/>
          <a:p>
            <a:endParaRPr lang="en-US"/>
          </a:p>
        </p:txBody>
      </p:sp>
      <p:sp>
        <p:nvSpPr>
          <p:cNvPr id="20" name="Text 17"/>
          <p:cNvSpPr/>
          <p:nvPr/>
        </p:nvSpPr>
        <p:spPr>
          <a:xfrm>
            <a:off x="713232" y="3483864"/>
            <a:ext cx="2194560" cy="530352"/>
          </a:xfrm>
          <a:prstGeom prst="rect">
            <a:avLst/>
          </a:prstGeom>
          <a:noFill/>
          <a:ln/>
        </p:spPr>
        <p:txBody>
          <a:bodyPr wrap="square" lIns="0" tIns="0" rIns="0" bIns="0" rtlCol="0" anchor="ctr"/>
          <a:lstStyle/>
          <a:p>
            <a:pPr marL="0" indent="0">
              <a:buNone/>
            </a:pPr>
            <a:r>
              <a:rPr lang="en-US" sz="1250" b="1" dirty="0">
                <a:solidFill>
                  <a:srgbClr val="B0552F"/>
                </a:solidFill>
                <a:latin typeface="Cambria" pitchFamily="34" charset="0"/>
                <a:ea typeface="Cambria" pitchFamily="34" charset="-122"/>
                <a:cs typeface="Cambria" pitchFamily="34" charset="-120"/>
              </a:rPr>
              <a:t>Who uses it?</a:t>
            </a:r>
            <a:endParaRPr lang="en-US" sz="1250" dirty="0"/>
          </a:p>
        </p:txBody>
      </p:sp>
      <p:sp>
        <p:nvSpPr>
          <p:cNvPr id="21" name="Shape 18"/>
          <p:cNvSpPr/>
          <p:nvPr/>
        </p:nvSpPr>
        <p:spPr>
          <a:xfrm>
            <a:off x="3017520" y="3483864"/>
            <a:ext cx="4023360" cy="530352"/>
          </a:xfrm>
          <a:prstGeom prst="rect">
            <a:avLst/>
          </a:prstGeom>
          <a:solidFill>
            <a:srgbClr val="FFFFFF"/>
          </a:solidFill>
          <a:ln w="9525">
            <a:solidFill>
              <a:srgbClr val="DDD3BF"/>
            </a:solidFill>
            <a:prstDash val="solid"/>
          </a:ln>
        </p:spPr>
        <p:txBody>
          <a:bodyPr/>
          <a:lstStyle/>
          <a:p>
            <a:endParaRPr lang="en-US"/>
          </a:p>
        </p:txBody>
      </p:sp>
      <p:sp>
        <p:nvSpPr>
          <p:cNvPr id="22" name="Text 19"/>
          <p:cNvSpPr/>
          <p:nvPr/>
        </p:nvSpPr>
        <p:spPr>
          <a:xfrm>
            <a:off x="3182112" y="3483864"/>
            <a:ext cx="3749040"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Teammates on one project</a:t>
            </a:r>
            <a:endParaRPr lang="en-US" sz="1250" dirty="0"/>
          </a:p>
        </p:txBody>
      </p:sp>
      <p:sp>
        <p:nvSpPr>
          <p:cNvPr id="23" name="Shape 20"/>
          <p:cNvSpPr/>
          <p:nvPr/>
        </p:nvSpPr>
        <p:spPr>
          <a:xfrm>
            <a:off x="7040880" y="3483864"/>
            <a:ext cx="4599432" cy="530352"/>
          </a:xfrm>
          <a:prstGeom prst="rect">
            <a:avLst/>
          </a:prstGeom>
          <a:solidFill>
            <a:srgbClr val="FFFFFF"/>
          </a:solidFill>
          <a:ln w="9525">
            <a:solidFill>
              <a:srgbClr val="DDD3BF"/>
            </a:solidFill>
            <a:prstDash val="solid"/>
          </a:ln>
        </p:spPr>
        <p:txBody>
          <a:bodyPr/>
          <a:lstStyle/>
          <a:p>
            <a:endParaRPr lang="en-US"/>
          </a:p>
        </p:txBody>
      </p:sp>
      <p:sp>
        <p:nvSpPr>
          <p:cNvPr id="24" name="Text 21"/>
          <p:cNvSpPr/>
          <p:nvPr/>
        </p:nvSpPr>
        <p:spPr>
          <a:xfrm>
            <a:off x="7205472" y="3483864"/>
            <a:ext cx="4325112"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Anyone, including strangers</a:t>
            </a:r>
            <a:endParaRPr lang="en-US" sz="1250" dirty="0"/>
          </a:p>
        </p:txBody>
      </p:sp>
      <p:sp>
        <p:nvSpPr>
          <p:cNvPr id="25" name="Shape 22"/>
          <p:cNvSpPr/>
          <p:nvPr/>
        </p:nvSpPr>
        <p:spPr>
          <a:xfrm>
            <a:off x="548640" y="4014216"/>
            <a:ext cx="2468880" cy="530352"/>
          </a:xfrm>
          <a:prstGeom prst="rect">
            <a:avLst/>
          </a:prstGeom>
          <a:solidFill>
            <a:srgbClr val="F3EEE3"/>
          </a:solidFill>
          <a:ln w="9525">
            <a:solidFill>
              <a:srgbClr val="DDD3BF"/>
            </a:solidFill>
            <a:prstDash val="solid"/>
          </a:ln>
        </p:spPr>
        <p:txBody>
          <a:bodyPr/>
          <a:lstStyle/>
          <a:p>
            <a:endParaRPr lang="en-US"/>
          </a:p>
        </p:txBody>
      </p:sp>
      <p:sp>
        <p:nvSpPr>
          <p:cNvPr id="26" name="Text 23"/>
          <p:cNvSpPr/>
          <p:nvPr/>
        </p:nvSpPr>
        <p:spPr>
          <a:xfrm>
            <a:off x="713232" y="4014216"/>
            <a:ext cx="2194560" cy="530352"/>
          </a:xfrm>
          <a:prstGeom prst="rect">
            <a:avLst/>
          </a:prstGeom>
          <a:noFill/>
          <a:ln/>
        </p:spPr>
        <p:txBody>
          <a:bodyPr wrap="square" lIns="0" tIns="0" rIns="0" bIns="0" rtlCol="0" anchor="ctr"/>
          <a:lstStyle/>
          <a:p>
            <a:pPr marL="0" indent="0">
              <a:buNone/>
            </a:pPr>
            <a:r>
              <a:rPr lang="en-US" sz="1250" b="1" dirty="0">
                <a:solidFill>
                  <a:srgbClr val="B0552F"/>
                </a:solidFill>
                <a:latin typeface="Cambria" pitchFamily="34" charset="0"/>
                <a:ea typeface="Cambria" pitchFamily="34" charset="-122"/>
                <a:cs typeface="Cambria" pitchFamily="34" charset="-120"/>
              </a:rPr>
              <a:t>Typical purpose</a:t>
            </a:r>
            <a:endParaRPr lang="en-US" sz="1250" dirty="0"/>
          </a:p>
        </p:txBody>
      </p:sp>
      <p:sp>
        <p:nvSpPr>
          <p:cNvPr id="27" name="Shape 24"/>
          <p:cNvSpPr/>
          <p:nvPr/>
        </p:nvSpPr>
        <p:spPr>
          <a:xfrm>
            <a:off x="3017520" y="4014216"/>
            <a:ext cx="4023360" cy="530352"/>
          </a:xfrm>
          <a:prstGeom prst="rect">
            <a:avLst/>
          </a:prstGeom>
          <a:solidFill>
            <a:srgbClr val="F3EEE3"/>
          </a:solidFill>
          <a:ln w="9525">
            <a:solidFill>
              <a:srgbClr val="DDD3BF"/>
            </a:solidFill>
            <a:prstDash val="solid"/>
          </a:ln>
        </p:spPr>
        <p:txBody>
          <a:bodyPr/>
          <a:lstStyle/>
          <a:p>
            <a:endParaRPr lang="en-US"/>
          </a:p>
        </p:txBody>
      </p:sp>
      <p:sp>
        <p:nvSpPr>
          <p:cNvPr id="28" name="Text 25"/>
          <p:cNvSpPr/>
          <p:nvPr/>
        </p:nvSpPr>
        <p:spPr>
          <a:xfrm>
            <a:off x="3182112" y="4014216"/>
            <a:ext cx="3749040"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Try a feature, then merge home</a:t>
            </a:r>
            <a:endParaRPr lang="en-US" sz="1250" dirty="0"/>
          </a:p>
        </p:txBody>
      </p:sp>
      <p:sp>
        <p:nvSpPr>
          <p:cNvPr id="29" name="Shape 26"/>
          <p:cNvSpPr/>
          <p:nvPr/>
        </p:nvSpPr>
        <p:spPr>
          <a:xfrm>
            <a:off x="7040880" y="4014216"/>
            <a:ext cx="4599432" cy="530352"/>
          </a:xfrm>
          <a:prstGeom prst="rect">
            <a:avLst/>
          </a:prstGeom>
          <a:solidFill>
            <a:srgbClr val="F3EEE3"/>
          </a:solidFill>
          <a:ln w="9525">
            <a:solidFill>
              <a:srgbClr val="DDD3BF"/>
            </a:solidFill>
            <a:prstDash val="solid"/>
          </a:ln>
        </p:spPr>
        <p:txBody>
          <a:bodyPr/>
          <a:lstStyle/>
          <a:p>
            <a:endParaRPr lang="en-US"/>
          </a:p>
        </p:txBody>
      </p:sp>
      <p:sp>
        <p:nvSpPr>
          <p:cNvPr id="30" name="Text 27"/>
          <p:cNvSpPr/>
          <p:nvPr/>
        </p:nvSpPr>
        <p:spPr>
          <a:xfrm>
            <a:off x="7205472" y="4014216"/>
            <a:ext cx="4325112"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Take a project in your own direction</a:t>
            </a:r>
            <a:endParaRPr lang="en-US" sz="1250" dirty="0"/>
          </a:p>
        </p:txBody>
      </p:sp>
      <p:sp>
        <p:nvSpPr>
          <p:cNvPr id="31" name="Shape 28"/>
          <p:cNvSpPr/>
          <p:nvPr/>
        </p:nvSpPr>
        <p:spPr>
          <a:xfrm>
            <a:off x="548640" y="4544568"/>
            <a:ext cx="2468880" cy="530352"/>
          </a:xfrm>
          <a:prstGeom prst="rect">
            <a:avLst/>
          </a:prstGeom>
          <a:solidFill>
            <a:srgbClr val="FFFFFF"/>
          </a:solidFill>
          <a:ln w="9525">
            <a:solidFill>
              <a:srgbClr val="DDD3BF"/>
            </a:solidFill>
            <a:prstDash val="solid"/>
          </a:ln>
        </p:spPr>
        <p:txBody>
          <a:bodyPr/>
          <a:lstStyle/>
          <a:p>
            <a:endParaRPr lang="en-US"/>
          </a:p>
        </p:txBody>
      </p:sp>
      <p:sp>
        <p:nvSpPr>
          <p:cNvPr id="32" name="Text 29"/>
          <p:cNvSpPr/>
          <p:nvPr/>
        </p:nvSpPr>
        <p:spPr>
          <a:xfrm>
            <a:off x="713232" y="4544568"/>
            <a:ext cx="2194560" cy="530352"/>
          </a:xfrm>
          <a:prstGeom prst="rect">
            <a:avLst/>
          </a:prstGeom>
          <a:noFill/>
          <a:ln/>
        </p:spPr>
        <p:txBody>
          <a:bodyPr wrap="square" lIns="0" tIns="0" rIns="0" bIns="0" rtlCol="0" anchor="ctr"/>
          <a:lstStyle/>
          <a:p>
            <a:pPr marL="0" indent="0">
              <a:buNone/>
            </a:pPr>
            <a:r>
              <a:rPr lang="en-US" sz="1250" b="1" dirty="0">
                <a:solidFill>
                  <a:srgbClr val="B0552F"/>
                </a:solidFill>
                <a:latin typeface="Cambria" pitchFamily="34" charset="0"/>
                <a:ea typeface="Cambria" pitchFamily="34" charset="-122"/>
                <a:cs typeface="Cambria" pitchFamily="34" charset="-120"/>
              </a:rPr>
              <a:t>Our example</a:t>
            </a:r>
            <a:endParaRPr lang="en-US" sz="1250" dirty="0"/>
          </a:p>
        </p:txBody>
      </p:sp>
      <p:sp>
        <p:nvSpPr>
          <p:cNvPr id="33" name="Shape 30"/>
          <p:cNvSpPr/>
          <p:nvPr/>
        </p:nvSpPr>
        <p:spPr>
          <a:xfrm>
            <a:off x="3017520" y="4544568"/>
            <a:ext cx="4023360" cy="530352"/>
          </a:xfrm>
          <a:prstGeom prst="rect">
            <a:avLst/>
          </a:prstGeom>
          <a:solidFill>
            <a:srgbClr val="FFFFFF"/>
          </a:solidFill>
          <a:ln w="9525">
            <a:solidFill>
              <a:srgbClr val="DDD3BF"/>
            </a:solidFill>
            <a:prstDash val="solid"/>
          </a:ln>
        </p:spPr>
        <p:txBody>
          <a:bodyPr/>
          <a:lstStyle/>
          <a:p>
            <a:endParaRPr lang="en-US"/>
          </a:p>
        </p:txBody>
      </p:sp>
      <p:sp>
        <p:nvSpPr>
          <p:cNvPr id="34" name="Text 31"/>
          <p:cNvSpPr/>
          <p:nvPr/>
        </p:nvSpPr>
        <p:spPr>
          <a:xfrm>
            <a:off x="3182112" y="4544568"/>
            <a:ext cx="3749040"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night-mode inside our repo</a:t>
            </a:r>
            <a:endParaRPr lang="en-US" sz="1250" dirty="0"/>
          </a:p>
        </p:txBody>
      </p:sp>
      <p:sp>
        <p:nvSpPr>
          <p:cNvPr id="35" name="Shape 32"/>
          <p:cNvSpPr/>
          <p:nvPr/>
        </p:nvSpPr>
        <p:spPr>
          <a:xfrm>
            <a:off x="7040880" y="4544568"/>
            <a:ext cx="4599432" cy="530352"/>
          </a:xfrm>
          <a:prstGeom prst="rect">
            <a:avLst/>
          </a:prstGeom>
          <a:solidFill>
            <a:srgbClr val="FFFFFF"/>
          </a:solidFill>
          <a:ln w="9525">
            <a:solidFill>
              <a:srgbClr val="DDD3BF"/>
            </a:solidFill>
            <a:prstDash val="solid"/>
          </a:ln>
        </p:spPr>
        <p:txBody>
          <a:bodyPr/>
          <a:lstStyle/>
          <a:p>
            <a:endParaRPr lang="en-US"/>
          </a:p>
        </p:txBody>
      </p:sp>
      <p:sp>
        <p:nvSpPr>
          <p:cNvPr id="36" name="Text 33"/>
          <p:cNvSpPr/>
          <p:nvPr/>
        </p:nvSpPr>
        <p:spPr>
          <a:xfrm>
            <a:off x="7205472" y="4544568"/>
            <a:ext cx="4325112" cy="530352"/>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CIJE Birdwatcher, forked from the wild</a:t>
            </a:r>
            <a:endParaRPr lang="en-US" sz="1250" dirty="0"/>
          </a:p>
        </p:txBody>
      </p:sp>
      <p:sp>
        <p:nvSpPr>
          <p:cNvPr id="37" name="Shape 34"/>
          <p:cNvSpPr/>
          <p:nvPr/>
        </p:nvSpPr>
        <p:spPr>
          <a:xfrm>
            <a:off x="548640" y="5349240"/>
            <a:ext cx="11091672" cy="777240"/>
          </a:xfrm>
          <a:prstGeom prst="roundRect">
            <a:avLst>
              <a:gd name="adj" fmla="val 11765"/>
            </a:avLst>
          </a:prstGeom>
          <a:solidFill>
            <a:srgbClr val="33291F"/>
          </a:solidFill>
          <a:ln/>
        </p:spPr>
        <p:txBody>
          <a:bodyPr/>
          <a:lstStyle/>
          <a:p>
            <a:endParaRPr lang="en-US"/>
          </a:p>
        </p:txBody>
      </p:sp>
      <p:pic>
        <p:nvPicPr>
          <p:cNvPr id="38" name="Image 1" descr="preencoded.png"/>
          <p:cNvPicPr>
            <a:picLocks noChangeAspect="1"/>
          </p:cNvPicPr>
          <p:nvPr/>
        </p:nvPicPr>
        <p:blipFill>
          <a:blip r:embed="rId4"/>
          <a:stretch>
            <a:fillRect/>
          </a:stretch>
        </p:blipFill>
        <p:spPr>
          <a:xfrm>
            <a:off x="841248" y="5564124"/>
            <a:ext cx="347472" cy="347472"/>
          </a:xfrm>
          <a:prstGeom prst="rect">
            <a:avLst/>
          </a:prstGeom>
        </p:spPr>
      </p:pic>
      <p:sp>
        <p:nvSpPr>
          <p:cNvPr id="39" name="Text 35"/>
          <p:cNvSpPr/>
          <p:nvPr/>
        </p:nvSpPr>
        <p:spPr>
          <a:xfrm>
            <a:off x="1371600" y="5349240"/>
            <a:ext cx="9994392"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A branch is a room in your own house. A fork is building a new house from someone else's blueprints.</a:t>
            </a:r>
            <a:endParaRPr lang="en-US" sz="1500" dirty="0"/>
          </a:p>
        </p:txBody>
      </p:sp>
      <p:pic>
        <p:nvPicPr>
          <p:cNvPr id="40" name="Image 2" descr="/home/claude/assets/cije_mark.png">
            <a:extLst>
              <a:ext uri="{FF2B5EF4-FFF2-40B4-BE49-F238E27FC236}">
                <a16:creationId xmlns:a16="http://schemas.microsoft.com/office/drawing/2014/main" id="{A148FE91-EDD8-3D87-4ABD-44D0A7A3608D}"/>
              </a:ext>
            </a:extLst>
          </p:cNvPr>
          <p:cNvPicPr>
            <a:picLocks noChangeAspect="1"/>
          </p:cNvPicPr>
          <p:nvPr/>
        </p:nvPicPr>
        <p:blipFill>
          <a:blip r:embed="rId5">
            <a:alphaModFix amt="75000"/>
          </a:blip>
          <a:stretch>
            <a:fillRect/>
          </a:stretch>
        </p:blipFill>
        <p:spPr>
          <a:xfrm>
            <a:off x="11448288" y="6419088"/>
            <a:ext cx="512064" cy="34564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B0552F"/>
                </a:solidFill>
                <a:latin typeface="Calibri" pitchFamily="34" charset="0"/>
                <a:ea typeface="Calibri" pitchFamily="34" charset="-122"/>
                <a:cs typeface="Calibri" pitchFamily="34" charset="-120"/>
              </a:rPr>
              <a:t>FULL CIRCLE</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The lineage we live in</a:t>
            </a:r>
            <a:endParaRPr lang="en-US" sz="3000" dirty="0"/>
          </a:p>
        </p:txBody>
      </p:sp>
      <p:sp>
        <p:nvSpPr>
          <p:cNvPr id="4" name="Text 2"/>
          <p:cNvSpPr/>
          <p:nvPr/>
        </p:nvSpPr>
        <p:spPr>
          <a:xfrm>
            <a:off x="548640" y="1481328"/>
            <a:ext cx="11091672" cy="411480"/>
          </a:xfrm>
          <a:prstGeom prst="rect">
            <a:avLst/>
          </a:prstGeom>
          <a:noFill/>
          <a:ln/>
        </p:spPr>
        <p:txBody>
          <a:bodyPr wrap="square" lIns="0" tIns="0" rIns="0" bIns="0" rtlCol="0" anchor="ctr"/>
          <a:lstStyle/>
          <a:p>
            <a:pPr marL="0" indent="0">
              <a:buNone/>
            </a:pPr>
            <a:r>
              <a:rPr lang="en-US" sz="1450" dirty="0">
                <a:solidFill>
                  <a:srgbClr val="4A3C2C"/>
                </a:solidFill>
                <a:latin typeface="Calibri" pitchFamily="34" charset="0"/>
                <a:ea typeface="Calibri" pitchFamily="34" charset="-122"/>
                <a:cs typeface="Calibri" pitchFamily="34" charset="-120"/>
              </a:rPr>
              <a:t>Every concept in this deck is visible in one true story: the family tree of our own Birdwatcher.</a:t>
            </a:r>
            <a:endParaRPr lang="en-US" sz="1450" dirty="0"/>
          </a:p>
        </p:txBody>
      </p:sp>
      <p:sp>
        <p:nvSpPr>
          <p:cNvPr id="5" name="Shape 3"/>
          <p:cNvSpPr/>
          <p:nvPr/>
        </p:nvSpPr>
        <p:spPr>
          <a:xfrm>
            <a:off x="548640" y="2240280"/>
            <a:ext cx="2423160" cy="2697480"/>
          </a:xfrm>
          <a:prstGeom prst="roundRect">
            <a:avLst>
              <a:gd name="adj" fmla="val 4528"/>
            </a:avLst>
          </a:prstGeom>
          <a:solidFill>
            <a:srgbClr val="F3EEE3"/>
          </a:solidFill>
          <a:ln w="12700">
            <a:solidFill>
              <a:srgbClr val="DDD3BF"/>
            </a:solidFill>
            <a:prstDash val="solid"/>
          </a:ln>
        </p:spPr>
        <p:txBody>
          <a:bodyPr/>
          <a:lstStyle/>
          <a:p>
            <a:endParaRPr lang="en-US"/>
          </a:p>
        </p:txBody>
      </p:sp>
      <p:sp>
        <p:nvSpPr>
          <p:cNvPr id="6" name="Shape 4"/>
          <p:cNvSpPr/>
          <p:nvPr/>
        </p:nvSpPr>
        <p:spPr>
          <a:xfrm>
            <a:off x="1394460" y="2514600"/>
            <a:ext cx="731520" cy="731520"/>
          </a:xfrm>
          <a:prstGeom prst="ellipse">
            <a:avLst/>
          </a:prstGeom>
          <a:solidFill>
            <a:srgbClr val="5E7A8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577340" y="2697480"/>
            <a:ext cx="365760" cy="365760"/>
          </a:xfrm>
          <a:prstGeom prst="rect">
            <a:avLst/>
          </a:prstGeom>
        </p:spPr>
      </p:pic>
      <p:sp>
        <p:nvSpPr>
          <p:cNvPr id="8" name="Text 5"/>
          <p:cNvSpPr/>
          <p:nvPr/>
        </p:nvSpPr>
        <p:spPr>
          <a:xfrm>
            <a:off x="640080" y="3401568"/>
            <a:ext cx="2240280" cy="347472"/>
          </a:xfrm>
          <a:prstGeom prst="rect">
            <a:avLst/>
          </a:prstGeom>
          <a:noFill/>
          <a:ln/>
        </p:spPr>
        <p:txBody>
          <a:bodyPr wrap="square" lIns="0" tIns="0" rIns="0" bIns="0" rtlCol="0" anchor="ctr"/>
          <a:lstStyle/>
          <a:p>
            <a:pPr marL="0" indent="0" algn="ctr">
              <a:buNone/>
            </a:pPr>
            <a:r>
              <a:rPr lang="en-US" sz="1500" b="1" dirty="0">
                <a:solidFill>
                  <a:srgbClr val="33291F"/>
                </a:solidFill>
                <a:latin typeface="Cambria" pitchFamily="34" charset="0"/>
                <a:ea typeface="Cambria" pitchFamily="34" charset="-122"/>
                <a:cs typeface="Cambria" pitchFamily="34" charset="-120"/>
              </a:rPr>
              <a:t>BirdNET</a:t>
            </a:r>
            <a:endParaRPr lang="en-US" sz="1500" dirty="0"/>
          </a:p>
        </p:txBody>
      </p:sp>
      <p:sp>
        <p:nvSpPr>
          <p:cNvPr id="9" name="Text 6"/>
          <p:cNvSpPr/>
          <p:nvPr/>
        </p:nvSpPr>
        <p:spPr>
          <a:xfrm>
            <a:off x="749808" y="3767328"/>
            <a:ext cx="2020824" cy="1051560"/>
          </a:xfrm>
          <a:prstGeom prst="rect">
            <a:avLst/>
          </a:prstGeom>
          <a:noFill/>
          <a:ln/>
        </p:spPr>
        <p:txBody>
          <a:bodyPr wrap="square" lIns="0" tIns="0" rIns="0" bIns="0" rtlCol="0" anchor="ctr"/>
          <a:lstStyle/>
          <a:p>
            <a:pPr marL="0" indent="0" algn="ctr">
              <a:lnSpc>
                <a:spcPct val="105000"/>
              </a:lnSpc>
              <a:buNone/>
            </a:pPr>
            <a:r>
              <a:rPr lang="en-US" sz="1100" dirty="0">
                <a:solidFill>
                  <a:srgbClr val="4A3C2C"/>
                </a:solidFill>
                <a:latin typeface="Calibri" pitchFamily="34" charset="0"/>
                <a:ea typeface="Calibri" pitchFamily="34" charset="-122"/>
                <a:cs typeface="Calibri" pitchFamily="34" charset="-120"/>
              </a:rPr>
              <a:t>Cornell research: AI that recognizes birds, shared openly with the world.</a:t>
            </a:r>
            <a:endParaRPr lang="en-US" sz="1100" dirty="0"/>
          </a:p>
        </p:txBody>
      </p:sp>
      <p:pic>
        <p:nvPicPr>
          <p:cNvPr id="10" name="Image 1" descr="preencoded.png"/>
          <p:cNvPicPr>
            <a:picLocks noChangeAspect="1"/>
          </p:cNvPicPr>
          <p:nvPr/>
        </p:nvPicPr>
        <p:blipFill>
          <a:blip r:embed="rId4"/>
          <a:stretch>
            <a:fillRect/>
          </a:stretch>
        </p:blipFill>
        <p:spPr>
          <a:xfrm>
            <a:off x="3035808" y="3401568"/>
            <a:ext cx="384048" cy="384048"/>
          </a:xfrm>
          <a:prstGeom prst="rect">
            <a:avLst/>
          </a:prstGeom>
        </p:spPr>
      </p:pic>
      <p:sp>
        <p:nvSpPr>
          <p:cNvPr id="11" name="Shape 7"/>
          <p:cNvSpPr/>
          <p:nvPr/>
        </p:nvSpPr>
        <p:spPr>
          <a:xfrm>
            <a:off x="3483864" y="2240280"/>
            <a:ext cx="2423160" cy="2697480"/>
          </a:xfrm>
          <a:prstGeom prst="roundRect">
            <a:avLst>
              <a:gd name="adj" fmla="val 4528"/>
            </a:avLst>
          </a:prstGeom>
          <a:solidFill>
            <a:srgbClr val="F3EEE3"/>
          </a:solidFill>
          <a:ln w="12700">
            <a:solidFill>
              <a:srgbClr val="DDD3BF"/>
            </a:solidFill>
            <a:prstDash val="solid"/>
          </a:ln>
        </p:spPr>
        <p:txBody>
          <a:bodyPr/>
          <a:lstStyle/>
          <a:p>
            <a:endParaRPr lang="en-US"/>
          </a:p>
        </p:txBody>
      </p:sp>
      <p:sp>
        <p:nvSpPr>
          <p:cNvPr id="12" name="Shape 8"/>
          <p:cNvSpPr/>
          <p:nvPr/>
        </p:nvSpPr>
        <p:spPr>
          <a:xfrm>
            <a:off x="4329684" y="2514600"/>
            <a:ext cx="731520" cy="731520"/>
          </a:xfrm>
          <a:prstGeom prst="ellipse">
            <a:avLst/>
          </a:prstGeom>
          <a:solidFill>
            <a:srgbClr val="B98F35"/>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4512564" y="2697480"/>
            <a:ext cx="365760" cy="365760"/>
          </a:xfrm>
          <a:prstGeom prst="rect">
            <a:avLst/>
          </a:prstGeom>
        </p:spPr>
      </p:pic>
      <p:sp>
        <p:nvSpPr>
          <p:cNvPr id="14" name="Text 9"/>
          <p:cNvSpPr/>
          <p:nvPr/>
        </p:nvSpPr>
        <p:spPr>
          <a:xfrm>
            <a:off x="3575304" y="3401568"/>
            <a:ext cx="2240280" cy="347472"/>
          </a:xfrm>
          <a:prstGeom prst="rect">
            <a:avLst/>
          </a:prstGeom>
          <a:noFill/>
          <a:ln/>
        </p:spPr>
        <p:txBody>
          <a:bodyPr wrap="square" lIns="0" tIns="0" rIns="0" bIns="0" rtlCol="0" anchor="ctr"/>
          <a:lstStyle/>
          <a:p>
            <a:pPr marL="0" indent="0" algn="ctr">
              <a:buNone/>
            </a:pPr>
            <a:r>
              <a:rPr lang="en-US" sz="1500" b="1" dirty="0">
                <a:solidFill>
                  <a:srgbClr val="33291F"/>
                </a:solidFill>
                <a:latin typeface="Cambria" pitchFamily="34" charset="0"/>
                <a:ea typeface="Cambria" pitchFamily="34" charset="-122"/>
                <a:cs typeface="Cambria" pitchFamily="34" charset="-120"/>
              </a:rPr>
              <a:t>BirdNET-Pi</a:t>
            </a:r>
            <a:endParaRPr lang="en-US" sz="1500" dirty="0"/>
          </a:p>
        </p:txBody>
      </p:sp>
      <p:sp>
        <p:nvSpPr>
          <p:cNvPr id="15" name="Text 10"/>
          <p:cNvSpPr/>
          <p:nvPr/>
        </p:nvSpPr>
        <p:spPr>
          <a:xfrm>
            <a:off x="3685032" y="3767328"/>
            <a:ext cx="2020824" cy="1051560"/>
          </a:xfrm>
          <a:prstGeom prst="rect">
            <a:avLst/>
          </a:prstGeom>
          <a:noFill/>
          <a:ln/>
        </p:spPr>
        <p:txBody>
          <a:bodyPr wrap="square" lIns="0" tIns="0" rIns="0" bIns="0" rtlCol="0" anchor="ctr"/>
          <a:lstStyle/>
          <a:p>
            <a:pPr marL="0" indent="0" algn="ctr">
              <a:lnSpc>
                <a:spcPct val="105000"/>
              </a:lnSpc>
              <a:buNone/>
            </a:pPr>
            <a:r>
              <a:rPr lang="en-US" sz="1100" dirty="0">
                <a:solidFill>
                  <a:srgbClr val="4A3C2C"/>
                </a:solidFill>
                <a:latin typeface="Calibri" pitchFamily="34" charset="0"/>
                <a:ea typeface="Calibri" pitchFamily="34" charset="-122"/>
                <a:cs typeface="Calibri" pitchFamily="34" charset="-120"/>
              </a:rPr>
              <a:t>The community forks it onto a $35 Raspberry Pi for backyard listening.</a:t>
            </a:r>
            <a:endParaRPr lang="en-US" sz="1100" dirty="0"/>
          </a:p>
        </p:txBody>
      </p:sp>
      <p:pic>
        <p:nvPicPr>
          <p:cNvPr id="16" name="Image 3" descr="preencoded.png"/>
          <p:cNvPicPr>
            <a:picLocks noChangeAspect="1"/>
          </p:cNvPicPr>
          <p:nvPr/>
        </p:nvPicPr>
        <p:blipFill>
          <a:blip r:embed="rId4"/>
          <a:stretch>
            <a:fillRect/>
          </a:stretch>
        </p:blipFill>
        <p:spPr>
          <a:xfrm>
            <a:off x="5971032" y="3401568"/>
            <a:ext cx="384048" cy="384048"/>
          </a:xfrm>
          <a:prstGeom prst="rect">
            <a:avLst/>
          </a:prstGeom>
        </p:spPr>
      </p:pic>
      <p:sp>
        <p:nvSpPr>
          <p:cNvPr id="17" name="Shape 11"/>
          <p:cNvSpPr/>
          <p:nvPr/>
        </p:nvSpPr>
        <p:spPr>
          <a:xfrm>
            <a:off x="6419088" y="2240280"/>
            <a:ext cx="2423160" cy="2697480"/>
          </a:xfrm>
          <a:prstGeom prst="roundRect">
            <a:avLst>
              <a:gd name="adj" fmla="val 4528"/>
            </a:avLst>
          </a:prstGeom>
          <a:solidFill>
            <a:srgbClr val="F3EEE3"/>
          </a:solidFill>
          <a:ln w="12700">
            <a:solidFill>
              <a:srgbClr val="DDD3BF"/>
            </a:solidFill>
            <a:prstDash val="solid"/>
          </a:ln>
        </p:spPr>
        <p:txBody>
          <a:bodyPr/>
          <a:lstStyle/>
          <a:p>
            <a:endParaRPr lang="en-US"/>
          </a:p>
        </p:txBody>
      </p:sp>
      <p:sp>
        <p:nvSpPr>
          <p:cNvPr id="18" name="Shape 12"/>
          <p:cNvSpPr/>
          <p:nvPr/>
        </p:nvSpPr>
        <p:spPr>
          <a:xfrm>
            <a:off x="7264908" y="2514600"/>
            <a:ext cx="731520" cy="731520"/>
          </a:xfrm>
          <a:prstGeom prst="ellipse">
            <a:avLst/>
          </a:prstGeom>
          <a:solidFill>
            <a:srgbClr val="B0552F"/>
          </a:solidFill>
          <a:ln/>
        </p:spPr>
        <p:txBody>
          <a:bodyPr/>
          <a:lstStyle/>
          <a:p>
            <a:endParaRPr lang="en-US"/>
          </a:p>
        </p:txBody>
      </p:sp>
      <p:pic>
        <p:nvPicPr>
          <p:cNvPr id="19" name="Image 4" descr="preencoded.png"/>
          <p:cNvPicPr>
            <a:picLocks noChangeAspect="1"/>
          </p:cNvPicPr>
          <p:nvPr/>
        </p:nvPicPr>
        <p:blipFill>
          <a:blip r:embed="rId6"/>
          <a:stretch>
            <a:fillRect/>
          </a:stretch>
        </p:blipFill>
        <p:spPr>
          <a:xfrm>
            <a:off x="7447788" y="2697480"/>
            <a:ext cx="365760" cy="365760"/>
          </a:xfrm>
          <a:prstGeom prst="rect">
            <a:avLst/>
          </a:prstGeom>
        </p:spPr>
      </p:pic>
      <p:sp>
        <p:nvSpPr>
          <p:cNvPr id="20" name="Text 13"/>
          <p:cNvSpPr/>
          <p:nvPr/>
        </p:nvSpPr>
        <p:spPr>
          <a:xfrm>
            <a:off x="6510528" y="3401568"/>
            <a:ext cx="2240280" cy="347472"/>
          </a:xfrm>
          <a:prstGeom prst="rect">
            <a:avLst/>
          </a:prstGeom>
          <a:noFill/>
          <a:ln/>
        </p:spPr>
        <p:txBody>
          <a:bodyPr wrap="square" lIns="0" tIns="0" rIns="0" bIns="0" rtlCol="0" anchor="ctr"/>
          <a:lstStyle/>
          <a:p>
            <a:pPr marL="0" indent="0" algn="ctr">
              <a:buNone/>
            </a:pPr>
            <a:r>
              <a:rPr lang="en-US" sz="1500" b="1" dirty="0">
                <a:solidFill>
                  <a:srgbClr val="33291F"/>
                </a:solidFill>
                <a:latin typeface="Cambria" pitchFamily="34" charset="0"/>
                <a:ea typeface="Cambria" pitchFamily="34" charset="-122"/>
                <a:cs typeface="Cambria" pitchFamily="34" charset="-120"/>
              </a:rPr>
              <a:t>AvianVisitors</a:t>
            </a:r>
            <a:endParaRPr lang="en-US" sz="1500" dirty="0"/>
          </a:p>
        </p:txBody>
      </p:sp>
      <p:sp>
        <p:nvSpPr>
          <p:cNvPr id="21" name="Text 14"/>
          <p:cNvSpPr/>
          <p:nvPr/>
        </p:nvSpPr>
        <p:spPr>
          <a:xfrm>
            <a:off x="6620256" y="3767328"/>
            <a:ext cx="2020824" cy="1051560"/>
          </a:xfrm>
          <a:prstGeom prst="rect">
            <a:avLst/>
          </a:prstGeom>
          <a:noFill/>
          <a:ln/>
        </p:spPr>
        <p:txBody>
          <a:bodyPr wrap="square" lIns="0" tIns="0" rIns="0" bIns="0" rtlCol="0" anchor="ctr"/>
          <a:lstStyle/>
          <a:p>
            <a:pPr marL="0" indent="0" algn="ctr">
              <a:lnSpc>
                <a:spcPct val="105000"/>
              </a:lnSpc>
              <a:buNone/>
            </a:pPr>
            <a:r>
              <a:rPr lang="en-US" sz="1100" dirty="0">
                <a:solidFill>
                  <a:srgbClr val="4A3C2C"/>
                </a:solidFill>
                <a:latin typeface="Calibri" pitchFamily="34" charset="0"/>
                <a:ea typeface="Calibri" pitchFamily="34" charset="-122"/>
                <a:cs typeface="Calibri" pitchFamily="34" charset="-120"/>
              </a:rPr>
              <a:t>Maker Teddy Warner forks the idea again, pointing a camera at his feeder.</a:t>
            </a:r>
            <a:endParaRPr lang="en-US" sz="1100" dirty="0"/>
          </a:p>
        </p:txBody>
      </p:sp>
      <p:pic>
        <p:nvPicPr>
          <p:cNvPr id="22" name="Image 5" descr="preencoded.png"/>
          <p:cNvPicPr>
            <a:picLocks noChangeAspect="1"/>
          </p:cNvPicPr>
          <p:nvPr/>
        </p:nvPicPr>
        <p:blipFill>
          <a:blip r:embed="rId4"/>
          <a:stretch>
            <a:fillRect/>
          </a:stretch>
        </p:blipFill>
        <p:spPr>
          <a:xfrm>
            <a:off x="8906256" y="3401568"/>
            <a:ext cx="384048" cy="384048"/>
          </a:xfrm>
          <a:prstGeom prst="rect">
            <a:avLst/>
          </a:prstGeom>
        </p:spPr>
      </p:pic>
      <p:sp>
        <p:nvSpPr>
          <p:cNvPr id="23" name="Shape 15"/>
          <p:cNvSpPr/>
          <p:nvPr/>
        </p:nvSpPr>
        <p:spPr>
          <a:xfrm>
            <a:off x="9354312" y="2240280"/>
            <a:ext cx="2423160" cy="2697480"/>
          </a:xfrm>
          <a:prstGeom prst="roundRect">
            <a:avLst>
              <a:gd name="adj" fmla="val 4528"/>
            </a:avLst>
          </a:prstGeom>
          <a:solidFill>
            <a:srgbClr val="F3EEE3"/>
          </a:solidFill>
          <a:ln w="12700">
            <a:solidFill>
              <a:srgbClr val="DDD3BF"/>
            </a:solidFill>
            <a:prstDash val="solid"/>
          </a:ln>
        </p:spPr>
        <p:txBody>
          <a:bodyPr/>
          <a:lstStyle/>
          <a:p>
            <a:endParaRPr lang="en-US"/>
          </a:p>
        </p:txBody>
      </p:sp>
      <p:sp>
        <p:nvSpPr>
          <p:cNvPr id="24" name="Shape 16"/>
          <p:cNvSpPr/>
          <p:nvPr/>
        </p:nvSpPr>
        <p:spPr>
          <a:xfrm>
            <a:off x="10200132" y="2514600"/>
            <a:ext cx="731520" cy="731520"/>
          </a:xfrm>
          <a:prstGeom prst="ellipse">
            <a:avLst/>
          </a:prstGeom>
          <a:solidFill>
            <a:srgbClr val="4A6472"/>
          </a:solidFill>
          <a:ln/>
        </p:spPr>
        <p:txBody>
          <a:bodyPr/>
          <a:lstStyle/>
          <a:p>
            <a:endParaRPr lang="en-US"/>
          </a:p>
        </p:txBody>
      </p:sp>
      <p:pic>
        <p:nvPicPr>
          <p:cNvPr id="25" name="Image 6" descr="preencoded.png"/>
          <p:cNvPicPr>
            <a:picLocks noChangeAspect="1"/>
          </p:cNvPicPr>
          <p:nvPr/>
        </p:nvPicPr>
        <p:blipFill>
          <a:blip r:embed="rId7"/>
          <a:stretch>
            <a:fillRect/>
          </a:stretch>
        </p:blipFill>
        <p:spPr>
          <a:xfrm>
            <a:off x="10383012" y="2697480"/>
            <a:ext cx="365760" cy="365760"/>
          </a:xfrm>
          <a:prstGeom prst="rect">
            <a:avLst/>
          </a:prstGeom>
        </p:spPr>
      </p:pic>
      <p:sp>
        <p:nvSpPr>
          <p:cNvPr id="26" name="Text 17"/>
          <p:cNvSpPr/>
          <p:nvPr/>
        </p:nvSpPr>
        <p:spPr>
          <a:xfrm>
            <a:off x="9445752" y="3401568"/>
            <a:ext cx="2240280" cy="347472"/>
          </a:xfrm>
          <a:prstGeom prst="rect">
            <a:avLst/>
          </a:prstGeom>
          <a:noFill/>
          <a:ln/>
        </p:spPr>
        <p:txBody>
          <a:bodyPr wrap="square" lIns="0" tIns="0" rIns="0" bIns="0" rtlCol="0" anchor="ctr"/>
          <a:lstStyle/>
          <a:p>
            <a:pPr marL="0" indent="0" algn="ctr">
              <a:buNone/>
            </a:pPr>
            <a:r>
              <a:rPr lang="en-US" sz="1500" b="1" dirty="0">
                <a:solidFill>
                  <a:srgbClr val="33291F"/>
                </a:solidFill>
                <a:latin typeface="Cambria" pitchFamily="34" charset="0"/>
                <a:ea typeface="Cambria" pitchFamily="34" charset="-122"/>
                <a:cs typeface="Cambria" pitchFamily="34" charset="-120"/>
              </a:rPr>
              <a:t>CIJE Birdwatcher</a:t>
            </a:r>
            <a:endParaRPr lang="en-US" sz="1500" dirty="0"/>
          </a:p>
        </p:txBody>
      </p:sp>
      <p:sp>
        <p:nvSpPr>
          <p:cNvPr id="27" name="Text 18"/>
          <p:cNvSpPr/>
          <p:nvPr/>
        </p:nvSpPr>
        <p:spPr>
          <a:xfrm>
            <a:off x="9555480" y="3767328"/>
            <a:ext cx="2020824" cy="1051560"/>
          </a:xfrm>
          <a:prstGeom prst="rect">
            <a:avLst/>
          </a:prstGeom>
          <a:noFill/>
          <a:ln/>
        </p:spPr>
        <p:txBody>
          <a:bodyPr wrap="square" lIns="0" tIns="0" rIns="0" bIns="0" rtlCol="0" anchor="ctr"/>
          <a:lstStyle/>
          <a:p>
            <a:pPr marL="0" indent="0" algn="ctr">
              <a:lnSpc>
                <a:spcPct val="105000"/>
              </a:lnSpc>
              <a:buNone/>
            </a:pPr>
            <a:r>
              <a:rPr lang="en-US" sz="1100" dirty="0">
                <a:solidFill>
                  <a:srgbClr val="4A3C2C"/>
                </a:solidFill>
                <a:latin typeface="Calibri" pitchFamily="34" charset="0"/>
                <a:ea typeface="Calibri" pitchFamily="34" charset="-122"/>
                <a:cs typeface="Calibri" pitchFamily="34" charset="-120"/>
              </a:rPr>
              <a:t>We fork once more: classroom-ready, multi-school, privacy-first.</a:t>
            </a:r>
            <a:endParaRPr lang="en-US" sz="1100" dirty="0"/>
          </a:p>
        </p:txBody>
      </p:sp>
      <p:sp>
        <p:nvSpPr>
          <p:cNvPr id="28" name="Shape 19"/>
          <p:cNvSpPr/>
          <p:nvPr/>
        </p:nvSpPr>
        <p:spPr>
          <a:xfrm>
            <a:off x="548640" y="5349240"/>
            <a:ext cx="11091672" cy="777240"/>
          </a:xfrm>
          <a:prstGeom prst="roundRect">
            <a:avLst>
              <a:gd name="adj" fmla="val 11765"/>
            </a:avLst>
          </a:prstGeom>
          <a:solidFill>
            <a:srgbClr val="33291F"/>
          </a:solidFill>
          <a:ln/>
        </p:spPr>
        <p:txBody>
          <a:bodyPr/>
          <a:lstStyle/>
          <a:p>
            <a:endParaRPr lang="en-US"/>
          </a:p>
        </p:txBody>
      </p:sp>
      <p:pic>
        <p:nvPicPr>
          <p:cNvPr id="29" name="Image 7" descr="preencoded.png"/>
          <p:cNvPicPr>
            <a:picLocks noChangeAspect="1"/>
          </p:cNvPicPr>
          <p:nvPr/>
        </p:nvPicPr>
        <p:blipFill>
          <a:blip r:embed="rId8"/>
          <a:stretch>
            <a:fillRect/>
          </a:stretch>
        </p:blipFill>
        <p:spPr>
          <a:xfrm>
            <a:off x="841248" y="5564124"/>
            <a:ext cx="347472" cy="347472"/>
          </a:xfrm>
          <a:prstGeom prst="rect">
            <a:avLst/>
          </a:prstGeom>
        </p:spPr>
      </p:pic>
      <p:sp>
        <p:nvSpPr>
          <p:cNvPr id="30" name="Text 20"/>
          <p:cNvSpPr/>
          <p:nvPr/>
        </p:nvSpPr>
        <p:spPr>
          <a:xfrm>
            <a:off x="1371600" y="5349240"/>
            <a:ext cx="9994392"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Four generations of builders, most of whom never met, each one standing on the last. That is what GitHub makes normal.</a:t>
            </a:r>
            <a:endParaRPr lang="en-US" sz="1500" dirty="0"/>
          </a:p>
        </p:txBody>
      </p:sp>
      <p:pic>
        <p:nvPicPr>
          <p:cNvPr id="31" name="Image 2" descr="/home/claude/assets/cije_mark.png">
            <a:extLst>
              <a:ext uri="{FF2B5EF4-FFF2-40B4-BE49-F238E27FC236}">
                <a16:creationId xmlns:a16="http://schemas.microsoft.com/office/drawing/2014/main" id="{1E723E6F-9729-2AF2-FF63-9895822E05C3}"/>
              </a:ext>
            </a:extLst>
          </p:cNvPr>
          <p:cNvPicPr>
            <a:picLocks noChangeAspect="1"/>
          </p:cNvPicPr>
          <p:nvPr/>
        </p:nvPicPr>
        <p:blipFill>
          <a:blip r:embed="rId9">
            <a:alphaModFix amt="75000"/>
          </a:blip>
          <a:stretch>
            <a:fillRect/>
          </a:stretch>
        </p:blipFill>
        <p:spPr>
          <a:xfrm>
            <a:off x="11448288" y="6419088"/>
            <a:ext cx="512064" cy="34564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38912"/>
            <a:ext cx="10515600" cy="274320"/>
          </a:xfrm>
          <a:prstGeom prst="rect">
            <a:avLst/>
          </a:prstGeom>
          <a:noFill/>
          <a:ln/>
        </p:spPr>
        <p:txBody>
          <a:bodyPr wrap="square" lIns="0" tIns="0" rIns="0" bIns="0" rtlCol="0" anchor="ctr"/>
          <a:lstStyle/>
          <a:p>
            <a:pPr marL="0" indent="0">
              <a:buNone/>
            </a:pPr>
            <a:r>
              <a:rPr lang="en-US" sz="1200" b="1" kern="0" spc="300" dirty="0">
                <a:solidFill>
                  <a:srgbClr val="4A6472"/>
                </a:solidFill>
                <a:latin typeface="Calibri" pitchFamily="34" charset="0"/>
                <a:ea typeface="Calibri" pitchFamily="34" charset="-122"/>
                <a:cs typeface="Calibri" pitchFamily="34" charset="-120"/>
              </a:rPr>
              <a:t>TAKE IT WITH YOU</a:t>
            </a:r>
            <a:endParaRPr lang="en-US" sz="1200" dirty="0"/>
          </a:p>
        </p:txBody>
      </p:sp>
      <p:sp>
        <p:nvSpPr>
          <p:cNvPr id="3" name="Text 1"/>
          <p:cNvSpPr/>
          <p:nvPr/>
        </p:nvSpPr>
        <p:spPr>
          <a:xfrm>
            <a:off x="548640" y="731520"/>
            <a:ext cx="11064240" cy="658368"/>
          </a:xfrm>
          <a:prstGeom prst="rect">
            <a:avLst/>
          </a:prstGeom>
          <a:noFill/>
          <a:ln/>
        </p:spPr>
        <p:txBody>
          <a:bodyPr wrap="square" lIns="0" tIns="0" rIns="0" bIns="0" rtlCol="0" anchor="ctr"/>
          <a:lstStyle/>
          <a:p>
            <a:pPr marL="0" indent="0">
              <a:buNone/>
            </a:pPr>
            <a:r>
              <a:rPr lang="en-US" sz="3000" b="1" dirty="0">
                <a:solidFill>
                  <a:srgbClr val="33291F"/>
                </a:solidFill>
                <a:latin typeface="Cambria" pitchFamily="34" charset="0"/>
                <a:ea typeface="Cambria" pitchFamily="34" charset="-122"/>
                <a:cs typeface="Cambria" pitchFamily="34" charset="-120"/>
              </a:rPr>
              <a:t>A field guide to the vocabulary</a:t>
            </a:r>
            <a:endParaRPr lang="en-US" sz="3000" dirty="0"/>
          </a:p>
        </p:txBody>
      </p:sp>
      <p:sp>
        <p:nvSpPr>
          <p:cNvPr id="4" name="Shape 2"/>
          <p:cNvSpPr/>
          <p:nvPr/>
        </p:nvSpPr>
        <p:spPr>
          <a:xfrm>
            <a:off x="548640" y="1645920"/>
            <a:ext cx="3017520" cy="512064"/>
          </a:xfrm>
          <a:prstGeom prst="rect">
            <a:avLst/>
          </a:prstGeom>
          <a:solidFill>
            <a:srgbClr val="EDE6D6"/>
          </a:solidFill>
          <a:ln w="9525">
            <a:solidFill>
              <a:srgbClr val="DDD3BF"/>
            </a:solidFill>
            <a:prstDash val="solid"/>
          </a:ln>
        </p:spPr>
        <p:txBody>
          <a:bodyPr/>
          <a:lstStyle/>
          <a:p>
            <a:endParaRPr lang="en-US"/>
          </a:p>
        </p:txBody>
      </p:sp>
      <p:sp>
        <p:nvSpPr>
          <p:cNvPr id="5" name="Shape 3"/>
          <p:cNvSpPr/>
          <p:nvPr/>
        </p:nvSpPr>
        <p:spPr>
          <a:xfrm>
            <a:off x="3566160" y="1645920"/>
            <a:ext cx="8074152" cy="512064"/>
          </a:xfrm>
          <a:prstGeom prst="rect">
            <a:avLst/>
          </a:prstGeom>
          <a:solidFill>
            <a:srgbClr val="F3EEE3"/>
          </a:solidFill>
          <a:ln w="9525">
            <a:solidFill>
              <a:srgbClr val="DDD3BF"/>
            </a:solidFill>
            <a:prstDash val="solid"/>
          </a:ln>
        </p:spPr>
        <p:txBody>
          <a:bodyPr/>
          <a:lstStyle/>
          <a:p>
            <a:endParaRPr lang="en-US"/>
          </a:p>
        </p:txBody>
      </p:sp>
      <p:sp>
        <p:nvSpPr>
          <p:cNvPr id="6" name="Text 4"/>
          <p:cNvSpPr/>
          <p:nvPr/>
        </p:nvSpPr>
        <p:spPr>
          <a:xfrm>
            <a:off x="731520" y="1645920"/>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Repository (repo)</a:t>
            </a:r>
            <a:endParaRPr lang="en-US" sz="1350" dirty="0"/>
          </a:p>
        </p:txBody>
      </p:sp>
      <p:sp>
        <p:nvSpPr>
          <p:cNvPr id="7" name="Text 5"/>
          <p:cNvSpPr/>
          <p:nvPr/>
        </p:nvSpPr>
        <p:spPr>
          <a:xfrm>
            <a:off x="3794760" y="1645920"/>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A project's complete home: files, docs, and its entire history</a:t>
            </a:r>
            <a:endParaRPr lang="en-US" sz="1250" dirty="0"/>
          </a:p>
        </p:txBody>
      </p:sp>
      <p:sp>
        <p:nvSpPr>
          <p:cNvPr id="8" name="Shape 6"/>
          <p:cNvSpPr/>
          <p:nvPr/>
        </p:nvSpPr>
        <p:spPr>
          <a:xfrm>
            <a:off x="548640" y="2157984"/>
            <a:ext cx="3017520" cy="512064"/>
          </a:xfrm>
          <a:prstGeom prst="rect">
            <a:avLst/>
          </a:prstGeom>
          <a:solidFill>
            <a:srgbClr val="F3EEE3"/>
          </a:solidFill>
          <a:ln w="9525">
            <a:solidFill>
              <a:srgbClr val="DDD3BF"/>
            </a:solidFill>
            <a:prstDash val="solid"/>
          </a:ln>
        </p:spPr>
        <p:txBody>
          <a:bodyPr/>
          <a:lstStyle/>
          <a:p>
            <a:endParaRPr lang="en-US"/>
          </a:p>
        </p:txBody>
      </p:sp>
      <p:sp>
        <p:nvSpPr>
          <p:cNvPr id="9" name="Shape 7"/>
          <p:cNvSpPr/>
          <p:nvPr/>
        </p:nvSpPr>
        <p:spPr>
          <a:xfrm>
            <a:off x="3566160" y="2157984"/>
            <a:ext cx="8074152" cy="512064"/>
          </a:xfrm>
          <a:prstGeom prst="rect">
            <a:avLst/>
          </a:prstGeom>
          <a:solidFill>
            <a:srgbClr val="FFFFFF"/>
          </a:solidFill>
          <a:ln w="9525">
            <a:solidFill>
              <a:srgbClr val="DDD3BF"/>
            </a:solidFill>
            <a:prstDash val="solid"/>
          </a:ln>
        </p:spPr>
        <p:txBody>
          <a:bodyPr/>
          <a:lstStyle/>
          <a:p>
            <a:endParaRPr lang="en-US"/>
          </a:p>
        </p:txBody>
      </p:sp>
      <p:sp>
        <p:nvSpPr>
          <p:cNvPr id="10" name="Text 8"/>
          <p:cNvSpPr/>
          <p:nvPr/>
        </p:nvSpPr>
        <p:spPr>
          <a:xfrm>
            <a:off x="731520" y="2157984"/>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Clone</a:t>
            </a:r>
            <a:endParaRPr lang="en-US" sz="1350" dirty="0"/>
          </a:p>
        </p:txBody>
      </p:sp>
      <p:sp>
        <p:nvSpPr>
          <p:cNvPr id="11" name="Text 9"/>
          <p:cNvSpPr/>
          <p:nvPr/>
        </p:nvSpPr>
        <p:spPr>
          <a:xfrm>
            <a:off x="3794760" y="2157984"/>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Download a full working copy of a repo to your own computer</a:t>
            </a:r>
            <a:endParaRPr lang="en-US" sz="1250" dirty="0"/>
          </a:p>
        </p:txBody>
      </p:sp>
      <p:sp>
        <p:nvSpPr>
          <p:cNvPr id="12" name="Shape 10"/>
          <p:cNvSpPr/>
          <p:nvPr/>
        </p:nvSpPr>
        <p:spPr>
          <a:xfrm>
            <a:off x="548640" y="2670048"/>
            <a:ext cx="3017520" cy="512064"/>
          </a:xfrm>
          <a:prstGeom prst="rect">
            <a:avLst/>
          </a:prstGeom>
          <a:solidFill>
            <a:srgbClr val="EDE6D6"/>
          </a:solidFill>
          <a:ln w="9525">
            <a:solidFill>
              <a:srgbClr val="DDD3BF"/>
            </a:solidFill>
            <a:prstDash val="solid"/>
          </a:ln>
        </p:spPr>
        <p:txBody>
          <a:bodyPr/>
          <a:lstStyle/>
          <a:p>
            <a:endParaRPr lang="en-US"/>
          </a:p>
        </p:txBody>
      </p:sp>
      <p:sp>
        <p:nvSpPr>
          <p:cNvPr id="13" name="Shape 11"/>
          <p:cNvSpPr/>
          <p:nvPr/>
        </p:nvSpPr>
        <p:spPr>
          <a:xfrm>
            <a:off x="3566160" y="2670048"/>
            <a:ext cx="8074152" cy="512064"/>
          </a:xfrm>
          <a:prstGeom prst="rect">
            <a:avLst/>
          </a:prstGeom>
          <a:solidFill>
            <a:srgbClr val="F3EEE3"/>
          </a:solidFill>
          <a:ln w="9525">
            <a:solidFill>
              <a:srgbClr val="DDD3BF"/>
            </a:solidFill>
            <a:prstDash val="solid"/>
          </a:ln>
        </p:spPr>
        <p:txBody>
          <a:bodyPr/>
          <a:lstStyle/>
          <a:p>
            <a:endParaRPr lang="en-US"/>
          </a:p>
        </p:txBody>
      </p:sp>
      <p:sp>
        <p:nvSpPr>
          <p:cNvPr id="14" name="Text 12"/>
          <p:cNvSpPr/>
          <p:nvPr/>
        </p:nvSpPr>
        <p:spPr>
          <a:xfrm>
            <a:off x="731520" y="2670048"/>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Commit</a:t>
            </a:r>
            <a:endParaRPr lang="en-US" sz="1350" dirty="0"/>
          </a:p>
        </p:txBody>
      </p:sp>
      <p:sp>
        <p:nvSpPr>
          <p:cNvPr id="15" name="Text 13"/>
          <p:cNvSpPr/>
          <p:nvPr/>
        </p:nvSpPr>
        <p:spPr>
          <a:xfrm>
            <a:off x="3794760" y="2670048"/>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A saved snapshot of your changes, stamped with a message explaining why</a:t>
            </a:r>
            <a:endParaRPr lang="en-US" sz="1250" dirty="0"/>
          </a:p>
        </p:txBody>
      </p:sp>
      <p:sp>
        <p:nvSpPr>
          <p:cNvPr id="16" name="Shape 14"/>
          <p:cNvSpPr/>
          <p:nvPr/>
        </p:nvSpPr>
        <p:spPr>
          <a:xfrm>
            <a:off x="548640" y="3182112"/>
            <a:ext cx="3017520" cy="512064"/>
          </a:xfrm>
          <a:prstGeom prst="rect">
            <a:avLst/>
          </a:prstGeom>
          <a:solidFill>
            <a:srgbClr val="F3EEE3"/>
          </a:solidFill>
          <a:ln w="9525">
            <a:solidFill>
              <a:srgbClr val="DDD3BF"/>
            </a:solidFill>
            <a:prstDash val="solid"/>
          </a:ln>
        </p:spPr>
        <p:txBody>
          <a:bodyPr/>
          <a:lstStyle/>
          <a:p>
            <a:endParaRPr lang="en-US"/>
          </a:p>
        </p:txBody>
      </p:sp>
      <p:sp>
        <p:nvSpPr>
          <p:cNvPr id="17" name="Shape 15"/>
          <p:cNvSpPr/>
          <p:nvPr/>
        </p:nvSpPr>
        <p:spPr>
          <a:xfrm>
            <a:off x="3566160" y="3182112"/>
            <a:ext cx="8074152" cy="512064"/>
          </a:xfrm>
          <a:prstGeom prst="rect">
            <a:avLst/>
          </a:prstGeom>
          <a:solidFill>
            <a:srgbClr val="FFFFFF"/>
          </a:solidFill>
          <a:ln w="9525">
            <a:solidFill>
              <a:srgbClr val="DDD3BF"/>
            </a:solidFill>
            <a:prstDash val="solid"/>
          </a:ln>
        </p:spPr>
        <p:txBody>
          <a:bodyPr/>
          <a:lstStyle/>
          <a:p>
            <a:endParaRPr lang="en-US"/>
          </a:p>
        </p:txBody>
      </p:sp>
      <p:sp>
        <p:nvSpPr>
          <p:cNvPr id="18" name="Text 16"/>
          <p:cNvSpPr/>
          <p:nvPr/>
        </p:nvSpPr>
        <p:spPr>
          <a:xfrm>
            <a:off x="731520" y="3182112"/>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Push / Pull</a:t>
            </a:r>
            <a:endParaRPr lang="en-US" sz="1350" dirty="0"/>
          </a:p>
        </p:txBody>
      </p:sp>
      <p:sp>
        <p:nvSpPr>
          <p:cNvPr id="19" name="Text 17"/>
          <p:cNvSpPr/>
          <p:nvPr/>
        </p:nvSpPr>
        <p:spPr>
          <a:xfrm>
            <a:off x="3794760" y="3182112"/>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Send your commits up to GitHub / bring down everyone else's</a:t>
            </a:r>
            <a:endParaRPr lang="en-US" sz="1250" dirty="0"/>
          </a:p>
        </p:txBody>
      </p:sp>
      <p:sp>
        <p:nvSpPr>
          <p:cNvPr id="20" name="Shape 18"/>
          <p:cNvSpPr/>
          <p:nvPr/>
        </p:nvSpPr>
        <p:spPr>
          <a:xfrm>
            <a:off x="548640" y="3694176"/>
            <a:ext cx="3017520" cy="512064"/>
          </a:xfrm>
          <a:prstGeom prst="rect">
            <a:avLst/>
          </a:prstGeom>
          <a:solidFill>
            <a:srgbClr val="EDE6D6"/>
          </a:solidFill>
          <a:ln w="9525">
            <a:solidFill>
              <a:srgbClr val="DDD3BF"/>
            </a:solidFill>
            <a:prstDash val="solid"/>
          </a:ln>
        </p:spPr>
        <p:txBody>
          <a:bodyPr/>
          <a:lstStyle/>
          <a:p>
            <a:endParaRPr lang="en-US"/>
          </a:p>
        </p:txBody>
      </p:sp>
      <p:sp>
        <p:nvSpPr>
          <p:cNvPr id="21" name="Shape 19"/>
          <p:cNvSpPr/>
          <p:nvPr/>
        </p:nvSpPr>
        <p:spPr>
          <a:xfrm>
            <a:off x="3566160" y="3694176"/>
            <a:ext cx="8074152" cy="512064"/>
          </a:xfrm>
          <a:prstGeom prst="rect">
            <a:avLst/>
          </a:prstGeom>
          <a:solidFill>
            <a:srgbClr val="F3EEE3"/>
          </a:solidFill>
          <a:ln w="9525">
            <a:solidFill>
              <a:srgbClr val="DDD3BF"/>
            </a:solidFill>
            <a:prstDash val="solid"/>
          </a:ln>
        </p:spPr>
        <p:txBody>
          <a:bodyPr/>
          <a:lstStyle/>
          <a:p>
            <a:endParaRPr lang="en-US"/>
          </a:p>
        </p:txBody>
      </p:sp>
      <p:sp>
        <p:nvSpPr>
          <p:cNvPr id="22" name="Text 20"/>
          <p:cNvSpPr/>
          <p:nvPr/>
        </p:nvSpPr>
        <p:spPr>
          <a:xfrm>
            <a:off x="731520" y="3694176"/>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Branch</a:t>
            </a:r>
            <a:endParaRPr lang="en-US" sz="1350" dirty="0"/>
          </a:p>
        </p:txBody>
      </p:sp>
      <p:sp>
        <p:nvSpPr>
          <p:cNvPr id="23" name="Text 21"/>
          <p:cNvSpPr/>
          <p:nvPr/>
        </p:nvSpPr>
        <p:spPr>
          <a:xfrm>
            <a:off x="3794760" y="3694176"/>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A safe parallel timeline for trying things without touching main</a:t>
            </a:r>
            <a:endParaRPr lang="en-US" sz="1250" dirty="0"/>
          </a:p>
        </p:txBody>
      </p:sp>
      <p:sp>
        <p:nvSpPr>
          <p:cNvPr id="24" name="Shape 22"/>
          <p:cNvSpPr/>
          <p:nvPr/>
        </p:nvSpPr>
        <p:spPr>
          <a:xfrm>
            <a:off x="548640" y="4206240"/>
            <a:ext cx="3017520" cy="512064"/>
          </a:xfrm>
          <a:prstGeom prst="rect">
            <a:avLst/>
          </a:prstGeom>
          <a:solidFill>
            <a:srgbClr val="F3EEE3"/>
          </a:solidFill>
          <a:ln w="9525">
            <a:solidFill>
              <a:srgbClr val="DDD3BF"/>
            </a:solidFill>
            <a:prstDash val="solid"/>
          </a:ln>
        </p:spPr>
        <p:txBody>
          <a:bodyPr/>
          <a:lstStyle/>
          <a:p>
            <a:endParaRPr lang="en-US"/>
          </a:p>
        </p:txBody>
      </p:sp>
      <p:sp>
        <p:nvSpPr>
          <p:cNvPr id="25" name="Shape 23"/>
          <p:cNvSpPr/>
          <p:nvPr/>
        </p:nvSpPr>
        <p:spPr>
          <a:xfrm>
            <a:off x="3566160" y="4206240"/>
            <a:ext cx="8074152" cy="512064"/>
          </a:xfrm>
          <a:prstGeom prst="rect">
            <a:avLst/>
          </a:prstGeom>
          <a:solidFill>
            <a:srgbClr val="FFFFFF"/>
          </a:solidFill>
          <a:ln w="9525">
            <a:solidFill>
              <a:srgbClr val="DDD3BF"/>
            </a:solidFill>
            <a:prstDash val="solid"/>
          </a:ln>
        </p:spPr>
        <p:txBody>
          <a:bodyPr/>
          <a:lstStyle/>
          <a:p>
            <a:endParaRPr lang="en-US"/>
          </a:p>
        </p:txBody>
      </p:sp>
      <p:sp>
        <p:nvSpPr>
          <p:cNvPr id="26" name="Text 24"/>
          <p:cNvSpPr/>
          <p:nvPr/>
        </p:nvSpPr>
        <p:spPr>
          <a:xfrm>
            <a:off x="731520" y="4206240"/>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Merge</a:t>
            </a:r>
            <a:endParaRPr lang="en-US" sz="1350" dirty="0"/>
          </a:p>
        </p:txBody>
      </p:sp>
      <p:sp>
        <p:nvSpPr>
          <p:cNvPr id="27" name="Text 25"/>
          <p:cNvSpPr/>
          <p:nvPr/>
        </p:nvSpPr>
        <p:spPr>
          <a:xfrm>
            <a:off x="3794760" y="4206240"/>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Fold a branch's finished work back into the main project</a:t>
            </a:r>
            <a:endParaRPr lang="en-US" sz="1250" dirty="0"/>
          </a:p>
        </p:txBody>
      </p:sp>
      <p:sp>
        <p:nvSpPr>
          <p:cNvPr id="28" name="Shape 26"/>
          <p:cNvSpPr/>
          <p:nvPr/>
        </p:nvSpPr>
        <p:spPr>
          <a:xfrm>
            <a:off x="548640" y="4718304"/>
            <a:ext cx="3017520" cy="512064"/>
          </a:xfrm>
          <a:prstGeom prst="rect">
            <a:avLst/>
          </a:prstGeom>
          <a:solidFill>
            <a:srgbClr val="EDE6D6"/>
          </a:solidFill>
          <a:ln w="9525">
            <a:solidFill>
              <a:srgbClr val="DDD3BF"/>
            </a:solidFill>
            <a:prstDash val="solid"/>
          </a:ln>
        </p:spPr>
        <p:txBody>
          <a:bodyPr/>
          <a:lstStyle/>
          <a:p>
            <a:endParaRPr lang="en-US"/>
          </a:p>
        </p:txBody>
      </p:sp>
      <p:sp>
        <p:nvSpPr>
          <p:cNvPr id="29" name="Shape 27"/>
          <p:cNvSpPr/>
          <p:nvPr/>
        </p:nvSpPr>
        <p:spPr>
          <a:xfrm>
            <a:off x="3566160" y="4718304"/>
            <a:ext cx="8074152" cy="512064"/>
          </a:xfrm>
          <a:prstGeom prst="rect">
            <a:avLst/>
          </a:prstGeom>
          <a:solidFill>
            <a:srgbClr val="F3EEE3"/>
          </a:solidFill>
          <a:ln w="9525">
            <a:solidFill>
              <a:srgbClr val="DDD3BF"/>
            </a:solidFill>
            <a:prstDash val="solid"/>
          </a:ln>
        </p:spPr>
        <p:txBody>
          <a:bodyPr/>
          <a:lstStyle/>
          <a:p>
            <a:endParaRPr lang="en-US"/>
          </a:p>
        </p:txBody>
      </p:sp>
      <p:sp>
        <p:nvSpPr>
          <p:cNvPr id="30" name="Text 28"/>
          <p:cNvSpPr/>
          <p:nvPr/>
        </p:nvSpPr>
        <p:spPr>
          <a:xfrm>
            <a:off x="731520" y="4718304"/>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Pull request (PR)</a:t>
            </a:r>
            <a:endParaRPr lang="en-US" sz="1350" dirty="0"/>
          </a:p>
        </p:txBody>
      </p:sp>
      <p:sp>
        <p:nvSpPr>
          <p:cNvPr id="31" name="Text 29"/>
          <p:cNvSpPr/>
          <p:nvPr/>
        </p:nvSpPr>
        <p:spPr>
          <a:xfrm>
            <a:off x="3794760" y="4718304"/>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"Please review my changes before they merge": collaboration's front door</a:t>
            </a:r>
            <a:endParaRPr lang="en-US" sz="1250" dirty="0"/>
          </a:p>
        </p:txBody>
      </p:sp>
      <p:sp>
        <p:nvSpPr>
          <p:cNvPr id="32" name="Shape 30"/>
          <p:cNvSpPr/>
          <p:nvPr/>
        </p:nvSpPr>
        <p:spPr>
          <a:xfrm>
            <a:off x="548640" y="5230368"/>
            <a:ext cx="3017520" cy="512064"/>
          </a:xfrm>
          <a:prstGeom prst="rect">
            <a:avLst/>
          </a:prstGeom>
          <a:solidFill>
            <a:srgbClr val="F3EEE3"/>
          </a:solidFill>
          <a:ln w="9525">
            <a:solidFill>
              <a:srgbClr val="DDD3BF"/>
            </a:solidFill>
            <a:prstDash val="solid"/>
          </a:ln>
        </p:spPr>
        <p:txBody>
          <a:bodyPr/>
          <a:lstStyle/>
          <a:p>
            <a:endParaRPr lang="en-US"/>
          </a:p>
        </p:txBody>
      </p:sp>
      <p:sp>
        <p:nvSpPr>
          <p:cNvPr id="33" name="Shape 31"/>
          <p:cNvSpPr/>
          <p:nvPr/>
        </p:nvSpPr>
        <p:spPr>
          <a:xfrm>
            <a:off x="3566160" y="5230368"/>
            <a:ext cx="8074152" cy="512064"/>
          </a:xfrm>
          <a:prstGeom prst="rect">
            <a:avLst/>
          </a:prstGeom>
          <a:solidFill>
            <a:srgbClr val="FFFFFF"/>
          </a:solidFill>
          <a:ln w="9525">
            <a:solidFill>
              <a:srgbClr val="DDD3BF"/>
            </a:solidFill>
            <a:prstDash val="solid"/>
          </a:ln>
        </p:spPr>
        <p:txBody>
          <a:bodyPr/>
          <a:lstStyle/>
          <a:p>
            <a:endParaRPr lang="en-US"/>
          </a:p>
        </p:txBody>
      </p:sp>
      <p:sp>
        <p:nvSpPr>
          <p:cNvPr id="34" name="Text 32"/>
          <p:cNvSpPr/>
          <p:nvPr/>
        </p:nvSpPr>
        <p:spPr>
          <a:xfrm>
            <a:off x="731520" y="5230368"/>
            <a:ext cx="2743200" cy="512064"/>
          </a:xfrm>
          <a:prstGeom prst="rect">
            <a:avLst/>
          </a:prstGeom>
          <a:noFill/>
          <a:ln/>
        </p:spPr>
        <p:txBody>
          <a:bodyPr wrap="square" lIns="0" tIns="0" rIns="0" bIns="0" rtlCol="0" anchor="ctr"/>
          <a:lstStyle/>
          <a:p>
            <a:pPr marL="0" indent="0">
              <a:buNone/>
            </a:pPr>
            <a:r>
              <a:rPr lang="en-US" sz="1350" b="1" dirty="0">
                <a:solidFill>
                  <a:srgbClr val="B0552F"/>
                </a:solidFill>
                <a:latin typeface="Cambria" pitchFamily="34" charset="0"/>
                <a:ea typeface="Cambria" pitchFamily="34" charset="-122"/>
                <a:cs typeface="Cambria" pitchFamily="34" charset="-120"/>
              </a:rPr>
              <a:t>Fork</a:t>
            </a:r>
            <a:endParaRPr lang="en-US" sz="1350" dirty="0"/>
          </a:p>
        </p:txBody>
      </p:sp>
      <p:sp>
        <p:nvSpPr>
          <p:cNvPr id="35" name="Text 33"/>
          <p:cNvSpPr/>
          <p:nvPr/>
        </p:nvSpPr>
        <p:spPr>
          <a:xfrm>
            <a:off x="3794760" y="5230368"/>
            <a:ext cx="7680960" cy="512064"/>
          </a:xfrm>
          <a:prstGeom prst="rect">
            <a:avLst/>
          </a:prstGeom>
          <a:noFill/>
          <a:ln/>
        </p:spPr>
        <p:txBody>
          <a:bodyPr wrap="square" lIns="0" tIns="0" rIns="0" bIns="0" rtlCol="0" anchor="ctr"/>
          <a:lstStyle/>
          <a:p>
            <a:pPr marL="0" indent="0">
              <a:buNone/>
            </a:pPr>
            <a:r>
              <a:rPr lang="en-US" sz="1250" dirty="0">
                <a:solidFill>
                  <a:srgbClr val="4A3C2C"/>
                </a:solidFill>
                <a:latin typeface="Calibri" pitchFamily="34" charset="0"/>
                <a:ea typeface="Calibri" pitchFamily="34" charset="-122"/>
                <a:cs typeface="Calibri" pitchFamily="34" charset="-120"/>
              </a:rPr>
              <a:t>Your own full copy of someone else's repo, yours to take anywhere</a:t>
            </a:r>
            <a:endParaRPr lang="en-US" sz="1250" dirty="0"/>
          </a:p>
        </p:txBody>
      </p:sp>
      <p:sp>
        <p:nvSpPr>
          <p:cNvPr id="36" name="Text 34"/>
          <p:cNvSpPr/>
          <p:nvPr/>
        </p:nvSpPr>
        <p:spPr>
          <a:xfrm>
            <a:off x="548640" y="5897880"/>
            <a:ext cx="11091672" cy="365760"/>
          </a:xfrm>
          <a:prstGeom prst="rect">
            <a:avLst/>
          </a:prstGeom>
          <a:noFill/>
          <a:ln/>
        </p:spPr>
        <p:txBody>
          <a:bodyPr wrap="square" lIns="0" tIns="0" rIns="0" bIns="0" rtlCol="0" anchor="ctr"/>
          <a:lstStyle/>
          <a:p>
            <a:pPr marL="0" indent="0" algn="ctr">
              <a:buNone/>
            </a:pPr>
            <a:r>
              <a:rPr lang="en-US" sz="1250" i="1" dirty="0">
                <a:solidFill>
                  <a:srgbClr val="4A6472"/>
                </a:solidFill>
                <a:latin typeface="Calibri" pitchFamily="34" charset="0"/>
                <a:ea typeface="Calibri" pitchFamily="34" charset="-122"/>
                <a:cs typeface="Calibri" pitchFamily="34" charset="-120"/>
              </a:rPr>
              <a:t>Print me: this table doubles as a classroom poster.</a:t>
            </a:r>
            <a:endParaRPr lang="en-US" sz="1250" dirty="0"/>
          </a:p>
        </p:txBody>
      </p:sp>
      <p:pic>
        <p:nvPicPr>
          <p:cNvPr id="37" name="Image 2" descr="/home/claude/assets/cije_mark.png">
            <a:extLst>
              <a:ext uri="{FF2B5EF4-FFF2-40B4-BE49-F238E27FC236}">
                <a16:creationId xmlns:a16="http://schemas.microsoft.com/office/drawing/2014/main" id="{BD04DA3F-4477-8053-6510-1981EAF03898}"/>
              </a:ext>
            </a:extLst>
          </p:cNvPr>
          <p:cNvPicPr>
            <a:picLocks noChangeAspect="1"/>
          </p:cNvPicPr>
          <p:nvPr/>
        </p:nvPicPr>
        <p:blipFill>
          <a:blip r:embed="rId3">
            <a:alphaModFix amt="75000"/>
          </a:blip>
          <a:stretch>
            <a:fillRect/>
          </a:stretch>
        </p:blipFill>
        <p:spPr>
          <a:xfrm>
            <a:off x="11448288" y="6419088"/>
            <a:ext cx="512064" cy="3456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329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5000"/>
          </a:blip>
          <a:stretch>
            <a:fillRect/>
          </a:stretch>
        </p:blipFill>
        <p:spPr>
          <a:xfrm>
            <a:off x="914400" y="822960"/>
            <a:ext cx="640080" cy="640080"/>
          </a:xfrm>
          <a:prstGeom prst="rect">
            <a:avLst/>
          </a:prstGeom>
        </p:spPr>
      </p:pic>
      <p:pic>
        <p:nvPicPr>
          <p:cNvPr id="3" name="Image 1" descr="preencoded.png"/>
          <p:cNvPicPr>
            <a:picLocks noChangeAspect="1"/>
          </p:cNvPicPr>
          <p:nvPr/>
        </p:nvPicPr>
        <p:blipFill>
          <a:blip r:embed="rId4">
            <a:alphaModFix amt="75000"/>
          </a:blip>
          <a:stretch>
            <a:fillRect/>
          </a:stretch>
        </p:blipFill>
        <p:spPr>
          <a:xfrm>
            <a:off x="10698480" y="914400"/>
            <a:ext cx="640080" cy="640080"/>
          </a:xfrm>
          <a:prstGeom prst="rect">
            <a:avLst/>
          </a:prstGeom>
        </p:spPr>
      </p:pic>
      <p:pic>
        <p:nvPicPr>
          <p:cNvPr id="4" name="Image 2" descr="preencoded.png"/>
          <p:cNvPicPr>
            <a:picLocks noChangeAspect="1"/>
          </p:cNvPicPr>
          <p:nvPr/>
        </p:nvPicPr>
        <p:blipFill>
          <a:blip r:embed="rId5">
            <a:alphaModFix amt="75000"/>
          </a:blip>
          <a:stretch>
            <a:fillRect/>
          </a:stretch>
        </p:blipFill>
        <p:spPr>
          <a:xfrm>
            <a:off x="1371600" y="5486400"/>
            <a:ext cx="548640" cy="548640"/>
          </a:xfrm>
          <a:prstGeom prst="rect">
            <a:avLst/>
          </a:prstGeom>
        </p:spPr>
      </p:pic>
      <p:pic>
        <p:nvPicPr>
          <p:cNvPr id="5" name="Image 3" descr="preencoded.png"/>
          <p:cNvPicPr>
            <a:picLocks noChangeAspect="1"/>
          </p:cNvPicPr>
          <p:nvPr/>
        </p:nvPicPr>
        <p:blipFill>
          <a:blip r:embed="rId6">
            <a:alphaModFix amt="75000"/>
          </a:blip>
          <a:stretch>
            <a:fillRect/>
          </a:stretch>
        </p:blipFill>
        <p:spPr>
          <a:xfrm>
            <a:off x="10424160" y="5394960"/>
            <a:ext cx="594360" cy="594360"/>
          </a:xfrm>
          <a:prstGeom prst="rect">
            <a:avLst/>
          </a:prstGeom>
        </p:spPr>
      </p:pic>
      <p:sp>
        <p:nvSpPr>
          <p:cNvPr id="6" name="Text 0"/>
          <p:cNvSpPr/>
          <p:nvPr/>
        </p:nvSpPr>
        <p:spPr>
          <a:xfrm>
            <a:off x="548640" y="1737360"/>
            <a:ext cx="11091672" cy="731520"/>
          </a:xfrm>
          <a:prstGeom prst="rect">
            <a:avLst/>
          </a:prstGeom>
          <a:noFill/>
          <a:ln/>
        </p:spPr>
        <p:txBody>
          <a:bodyPr wrap="square" lIns="0" tIns="0" rIns="0" bIns="0" rtlCol="0" anchor="ctr"/>
          <a:lstStyle/>
          <a:p>
            <a:pPr marL="0" indent="0" algn="ctr">
              <a:buNone/>
            </a:pPr>
            <a:r>
              <a:rPr lang="en-US" sz="3800" b="1" dirty="0">
                <a:solidFill>
                  <a:srgbClr val="F3EEE3"/>
                </a:solidFill>
                <a:latin typeface="Cambria" pitchFamily="34" charset="0"/>
                <a:ea typeface="Cambria" pitchFamily="34" charset="-122"/>
                <a:cs typeface="Cambria" pitchFamily="34" charset="-120"/>
              </a:rPr>
              <a:t>Remember the library</a:t>
            </a:r>
            <a:endParaRPr lang="en-US" sz="3800" dirty="0"/>
          </a:p>
        </p:txBody>
      </p:sp>
      <p:sp>
        <p:nvSpPr>
          <p:cNvPr id="7" name="Text 1"/>
          <p:cNvSpPr/>
          <p:nvPr/>
        </p:nvSpPr>
        <p:spPr>
          <a:xfrm>
            <a:off x="548640" y="2606040"/>
            <a:ext cx="11091672" cy="868680"/>
          </a:xfrm>
          <a:prstGeom prst="rect">
            <a:avLst/>
          </a:prstGeom>
          <a:noFill/>
          <a:ln/>
        </p:spPr>
        <p:txBody>
          <a:bodyPr wrap="square" lIns="0" tIns="0" rIns="0" bIns="0" rtlCol="0" anchor="ctr"/>
          <a:lstStyle/>
          <a:p>
            <a:pPr marL="0" indent="0" algn="ctr">
              <a:lnSpc>
                <a:spcPct val="115000"/>
              </a:lnSpc>
              <a:buNone/>
            </a:pPr>
            <a:r>
              <a:rPr lang="en-US" sz="1800" dirty="0">
                <a:solidFill>
                  <a:srgbClr val="D8CFBB"/>
                </a:solidFill>
                <a:latin typeface="Calibri" pitchFamily="34" charset="0"/>
                <a:ea typeface="Calibri" pitchFamily="34" charset="-122"/>
                <a:cs typeface="Calibri" pitchFamily="34" charset="-120"/>
              </a:rPr>
              <a:t>GitHub does not run your code. It remembers it, protects it,</a:t>
            </a:r>
            <a:endParaRPr lang="en-US" sz="1800" dirty="0"/>
          </a:p>
          <a:p>
            <a:pPr marL="0" indent="0" algn="ctr">
              <a:lnSpc>
                <a:spcPct val="115000"/>
              </a:lnSpc>
              <a:buNone/>
            </a:pPr>
            <a:r>
              <a:rPr lang="en-US" sz="1800" dirty="0">
                <a:solidFill>
                  <a:srgbClr val="D8CFBB"/>
                </a:solidFill>
                <a:latin typeface="Calibri" pitchFamily="34" charset="0"/>
                <a:ea typeface="Calibri" pitchFamily="34" charset="-122"/>
                <a:cs typeface="Calibri" pitchFamily="34" charset="-120"/>
              </a:rPr>
              <a:t>and invites the whole world to build on it.</a:t>
            </a:r>
            <a:endParaRPr lang="en-US" sz="1800" dirty="0"/>
          </a:p>
        </p:txBody>
      </p:sp>
      <p:sp>
        <p:nvSpPr>
          <p:cNvPr id="8" name="Shape 2"/>
          <p:cNvSpPr/>
          <p:nvPr/>
        </p:nvSpPr>
        <p:spPr>
          <a:xfrm>
            <a:off x="5184648" y="3703320"/>
            <a:ext cx="1828800" cy="0"/>
          </a:xfrm>
          <a:prstGeom prst="line">
            <a:avLst/>
          </a:prstGeom>
          <a:noFill/>
          <a:ln w="19050">
            <a:solidFill>
              <a:srgbClr val="B98F35"/>
            </a:solidFill>
            <a:prstDash val="solid"/>
          </a:ln>
        </p:spPr>
        <p:txBody>
          <a:bodyPr/>
          <a:lstStyle/>
          <a:p>
            <a:endParaRPr lang="en-US"/>
          </a:p>
        </p:txBody>
      </p:sp>
      <p:sp>
        <p:nvSpPr>
          <p:cNvPr id="9" name="Text 3"/>
          <p:cNvSpPr/>
          <p:nvPr/>
        </p:nvSpPr>
        <p:spPr>
          <a:xfrm>
            <a:off x="548640" y="3931920"/>
            <a:ext cx="11091672" cy="777240"/>
          </a:xfrm>
          <a:prstGeom prst="rect">
            <a:avLst/>
          </a:prstGeom>
          <a:noFill/>
          <a:ln/>
        </p:spPr>
        <p:txBody>
          <a:bodyPr wrap="square" lIns="0" tIns="0" rIns="0" bIns="0" rtlCol="0" anchor="ctr"/>
          <a:lstStyle/>
          <a:p>
            <a:pPr marL="0" indent="0" algn="ctr">
              <a:lnSpc>
                <a:spcPct val="115000"/>
              </a:lnSpc>
              <a:buNone/>
            </a:pPr>
            <a:r>
              <a:rPr lang="en-US" sz="1500" i="1" dirty="0">
                <a:solidFill>
                  <a:srgbClr val="B8AC93"/>
                </a:solidFill>
                <a:latin typeface="Calibri" pitchFamily="34" charset="0"/>
                <a:ea typeface="Calibri" pitchFamily="34" charset="-122"/>
                <a:cs typeface="Calibri" pitchFamily="34" charset="-120"/>
              </a:rPr>
              <a:t>The processing happens in your kitchen. The collaboration happens in the square.</a:t>
            </a:r>
            <a:endParaRPr lang="en-US" sz="1500" dirty="0"/>
          </a:p>
          <a:p>
            <a:pPr marL="0" indent="0" algn="ctr">
              <a:lnSpc>
                <a:spcPct val="115000"/>
              </a:lnSpc>
              <a:buNone/>
            </a:pPr>
            <a:r>
              <a:rPr lang="en-US" sz="1500" i="1" dirty="0">
                <a:solidFill>
                  <a:srgbClr val="B8AC93"/>
                </a:solidFill>
                <a:latin typeface="Calibri" pitchFamily="34" charset="0"/>
                <a:ea typeface="Calibri" pitchFamily="34" charset="-122"/>
                <a:cs typeface="Calibri" pitchFamily="34" charset="-120"/>
              </a:rPr>
              <a:t>That second part is the revolution.</a:t>
            </a:r>
            <a:endParaRPr lang="en-US" sz="1500" dirty="0"/>
          </a:p>
        </p:txBody>
      </p:sp>
      <p:sp>
        <p:nvSpPr>
          <p:cNvPr id="10" name="Text 4"/>
          <p:cNvSpPr/>
          <p:nvPr/>
        </p:nvSpPr>
        <p:spPr>
          <a:xfrm>
            <a:off x="548640" y="5212080"/>
            <a:ext cx="11091672" cy="365760"/>
          </a:xfrm>
          <a:prstGeom prst="rect">
            <a:avLst/>
          </a:prstGeom>
          <a:noFill/>
          <a:ln/>
        </p:spPr>
        <p:txBody>
          <a:bodyPr wrap="square" lIns="0" tIns="0" rIns="0" bIns="0" rtlCol="0" anchor="ctr"/>
          <a:lstStyle/>
          <a:p>
            <a:pPr marL="0" indent="0" algn="ctr">
              <a:buNone/>
            </a:pPr>
            <a:r>
              <a:rPr lang="en-US" sz="1300" b="1" kern="0" spc="200" dirty="0">
                <a:solidFill>
                  <a:srgbClr val="B98F35"/>
                </a:solidFill>
                <a:latin typeface="Calibri" pitchFamily="34" charset="0"/>
                <a:ea typeface="Calibri" pitchFamily="34" charset="-122"/>
                <a:cs typeface="Calibri" pitchFamily="34" charset="-120"/>
              </a:rPr>
              <a:t>CIJE Innovation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633</TotalTime>
  <Words>2702</Words>
  <Application>Microsoft Macintosh PowerPoint</Application>
  <PresentationFormat>Widescreen</PresentationFormat>
  <Paragraphs>227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Commit to Community - Open Source and GitHub</dc:title>
  <dc:subject>PptxGenJS Presentation</dc:subject>
  <dc:creator>CIJE Innovation</dc:creator>
  <cp:lastModifiedBy>Orly Nadler</cp:lastModifiedBy>
  <cp:revision>2</cp:revision>
  <dcterms:created xsi:type="dcterms:W3CDTF">2026-07-07T04:11:57Z</dcterms:created>
  <dcterms:modified xsi:type="dcterms:W3CDTF">2026-07-07T14:50:27Z</dcterms:modified>
</cp:coreProperties>
</file>