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keep this to 5 minutes flat. The disagreement in the room is the fuel for the rest of the period; you only need to light it, not resolve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and push on 'who benefits'. Diagnostics Only is the subtle one: the photos stay, but a heartbeat still leaves. That nuance sets up the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consent question always gets a laugh, then a surprisingly serious conversation. Let it. The playground question is your escalation if the debate stays too comfortable.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vote is lopsided, ask the minority to speak first so their reasoning is heard before the majority settles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yyeahhh/birdwatch-cam" TargetMode="External"/><Relationship Id="rId2" Type="http://schemas.openxmlformats.org/officeDocument/2006/relationships/hyperlink" Target="https://wiki.dfrobot.com/SKU_DFR1154" TargetMode="External"/><Relationship Id="rId3" Type="http://schemas.openxmlformats.org/officeDocument/2006/relationships/hyperlink" Target="https://ai4k12.org" TargetMode="External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14173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7048" y="2286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CIJE BIRDWATCHER LESSON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527048" y="26974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Sees the Birds?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1527048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lesson on privacy by design, taught by three checkboxes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84648" y="4343400"/>
            <a:ext cx="1828800" cy="0"/>
          </a:xfrm>
          <a:prstGeom prst="line">
            <a:avLst/>
          </a:prstGeom>
          <a:noFill/>
          <a:ln w="19050">
            <a:solidFill>
              <a:srgbClr val="B98F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27048" y="4572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8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 TO 10   ·   ONE 45-MINUTE PERIOD   ·   ENGINEERING &amp; ETHICS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students will walk away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2542032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data the Birdwatcher collects and where each mode sends 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346704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136392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Local Only, Diagnostics Only, and Full Cloud in terms of what is gained and given 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4151376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941064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for a mode choice using evidence, then defend it against a counterargument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" y="495604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956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privacy by design: systems are choices someone made, and students can be the ones choosing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600200"/>
            <a:ext cx="4507992" cy="4160520"/>
          </a:xfrm>
          <a:prstGeom prst="roundRect">
            <a:avLst>
              <a:gd name="adj" fmla="val 1319"/>
            </a:avLst>
          </a:prstGeom>
          <a:solidFill>
            <a:srgbClr val="EDE6D6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79792" y="2331720"/>
            <a:ext cx="384048" cy="384048"/>
          </a:xfrm>
          <a:prstGeom prst="ellipse">
            <a:avLst/>
          </a:prstGeom>
          <a:solidFill>
            <a:srgbClr val="5E7A8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2423160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46720" y="23134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25694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 to 10, groups of 3 to 4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79792" y="3191256"/>
            <a:ext cx="384048" cy="384048"/>
          </a:xfrm>
          <a:prstGeom prst="ellipse">
            <a:avLst/>
          </a:prstGeom>
          <a:solidFill>
            <a:srgbClr val="B0552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3282696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046720" y="3172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046720" y="3429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45-minute period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479792" y="4050792"/>
            <a:ext cx="384048" cy="384048"/>
          </a:xfrm>
          <a:prstGeom prst="ellipse">
            <a:avLst/>
          </a:prstGeom>
          <a:solidFill>
            <a:srgbClr val="B98F35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4142232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046720" y="40325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046720" y="42885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Birdwatcher (or its Config screen on a projector), mode cards, exit tickets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479792" y="4910328"/>
            <a:ext cx="384048" cy="384048"/>
          </a:xfrm>
          <a:prstGeom prst="ellipse">
            <a:avLst/>
          </a:prstGeom>
          <a:solidFill>
            <a:srgbClr val="33291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5001768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046720" y="4892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background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8046720" y="51480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required. The deck carries the technical load.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judgment, not vocabulary.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leave able to defend a data decision, not just define one.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LESSON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privacy setting is the curriculum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school turns its Birdwatcher on, someone has to pick a mode. </a:t>
            </a:r>
            <a:pPr indent="0" marL="0">
              <a:buNone/>
            </a:pPr>
            <a:r>
              <a:rPr lang="en-US" sz="2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checkbox is a values decision wearing a settings menu.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14344" cy="2834640"/>
          </a:xfrm>
          <a:prstGeom prst="roundRect">
            <a:avLst>
              <a:gd name="adj" fmla="val 1935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926080"/>
            <a:ext cx="475488" cy="475488"/>
          </a:xfrm>
          <a:prstGeom prst="ellipse">
            <a:avLst/>
          </a:prstGeom>
          <a:solidFill>
            <a:srgbClr val="B055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0358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874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use watched systems daily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school laptops, and doorbell cameras all made this same choice for them. Here they finally get to see the choice.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7304" y="2606040"/>
            <a:ext cx="3514344" cy="2834640"/>
          </a:xfrm>
          <a:prstGeom prst="roundRect">
            <a:avLst>
              <a:gd name="adj" fmla="val 1935"/>
            </a:avLst>
          </a:prstGeom>
          <a:solidFill>
            <a:srgbClr val="EAF0F2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7344" y="2926080"/>
            <a:ext cx="475488" cy="475488"/>
          </a:xfrm>
          <a:prstGeom prst="ellipse">
            <a:avLst/>
          </a:prstGeom>
          <a:solidFill>
            <a:srgbClr val="5E7A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072" y="303580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7344" y="3566160"/>
            <a:ext cx="2874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tradeoffs, low stakes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57344" y="42976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bird photos. Students can debate sharing, consent, and benefit without anyone's actual privacy on the line.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25968" y="2606040"/>
            <a:ext cx="3514344" cy="2834640"/>
          </a:xfrm>
          <a:prstGeom prst="roundRect">
            <a:avLst>
              <a:gd name="adj" fmla="val 1935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6008" y="2926080"/>
            <a:ext cx="475488" cy="475488"/>
          </a:xfrm>
          <a:prstGeom prst="ellipse">
            <a:avLst/>
          </a:prstGeom>
          <a:solidFill>
            <a:srgbClr val="B98F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03580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6008" y="3566160"/>
            <a:ext cx="2874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engineering habits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446008" y="429768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is how responsible engineers work. Deciding before deploying is the lesson beneath the lesson.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is a set of choices someone made.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period, the students are the someone.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prep: about 20 minutes total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CHECKLIST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2459736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313432"/>
            <a:ext cx="7872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Birdwatcher Configuration tab on the projector, or print the three-mode screenshot if no device is on hand  (5 min)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118104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7872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one mode card set per group: Local Only, Diagnostics Only, Full Cloud, each listing what leaves the building  (5 min)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3776472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630168"/>
            <a:ext cx="7872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exit tickets, one per student  (2 min)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" y="4434840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288536"/>
            <a:ext cx="7872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stakeholder roles for the debate: parent, principal, student, ornithologist who wants the data  (3 min)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" y="509320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946904"/>
            <a:ext cx="7872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your school's camera will actually run after class. Students take the vote seriously when it is real  (5 min)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072" y="2971800"/>
            <a:ext cx="1371600" cy="13716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hardware? No problem.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lesson runs off the Configuration screen image. The debate is the equipment.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45 minutes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35454" cy="3657600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1633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8096" y="2697480"/>
            <a:ext cx="1633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310896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74904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photo, one question: who should get to see this?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2694" y="1737360"/>
            <a:ext cx="2035454" cy="3657600"/>
          </a:xfrm>
          <a:prstGeom prst="roundRect">
            <a:avLst>
              <a:gd name="adj" fmla="val 2695"/>
            </a:avLst>
          </a:prstGeom>
          <a:solidFill>
            <a:srgbClr val="EDE6D6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3862" y="2011680"/>
            <a:ext cx="1633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032150" y="2697480"/>
            <a:ext cx="1633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3862" y="310896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Modes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3862" y="374904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decode the three modes from their cards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6749" y="1737360"/>
            <a:ext cx="2035454" cy="3657600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7917" y="2011680"/>
            <a:ext cx="1633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8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296205" y="2697480"/>
            <a:ext cx="1633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77917" y="310896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Stakeholder Debate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77917" y="374904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argue for the mode that serves them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40803" y="1737360"/>
            <a:ext cx="2035454" cy="3657600"/>
          </a:xfrm>
          <a:prstGeom prst="roundRect">
            <a:avLst>
              <a:gd name="adj" fmla="val 2695"/>
            </a:avLst>
          </a:prstGeom>
          <a:solidFill>
            <a:srgbClr val="EDE6D6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1971" y="2011680"/>
            <a:ext cx="1633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560259" y="2697480"/>
            <a:ext cx="1633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41971" y="310896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1971" y="374904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picks the school's real setting, out loud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4858" y="1737360"/>
            <a:ext cx="2035454" cy="3657600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6026" y="2011680"/>
            <a:ext cx="1633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824314" y="2697480"/>
            <a:ext cx="1633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06026" y="3108960"/>
            <a:ext cx="16331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06026" y="374904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where else was this chosen for you?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debate.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runs long, trim Meet the Modes. The 15 debate minutes are where the learning lives.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· 5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Hook: who should see this photo?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23560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MOVES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253288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453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Birdwatcher capture (any bird photo works)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31012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4453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"A camera at our school took this. Who should be allowed to see it?"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408736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4453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answers cold: just us? our families? scientists? anyone online?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" y="486460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663440"/>
            <a:ext cx="4453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"Before our camera turns on, WE have to answer this. For real."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600200"/>
            <a:ext cx="5193792" cy="4160520"/>
          </a:xfrm>
          <a:prstGeom prst="roundRect">
            <a:avLst>
              <a:gd name="adj" fmla="val 1319"/>
            </a:avLst>
          </a:prstGeom>
          <a:solidFill>
            <a:srgbClr val="EDE6D6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93992" y="2240280"/>
            <a:ext cx="4498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 gut answers. No hands needed, no wrong answers yet. The room should disagree.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93992" y="3429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93992" y="3813048"/>
            <a:ext cx="4498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answering "who cares, it's just birds." Do not fight it here. Bank it: the debate segment will surface why a harmless photo still carries data (location, timestamps, what is visible through the window).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is the win condition.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room splits, the hook worked.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 · 12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Modes: what actually leaves the building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3108960"/>
          </a:xfrm>
          <a:prstGeom prst="roundRect">
            <a:avLst>
              <a:gd name="adj" fmla="val 1765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3329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025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84248"/>
            <a:ext cx="2417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photo stays on the device. Birds viewable only on the school network.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Gains: total control.  Gives up: AI identification, the shared network.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7304" y="1600200"/>
            <a:ext cx="3514344" cy="3108960"/>
          </a:xfrm>
          <a:prstGeom prst="roundRect">
            <a:avLst>
              <a:gd name="adj" fmla="val 1765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7344" y="1892808"/>
            <a:ext cx="457200" cy="457200"/>
          </a:xfrm>
          <a:prstGeom prst="ellipse">
            <a:avLst/>
          </a:prstGeom>
          <a:solidFill>
            <a:srgbClr val="5E7A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072" y="200253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1704" y="1984248"/>
            <a:ext cx="2417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ONLY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57344" y="256032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stay local. A small health heartbeat (uptime, counts) goes to the cloud.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57344" y="356616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Gains: CIJE can help fix it.  Gives up: nothing visible, but data does leave.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25968" y="1600200"/>
            <a:ext cx="3514344" cy="3108960"/>
          </a:xfrm>
          <a:prstGeom prst="roundRect">
            <a:avLst>
              <a:gd name="adj" fmla="val 1765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46008" y="1892808"/>
            <a:ext cx="457200" cy="457200"/>
          </a:xfrm>
          <a:prstGeom prst="ellipse">
            <a:avLst/>
          </a:prstGeom>
          <a:solidFill>
            <a:srgbClr val="B0552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00253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40368" y="1984248"/>
            <a:ext cx="2417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CLOUD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46008" y="256032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go to AI for species ID and join the public multi-school gallery.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446008" y="356616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Gains: identification, community, science.  Gives up: the photos travel.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9377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get all three cards and two minutes per mode to answer: </a:t>
            </a:r>
            <a:pPr indent="0" marL="0">
              <a:buNone/>
            </a:pPr>
            <a:r>
              <a:rPr lang="en-US" sz="13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leaves the building, who benefits, who could be affected?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Only is the tricky one.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visible leaves, but something leaves. Let students discover that themselves.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 · 15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Stakeholder Debate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23560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253288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453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draws a stakeholder role: parent, principal, student, or ornithologist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31012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4453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get 4 minutes to pick the mode their stakeholder wants, with two reasons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408736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4453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gets 90 seconds to make its case to the 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" y="486460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663440"/>
            <a:ext cx="4453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for 4 minutes: groups may challenge one other group's reasoning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600200"/>
            <a:ext cx="5193792" cy="4160520"/>
          </a:xfrm>
          <a:prstGeom prst="roundRect">
            <a:avLst>
              <a:gd name="adj" fmla="val 1319"/>
            </a:avLst>
          </a:prstGeom>
          <a:solidFill>
            <a:srgbClr val="EAF0F2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PROMPTS TO KEEP IT HONEST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93992" y="2313432"/>
            <a:ext cx="4498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do we gain by sharing? What do we give up?"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93992" y="3136392"/>
            <a:ext cx="4498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"Who sees this data, and did anyone ask the birds?"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93992" y="3959352"/>
            <a:ext cx="4498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"Would your answer change if the camera faced the playground?"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4782312"/>
            <a:ext cx="4498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 convenient the same as right?"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roles, not opinions.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Arguing a position they did not choose is where students learn the tradeoffs are real.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4 AND 5 · 13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Vote, then the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08676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  ·  8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2505456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2382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drop roles and vote as themselves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236976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42382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on the board, then ask two voters from different camps to explain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3968496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42382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school's camera to the winning mode, live if possible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" y="4700016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526280"/>
            <a:ext cx="42382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it: "You just did privacy by design"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1636" y="1600200"/>
            <a:ext cx="5408676" cy="4160520"/>
          </a:xfrm>
          <a:prstGeom prst="roundRect">
            <a:avLst>
              <a:gd name="adj" fmla="val 1319"/>
            </a:avLst>
          </a:prstGeom>
          <a:solidFill>
            <a:srgbClr val="EDE6D6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9108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·  5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79108" y="2258568"/>
            <a:ext cx="4713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three sentences each: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79108" y="2697480"/>
            <a:ext cx="47137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mode did you vote for, and what convinced you?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79108" y="3383280"/>
            <a:ext cx="47137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Name one app or device in your life where someone else already made this choice for you. What did they pick?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79108" y="4617720"/>
            <a:ext cx="47137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is the transfer question. It is the whole point.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vote real.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setting the class actually controls is worth ten hypotheticals.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YOUR POCKET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questions, concrete to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84832"/>
            <a:ext cx="310896" cy="310896"/>
          </a:xfrm>
          <a:prstGeom prst="ellipse">
            <a:avLst/>
          </a:prstGeom>
          <a:solidFill>
            <a:srgbClr val="5E7A8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9793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does the camera record, and what does each mode do with it?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96112" y="2706624"/>
            <a:ext cx="310896" cy="310896"/>
          </a:xfrm>
          <a:prstGeom prst="ellipse">
            <a:avLst/>
          </a:prstGeom>
          <a:solidFill>
            <a:srgbClr val="5E7A8A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587752"/>
            <a:ext cx="9793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school pick Local Only even though it loses the AI identification?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" y="3328416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209544"/>
            <a:ext cx="9793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Only shares "just a heartbeat." Is small data still data?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395020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831336"/>
            <a:ext cx="9793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gallery helps scientists track species. When does a benefit justify sharing?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6112" y="4572000"/>
            <a:ext cx="310896" cy="310896"/>
          </a:xfrm>
          <a:prstGeom prst="ellipse">
            <a:avLst/>
          </a:prstGeom>
          <a:solidFill>
            <a:srgbClr val="B98F35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453128"/>
            <a:ext cx="9793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have the power to change the setting later: students, the teacher, the principal?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6112" y="5193792"/>
            <a:ext cx="310896" cy="310896"/>
          </a:xfrm>
          <a:prstGeom prst="ellipse">
            <a:avLst/>
          </a:prstGeom>
          <a:solidFill>
            <a:srgbClr val="B98F35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5074920"/>
            <a:ext cx="9793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company had made this choice invisibly, would anything be different except your awareness?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ladder matters.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questions check understanding, terra questions weigh tradeoffs, gold questions ask who decides.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know it landed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RUBRIC: EXIT TICKET 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2313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60320" y="23134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mode. Reason restates the mode's description.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3410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341071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mode and gives a reason involving a tradeoff (gain vs. give up).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45079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450799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a tradeoff AND acknowledges what the other side loses.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1600200"/>
            <a:ext cx="4507992" cy="4160520"/>
          </a:xfrm>
          <a:prstGeom prst="roundRect">
            <a:avLst>
              <a:gd name="adj" fmla="val 1319"/>
            </a:avLst>
          </a:prstGeom>
          <a:solidFill>
            <a:srgbClr val="EDE6D6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979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LISTEN FOR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79792" y="233172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Students using "gain" and "give up" language unprompted during the debate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79792" y="338328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Anyone connecting the vote to a device in their own life before the exit ticket asks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79792" y="4434840"/>
            <a:ext cx="3813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word "choice" showing up where "setting" used to be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reasoning, not the pick.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 is a defensible answer. That is the point of the lesson.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and stretch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08676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2610612"/>
            <a:ext cx="310896" cy="310896"/>
          </a:xfrm>
          <a:prstGeom prst="ellipse">
            <a:avLst/>
          </a:prstGeom>
          <a:solidFill>
            <a:srgbClr val="5E7A8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610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2382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 mode cards with the "what leaves the building" line so decoding is not the barrier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570732"/>
            <a:ext cx="310896" cy="310896"/>
          </a:xfrm>
          <a:prstGeom prst="ellipse">
            <a:avLst/>
          </a:prstGeom>
          <a:solidFill>
            <a:srgbClr val="5E7A8A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5707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2382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sentence starters for the debate: "My stakeholder wants ___ because ___"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4530852"/>
            <a:ext cx="310896" cy="310896"/>
          </a:xfrm>
          <a:prstGeom prst="ellipse">
            <a:avLst/>
          </a:prstGeom>
          <a:solidFill>
            <a:srgbClr val="5E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530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42382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question 2 on the exit ticket be answered with a drawing plus one sentence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1600200"/>
            <a:ext cx="5408676" cy="4160520"/>
          </a:xfrm>
          <a:prstGeom prst="roundRect">
            <a:avLst>
              <a:gd name="adj" fmla="val 1319"/>
            </a:avLst>
          </a:prstGeom>
          <a:solidFill>
            <a:srgbClr val="EDE6D6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9108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79108" y="2610612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8" name="Text 16"/>
          <p:cNvSpPr/>
          <p:nvPr/>
        </p:nvSpPr>
        <p:spPr>
          <a:xfrm>
            <a:off x="6579108" y="2610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54596" y="2331720"/>
            <a:ext cx="42382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fourth mode: what would it share, and who would want it?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79108" y="3570732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21" name="Text 19"/>
          <p:cNvSpPr/>
          <p:nvPr/>
        </p:nvSpPr>
        <p:spPr>
          <a:xfrm>
            <a:off x="6579108" y="35707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4596" y="3291840"/>
            <a:ext cx="42382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 real app's privacy settings and map them to the three Birdwatcher modes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79108" y="4530852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9108" y="4530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54596" y="4251960"/>
            <a:ext cx="42382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seed: this debate, written up, is a strong ethics section for an Innovation Day project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fourth-mode challenge travels well.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as homework, extra credit, or a capstone starting point.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and where this leads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LESSON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253288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vote in a month: has anyone changed their mind?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31012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Birdwatcher build with the onboarding deck, From Box to Branch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408736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From Fork to Field for the deeper AI vision unit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" y="4864608"/>
            <a:ext cx="310896" cy="310896"/>
          </a:xfrm>
          <a:prstGeom prst="ellipse">
            <a:avLst/>
          </a:prstGeom>
          <a:solidFill>
            <a:srgbClr val="B05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66344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students to audit one more school technology the same 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600200"/>
            <a:ext cx="5056632" cy="4160520"/>
          </a:xfrm>
          <a:prstGeom prst="roundRect">
            <a:avLst>
              <a:gd name="adj" fmla="val 1319"/>
            </a:avLst>
          </a:prstGeom>
          <a:solidFill>
            <a:srgbClr val="EDE6D6"/>
          </a:solidFill>
          <a:ln w="9525">
            <a:solidFill>
              <a:srgbClr val="DDD3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EXPLORING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31152" y="23774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Birdwatcher repo</a:t>
            </a:r>
            <a:endParaRPr lang="en-US" sz="12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6931152" y="265176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github.com/oyyeahhh/birdwatch-cam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31152" y="30632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DFRobot camera wiki</a:t>
            </a:r>
            <a:endParaRPr lang="en-US" sz="1200" dirty="0"/>
          </a:p>
        </p:txBody>
      </p:sp>
      <p:sp>
        <p:nvSpPr>
          <p:cNvPr id="23" name="Text 21">
            <a:hlinkClick r:id="rId2" tooltip=""/>
          </p:cNvPr>
          <p:cNvSpPr/>
          <p:nvPr/>
        </p:nvSpPr>
        <p:spPr>
          <a:xfrm>
            <a:off x="6931152" y="333756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wiki.dfrobot.com/SKU_DFR1154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31152" y="37490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AI4K12 framework</a:t>
            </a:r>
            <a:endParaRPr lang="en-US" sz="1200" dirty="0"/>
          </a:p>
        </p:txBody>
      </p:sp>
      <p:sp>
        <p:nvSpPr>
          <p:cNvPr id="25" name="Text 23">
            <a:hlinkClick r:id="rId3" tooltip=""/>
          </p:cNvPr>
          <p:cNvSpPr/>
          <p:nvPr/>
        </p:nvSpPr>
        <p:spPr>
          <a:xfrm>
            <a:off x="6931152" y="402336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ai4k12.org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33291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6153912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15568" y="5989320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period, one checkbox, one habit.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chose once will notice choices everywhere.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332720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INNOVATION · 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18288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4248" y="2743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teaching.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984248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The CIJE Innovation team is a message away.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984248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Behatzlacha rabbah!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Sees the Birds? A Lesson on Privacy by Design</dc:title>
  <dc:subject>PptxGenJS Presentation</dc:subject>
  <dc:creator>CIJE Innovation</dc:creator>
  <cp:lastModifiedBy>CIJE Innovation</cp:lastModifiedBy>
  <cp:revision>1</cp:revision>
  <dcterms:created xsi:type="dcterms:W3CDTF">2026-07-07T05:30:18Z</dcterms:created>
  <dcterms:modified xsi:type="dcterms:W3CDTF">2026-07-07T05:30:18Z</dcterms:modified>
</cp:coreProperties>
</file>