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32" y="5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01193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7.png"/><Relationship Id="rId5" Type="http://schemas.openxmlformats.org/officeDocument/2006/relationships/image" Target="../media/image22.png"/><Relationship Id="rId10" Type="http://schemas.openxmlformats.org/officeDocument/2006/relationships/image" Target="../media/image26.png"/><Relationship Id="rId4" Type="http://schemas.openxmlformats.org/officeDocument/2006/relationships/image" Target="../media/image21.png"/><Relationship Id="rId9" Type="http://schemas.openxmlformats.org/officeDocument/2006/relationships/image" Target="../media/image25.png"/><Relationship Id="rId1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hyperlink" Target="https://randomnerdtutorials.com" TargetMode="External"/><Relationship Id="rId3" Type="http://schemas.openxmlformats.org/officeDocument/2006/relationships/image" Target="../media/image29.png"/><Relationship Id="rId7" Type="http://schemas.openxmlformats.org/officeDocument/2006/relationships/hyperlink" Target="https://arduino.cc/en/software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platform.openai.com" TargetMode="External"/><Relationship Id="rId11" Type="http://schemas.openxmlformats.org/officeDocument/2006/relationships/image" Target="../media/image2.png"/><Relationship Id="rId5" Type="http://schemas.openxmlformats.org/officeDocument/2006/relationships/hyperlink" Target="https://wiki.dfrobot.com/SKU_DFR1154" TargetMode="External"/><Relationship Id="rId10" Type="http://schemas.openxmlformats.org/officeDocument/2006/relationships/image" Target="../media/image5.png"/><Relationship Id="rId4" Type="http://schemas.openxmlformats.org/officeDocument/2006/relationships/hyperlink" Target="https://github.com/oyyeahhh/birdwatch-cam" TargetMode="External"/><Relationship Id="rId9" Type="http://schemas.openxmlformats.org/officeDocument/2006/relationships/hyperlink" Target="https://ai4k12.org" TargetMode="Externa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11424" y="2697480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CIJE  ·  GETTING STARTED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984248" y="2743199"/>
            <a:ext cx="8229600" cy="11064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Box to Branch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441448" y="361188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up your CIJE Birdwatcher, from unboxing to your first AI-powered sighting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898648" y="41148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Self-paced   ·   about 60 minutes   ·   DFR1154 ESP32-S3</a:t>
            </a:r>
            <a:endParaRPr lang="en-US" sz="1100" dirty="0"/>
          </a:p>
        </p:txBody>
      </p:sp>
      <p:pic>
        <p:nvPicPr>
          <p:cNvPr id="6" name="Image 3" descr="/home/claude/assets/cije_mark.png">
            <a:extLst>
              <a:ext uri="{FF2B5EF4-FFF2-40B4-BE49-F238E27FC236}">
                <a16:creationId xmlns:a16="http://schemas.microsoft.com/office/drawing/2014/main" id="{13282B84-31A9-5289-8C41-7D7E5253910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5724143" y="1950720"/>
            <a:ext cx="1023677" cy="6909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HARDWARE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What's inside your Birdwatcher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small board carries everything: eyes, ears, a voice, and a line to OpenAI.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13248" cy="3749040"/>
          </a:xfrm>
          <a:prstGeom prst="roundRect">
            <a:avLst>
              <a:gd name="adj" fmla="val 1463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075688"/>
            <a:ext cx="603504" cy="603504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5276" y="2226564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00784" y="20939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BOARD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700784" y="22951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914400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ESP32-S3R8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2743200" y="297180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Dual-core 240MHz + 8MB PSRAM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914400" y="33741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OV3660 Camera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2743200" y="3374136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160° wide-angle, infrared capable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914400" y="3776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Microphone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2743200" y="377647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I2S digital mic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914400" y="4178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MAX98357 Amp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2743200" y="417880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I2S speaker output for TTS audio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914400" y="45811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Card Slot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2743200" y="4581144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Expandable media storage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914400" y="4983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16MB Flash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2743200" y="498348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Ample firmware + asset storage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227064" y="1783080"/>
            <a:ext cx="5413248" cy="3749040"/>
          </a:xfrm>
          <a:prstGeom prst="roundRect">
            <a:avLst>
              <a:gd name="adj" fmla="val 1463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592824" y="2075688"/>
            <a:ext cx="603504" cy="603504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43700" y="2226564"/>
            <a:ext cx="301752" cy="30175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379208" y="209397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CLOUD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7379208" y="229514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capabilities</a:t>
            </a:r>
            <a:endParaRPr lang="en-US" sz="1700" dirty="0"/>
          </a:p>
        </p:txBody>
      </p:sp>
      <p:sp>
        <p:nvSpPr>
          <p:cNvPr id="27" name="Text 23"/>
          <p:cNvSpPr/>
          <p:nvPr/>
        </p:nvSpPr>
        <p:spPr>
          <a:xfrm>
            <a:off x="6592824" y="2971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 Vision</a:t>
            </a:r>
            <a:endParaRPr lang="en-US" sz="1150" dirty="0"/>
          </a:p>
        </p:txBody>
      </p:sp>
      <p:sp>
        <p:nvSpPr>
          <p:cNvPr id="28" name="Text 24"/>
          <p:cNvSpPr/>
          <p:nvPr/>
        </p:nvSpPr>
        <p:spPr>
          <a:xfrm>
            <a:off x="8421624" y="297180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Identifies birds &amp; analyzes images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592824" y="337413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 STT</a:t>
            </a:r>
            <a:endParaRPr lang="en-US" sz="1150" dirty="0"/>
          </a:p>
        </p:txBody>
      </p:sp>
      <p:sp>
        <p:nvSpPr>
          <p:cNvPr id="30" name="Text 26"/>
          <p:cNvSpPr/>
          <p:nvPr/>
        </p:nvSpPr>
        <p:spPr>
          <a:xfrm>
            <a:off x="8421624" y="3374136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Speech-to-text from the mic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592824" y="37764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Playback</a:t>
            </a:r>
            <a:endParaRPr lang="en-US" sz="1150" dirty="0"/>
          </a:p>
        </p:txBody>
      </p:sp>
      <p:sp>
        <p:nvSpPr>
          <p:cNvPr id="32" name="Text 28"/>
          <p:cNvSpPr/>
          <p:nvPr/>
        </p:nvSpPr>
        <p:spPr>
          <a:xfrm>
            <a:off x="8421624" y="3776472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text-to-speech via speaker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592824" y="417880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Streaming</a:t>
            </a:r>
            <a:endParaRPr lang="en-US" sz="1150" dirty="0"/>
          </a:p>
        </p:txBody>
      </p:sp>
      <p:sp>
        <p:nvSpPr>
          <p:cNvPr id="34" name="Text 30"/>
          <p:cNvSpPr/>
          <p:nvPr/>
        </p:nvSpPr>
        <p:spPr>
          <a:xfrm>
            <a:off x="8421624" y="4178808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camera feed in browser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6592824" y="458114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Gallery Manager</a:t>
            </a:r>
            <a:endParaRPr lang="en-US" sz="1150" dirty="0"/>
          </a:p>
        </p:txBody>
      </p:sp>
      <p:sp>
        <p:nvSpPr>
          <p:cNvPr id="36" name="Text 32"/>
          <p:cNvSpPr/>
          <p:nvPr/>
        </p:nvSpPr>
        <p:spPr>
          <a:xfrm>
            <a:off x="8421624" y="4581144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Timestamped SD card file system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6592824" y="4983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Packages</a:t>
            </a:r>
            <a:endParaRPr lang="en-US" sz="1150" dirty="0"/>
          </a:p>
        </p:txBody>
      </p:sp>
      <p:sp>
        <p:nvSpPr>
          <p:cNvPr id="38" name="Text 34"/>
          <p:cNvSpPr/>
          <p:nvPr/>
        </p:nvSpPr>
        <p:spPr>
          <a:xfrm>
            <a:off x="8421624" y="4983480"/>
            <a:ext cx="2852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analysis + media bundles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548640" y="577900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989320"/>
            <a:ext cx="292608" cy="292608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1444752" y="5779008"/>
            <a:ext cx="9811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$35 board plus OpenAI's cloud. A complete AI birdwatcher in the palm of your hand.</a:t>
            </a:r>
            <a:endParaRPr lang="en-US" sz="1250" dirty="0"/>
          </a:p>
        </p:txBody>
      </p:sp>
      <p:pic>
        <p:nvPicPr>
          <p:cNvPr id="42" name="Image 3" descr="/home/claude/assets/cije_mark.png"/>
          <p:cNvPicPr>
            <a:picLocks noChangeAspect="1"/>
          </p:cNvPicPr>
          <p:nvPr/>
        </p:nvPicPr>
        <p:blipFill>
          <a:blip r:embed="rId6">
            <a:alphaModFix amt="75000"/>
          </a:blip>
          <a:stretch>
            <a:fillRect/>
          </a:stretch>
        </p:blipFill>
        <p:spPr>
          <a:xfrm>
            <a:off x="11448288" y="6419088"/>
            <a:ext cx="512064" cy="34564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BOARD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port and sensor, at a glance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577840" cy="4160520"/>
          </a:xfrm>
          <a:prstGeom prst="roundRect">
            <a:avLst>
              <a:gd name="adj" fmla="val 1319"/>
            </a:avLst>
          </a:prstGeom>
          <a:solidFill>
            <a:srgbClr val="FFFFFF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/home/claude/assets/boar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77240" y="1600200"/>
            <a:ext cx="5120640" cy="3794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46520" y="1417320"/>
            <a:ext cx="5193792" cy="4160520"/>
          </a:xfrm>
          <a:prstGeom prst="roundRect">
            <a:avLst>
              <a:gd name="adj" fmla="val 1319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793992" y="178308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OV3660 Camera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759952" y="178308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160° wide-angle lens, IR capable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793992" y="225856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Microphone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8759952" y="225856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38/39, I2S interface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6793992" y="273405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MAX98357A Speaker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759952" y="273405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I2S amplifier, GPIO 45/46/42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6793992" y="3209544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Illumination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8759952" y="3209544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47, for low-light imaging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793992" y="36850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 Sensor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8759952" y="3685032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LTR-308 ambient light, GPIO 8/9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6793992" y="416052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Card Slot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759952" y="4160520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16GB, SPI interface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6793992" y="4636008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Type-C USB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759952" y="4636008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input + code upload port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6793992" y="5111496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Gravity Connector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759952" y="5111496"/>
            <a:ext cx="25328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 43 (TX) / 44 (RX) for Arduino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548640" y="577900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5989320"/>
            <a:ext cx="292608" cy="29260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1444752" y="5779008"/>
            <a:ext cx="9811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USB-C cable does it all: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power, firmware upload, and the serial monitor.</a:t>
            </a:r>
            <a:endParaRPr lang="en-US" sz="1250" dirty="0"/>
          </a:p>
        </p:txBody>
      </p:sp>
      <p:pic>
        <p:nvPicPr>
          <p:cNvPr id="26" name="Image 2" descr="/home/claude/assets/cije_mark.png"/>
          <p:cNvPicPr>
            <a:picLocks noChangeAspect="1"/>
          </p:cNvPicPr>
          <p:nvPr/>
        </p:nvPicPr>
        <p:blipFill>
          <a:blip r:embed="rId5">
            <a:alphaModFix amt="75000"/>
          </a:blip>
          <a:stretch>
            <a:fillRect/>
          </a:stretch>
        </p:blipFill>
        <p:spPr>
          <a:xfrm>
            <a:off x="11448288" y="6419088"/>
            <a:ext cx="512064" cy="3456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START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need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520440" cy="3977640"/>
          </a:xfrm>
          <a:prstGeom prst="roundRect">
            <a:avLst>
              <a:gd name="adj" fmla="val 1558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9536" y="1847088"/>
            <a:ext cx="548640" cy="548640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198424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385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HARDWARE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59536" y="2651760"/>
            <a:ext cx="295351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DFR1154 module (your Birdwatcher)</a:t>
            </a:r>
            <a:endParaRPr lang="en-US" sz="11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USB-A to USB-C data cable</a:t>
            </a:r>
            <a:endParaRPr lang="en-US" sz="11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(Windows, Mac, or Linux)</a:t>
            </a:r>
            <a:endParaRPr lang="en-US" sz="11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network with internet access</a:t>
            </a:r>
            <a:endParaRPr lang="en-US" sz="11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AI Camera tripod kit</a:t>
            </a:r>
            <a:endParaRPr lang="en-US" sz="11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Optional: small speaker (MX1.25-2P)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34256" y="1554480"/>
            <a:ext cx="3520440" cy="3977640"/>
          </a:xfrm>
          <a:prstGeom prst="roundRect">
            <a:avLst>
              <a:gd name="adj" fmla="val 1558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45152" y="1847088"/>
            <a:ext cx="548640" cy="548640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2312" y="198424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0096" y="19385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SETUP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4645152" y="2651760"/>
            <a:ext cx="295351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 2.x (free download)</a:t>
            </a:r>
            <a:endParaRPr lang="en-US" sz="11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board package by Espressif</a:t>
            </a:r>
            <a:endParaRPr lang="en-US" sz="11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ArduinoJson library v7.4.2+</a:t>
            </a:r>
            <a:endParaRPr lang="en-US" sz="11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Board: ESP32S3 Dev Module</a:t>
            </a:r>
            <a:endParaRPr lang="en-US" sz="11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CDC On Boot: Enabled</a:t>
            </a:r>
            <a:endParaRPr lang="en-US" sz="11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PSRAM: OPI PSRAM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19872" y="1554480"/>
            <a:ext cx="3520440" cy="3977640"/>
          </a:xfrm>
          <a:prstGeom prst="roundRect">
            <a:avLst>
              <a:gd name="adj" fmla="val 1558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30768" y="1847088"/>
            <a:ext cx="548640" cy="548640"/>
          </a:xfrm>
          <a:prstGeom prst="ellipse">
            <a:avLst/>
          </a:prstGeom>
          <a:solidFill>
            <a:srgbClr val="B98F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67928" y="198424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25712" y="193852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ACCOUNTS &amp; KEYS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8430768" y="2651760"/>
            <a:ext cx="2953512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account (platform.openai.com)</a:t>
            </a:r>
            <a:endParaRPr lang="en-US" sz="11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OpenAI API key (sk-...)</a:t>
            </a:r>
            <a:endParaRPr lang="en-US" sz="11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credits (a few dollars is plenty)</a:t>
            </a:r>
            <a:endParaRPr lang="en-US" sz="11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WiFi SSID + password (home or school)</a:t>
            </a:r>
            <a:endParaRPr lang="en-US" sz="11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account (optional)</a:t>
            </a:r>
            <a:endParaRPr lang="en-US" sz="11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card 8–32GB, FAT32 formatted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" y="577900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5989320"/>
            <a:ext cx="292608" cy="29260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444752" y="5779008"/>
            <a:ext cx="9811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cost: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~$35  |  analysis ~$0.05–0.10 per request  |  Arduino IDE free</a:t>
            </a:r>
            <a:endParaRPr lang="en-US" sz="1250" dirty="0"/>
          </a:p>
        </p:txBody>
      </p:sp>
      <p:pic>
        <p:nvPicPr>
          <p:cNvPr id="22" name="Image 4" descr="/home/claude/assets/cije_mark.png"/>
          <p:cNvPicPr>
            <a:picLocks noChangeAspect="1"/>
          </p:cNvPicPr>
          <p:nvPr/>
        </p:nvPicPr>
        <p:blipFill>
          <a:blip r:embed="rId7">
            <a:alphaModFix amt="75000"/>
          </a:blip>
          <a:stretch>
            <a:fillRect/>
          </a:stretch>
        </p:blipFill>
        <p:spPr>
          <a:xfrm>
            <a:off x="11448288" y="6419088"/>
            <a:ext cx="512064" cy="34564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GPIO pin cheat sheet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Bookmark this page. You will not need it during setup, but it earns its keep the day you start extending the firmware.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2880360" cy="3611880"/>
          </a:xfrm>
          <a:prstGeom prst="roundRect">
            <a:avLst>
              <a:gd name="adj" fmla="val 1905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49808" y="2029968"/>
            <a:ext cx="2478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(OV3660)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49808" y="2450592"/>
            <a:ext cx="6720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XCLK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440180" y="2450592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440180" y="245059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2962656"/>
            <a:ext cx="6720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Y9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440180" y="2962656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440180" y="296265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49808" y="3474720"/>
            <a:ext cx="6720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Y8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40180" y="3474720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440180" y="347472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49808" y="3986784"/>
            <a:ext cx="6720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Y7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40180" y="3986784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440180" y="3986784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49808" y="4498848"/>
            <a:ext cx="6720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Y6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440180" y="4498848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1440180" y="44988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988820" y="2450592"/>
            <a:ext cx="6720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VSYNC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2679192" y="2450592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679192" y="245059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988820" y="2962656"/>
            <a:ext cx="6720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HREF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679192" y="2962656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679192" y="296265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988820" y="3474720"/>
            <a:ext cx="6720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PCLK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679192" y="3474720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2679192" y="347472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1988820" y="3986784"/>
            <a:ext cx="6720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SIOD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679192" y="3986784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2679192" y="3986784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1988820" y="4498848"/>
            <a:ext cx="6720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SIOC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2679192" y="4498848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679192" y="44988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781044" y="1828800"/>
            <a:ext cx="1572768" cy="3611880"/>
          </a:xfrm>
          <a:prstGeom prst="roundRect">
            <a:avLst>
              <a:gd name="adj" fmla="val 3488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982212" y="202996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 (PDM)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3982212" y="2450592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CLK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604004" y="2450592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4604004" y="245059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3982212" y="2962656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04004" y="2962656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4604004" y="296265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5705856" y="1828800"/>
            <a:ext cx="1828800" cy="3611880"/>
          </a:xfrm>
          <a:prstGeom prst="roundRect">
            <a:avLst>
              <a:gd name="adj" fmla="val 3000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907024" y="202996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907024" y="2450592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BCLK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784848" y="2450592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6784848" y="245059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45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907024" y="2962656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LRCLK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784848" y="2962656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6784848" y="296265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46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5907024" y="3474720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784848" y="3474720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6784848" y="347472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42</a:t>
            </a:r>
            <a:endParaRPr lang="en-US" sz="1050" dirty="0"/>
          </a:p>
        </p:txBody>
      </p:sp>
      <p:sp>
        <p:nvSpPr>
          <p:cNvPr id="56" name="Text 54"/>
          <p:cNvSpPr/>
          <p:nvPr/>
        </p:nvSpPr>
        <p:spPr>
          <a:xfrm>
            <a:off x="5907024" y="398678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GAIN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784848" y="3986784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6784848" y="3986784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</a:t>
            </a:r>
            <a:endParaRPr lang="en-US" sz="1050" dirty="0"/>
          </a:p>
        </p:txBody>
      </p:sp>
      <p:sp>
        <p:nvSpPr>
          <p:cNvPr id="59" name="Text 57"/>
          <p:cNvSpPr/>
          <p:nvPr/>
        </p:nvSpPr>
        <p:spPr>
          <a:xfrm>
            <a:off x="5907024" y="449884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784848" y="4498848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6784848" y="44988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7886700" y="1828800"/>
            <a:ext cx="1572768" cy="3611880"/>
          </a:xfrm>
          <a:prstGeom prst="roundRect">
            <a:avLst>
              <a:gd name="adj" fmla="val 3488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8087868" y="2029968"/>
            <a:ext cx="1170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CARD</a:t>
            </a:r>
            <a:endParaRPr lang="en-US" sz="950" dirty="0"/>
          </a:p>
        </p:txBody>
      </p:sp>
      <p:sp>
        <p:nvSpPr>
          <p:cNvPr id="64" name="Text 62"/>
          <p:cNvSpPr/>
          <p:nvPr/>
        </p:nvSpPr>
        <p:spPr>
          <a:xfrm>
            <a:off x="8087868" y="2450592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8709660" y="2450592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8709660" y="245059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</a:t>
            </a:r>
            <a:endParaRPr lang="en-US" sz="1050" dirty="0"/>
          </a:p>
        </p:txBody>
      </p:sp>
      <p:sp>
        <p:nvSpPr>
          <p:cNvPr id="67" name="Text 65"/>
          <p:cNvSpPr/>
          <p:nvPr/>
        </p:nvSpPr>
        <p:spPr>
          <a:xfrm>
            <a:off x="8087868" y="2962656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8709660" y="2962656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8709660" y="296265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8087868" y="3474720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SCLK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8709660" y="3474720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8709660" y="347472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</a:t>
            </a:r>
            <a:endParaRPr lang="en-US" sz="1050" dirty="0"/>
          </a:p>
        </p:txBody>
      </p:sp>
      <p:sp>
        <p:nvSpPr>
          <p:cNvPr id="73" name="Text 71"/>
          <p:cNvSpPr/>
          <p:nvPr/>
        </p:nvSpPr>
        <p:spPr>
          <a:xfrm>
            <a:off x="8087868" y="3986784"/>
            <a:ext cx="6035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8709660" y="3986784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8709660" y="3986784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9811512" y="1828800"/>
            <a:ext cx="1828800" cy="3611880"/>
          </a:xfrm>
          <a:prstGeom prst="roundRect">
            <a:avLst>
              <a:gd name="adj" fmla="val 3000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Text 75"/>
          <p:cNvSpPr/>
          <p:nvPr/>
        </p:nvSpPr>
        <p:spPr>
          <a:xfrm>
            <a:off x="10012680" y="2029968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10012680" y="2450592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LED</a:t>
            </a:r>
            <a:endParaRPr lang="en-US" sz="1000" dirty="0"/>
          </a:p>
        </p:txBody>
      </p:sp>
      <p:sp>
        <p:nvSpPr>
          <p:cNvPr id="79" name="Shape 77"/>
          <p:cNvSpPr/>
          <p:nvPr/>
        </p:nvSpPr>
        <p:spPr>
          <a:xfrm>
            <a:off x="10890504" y="2450592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0" name="Text 78"/>
          <p:cNvSpPr/>
          <p:nvPr/>
        </p:nvSpPr>
        <p:spPr>
          <a:xfrm>
            <a:off x="10890504" y="2450592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10012680" y="2962656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IR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10890504" y="2962656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10890504" y="2962656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47</a:t>
            </a:r>
            <a:endParaRPr lang="en-US" sz="1050" dirty="0"/>
          </a:p>
        </p:txBody>
      </p:sp>
      <p:sp>
        <p:nvSpPr>
          <p:cNvPr id="84" name="Text 82"/>
          <p:cNvSpPr/>
          <p:nvPr/>
        </p:nvSpPr>
        <p:spPr>
          <a:xfrm>
            <a:off x="10012680" y="3474720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BOOT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10890504" y="3474720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6" name="Text 84"/>
          <p:cNvSpPr/>
          <p:nvPr/>
        </p:nvSpPr>
        <p:spPr>
          <a:xfrm>
            <a:off x="10890504" y="3474720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10012680" y="3986784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10890504" y="3986784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10890504" y="3986784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</a:t>
            </a:r>
            <a:endParaRPr lang="en-US" sz="1050" dirty="0"/>
          </a:p>
        </p:txBody>
      </p:sp>
      <p:sp>
        <p:nvSpPr>
          <p:cNvPr id="90" name="Text 88"/>
          <p:cNvSpPr/>
          <p:nvPr/>
        </p:nvSpPr>
        <p:spPr>
          <a:xfrm>
            <a:off x="10012680" y="4498848"/>
            <a:ext cx="859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</a:t>
            </a:r>
            <a:endParaRPr lang="en-US" sz="1000" dirty="0"/>
          </a:p>
        </p:txBody>
      </p:sp>
      <p:sp>
        <p:nvSpPr>
          <p:cNvPr id="91" name="Shape 89"/>
          <p:cNvSpPr/>
          <p:nvPr/>
        </p:nvSpPr>
        <p:spPr>
          <a:xfrm>
            <a:off x="10890504" y="4498848"/>
            <a:ext cx="402336" cy="292608"/>
          </a:xfrm>
          <a:prstGeom prst="roundRect">
            <a:avLst>
              <a:gd name="adj" fmla="val 15625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2" name="Text 90"/>
          <p:cNvSpPr/>
          <p:nvPr/>
        </p:nvSpPr>
        <p:spPr>
          <a:xfrm>
            <a:off x="10890504" y="4498848"/>
            <a:ext cx="402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B98F3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44</a:t>
            </a:r>
            <a:endParaRPr lang="en-US" sz="1050" dirty="0"/>
          </a:p>
        </p:txBody>
      </p:sp>
      <p:sp>
        <p:nvSpPr>
          <p:cNvPr id="93" name="Shape 91"/>
          <p:cNvSpPr/>
          <p:nvPr/>
        </p:nvSpPr>
        <p:spPr>
          <a:xfrm>
            <a:off x="548640" y="577900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5989320"/>
            <a:ext cx="292608" cy="292608"/>
          </a:xfrm>
          <a:prstGeom prst="rect">
            <a:avLst/>
          </a:prstGeom>
        </p:spPr>
      </p:pic>
      <p:sp>
        <p:nvSpPr>
          <p:cNvPr id="95" name="Text 92"/>
          <p:cNvSpPr/>
          <p:nvPr/>
        </p:nvSpPr>
        <p:spPr>
          <a:xfrm>
            <a:off x="1444752" y="5779008"/>
            <a:ext cx="9811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and audio share I2S_NUM_0,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they cannot run at the same time. Recording briefly pauses the stream. That is by design.</a:t>
            </a:r>
            <a:endParaRPr lang="en-US" sz="1250" dirty="0"/>
          </a:p>
        </p:txBody>
      </p:sp>
      <p:pic>
        <p:nvPicPr>
          <p:cNvPr id="96" name="Image 1" descr="/home/claude/assets/cije_mark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11448288" y="6419088"/>
            <a:ext cx="512064" cy="3456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01  ·  ARDUINO IDE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Arduino at the ESP32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28832" y="384048"/>
            <a:ext cx="475488" cy="475488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228832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one-time setup moves in Arduino IDE 2.x. You will never repeat these.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4297680" cy="3749040"/>
          </a:xfrm>
          <a:prstGeom prst="roundRect">
            <a:avLst>
              <a:gd name="adj" fmla="val 1463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59536" y="203911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BOARD MANAGER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59536" y="2560320"/>
            <a:ext cx="274320" cy="274320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59536" y="254934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280160" y="2478024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File &gt; Preferences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59536" y="3081528"/>
            <a:ext cx="274320" cy="274320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9536" y="307055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280160" y="2999232"/>
            <a:ext cx="3255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Additional Boards Manager URLs: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1280160" y="3483864"/>
            <a:ext cx="3200400" cy="658368"/>
          </a:xfrm>
          <a:prstGeom prst="roundRect">
            <a:avLst>
              <a:gd name="adj" fmla="val 6944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417320" y="3483864"/>
            <a:ext cx="2926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CBD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raw.githubusercontent.com/espressif/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CBD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arduino-esp32/gh-pages/package_esp32_index.json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59536" y="4434840"/>
            <a:ext cx="274320" cy="274320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59536" y="442386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280160" y="4352544"/>
            <a:ext cx="3255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&gt; Boards Manager: install </a:t>
            </a:r>
            <a:r>
              <a:rPr lang="en-US" sz="1150" b="1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by Espressif Systems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102352" y="1783080"/>
            <a:ext cx="3749040" cy="3749040"/>
          </a:xfrm>
          <a:prstGeom prst="roundRect">
            <a:avLst>
              <a:gd name="adj" fmla="val 1463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5413248" y="20391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BOARD SETTINGS (TOOLS MENU)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13248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793992" y="2560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ESP32S3 Dev Module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413248" y="3127248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CDC On Boot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793992" y="31272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Enabled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13248" y="3694176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Flash Size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793992" y="3694176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16MB (128Mb)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5413248" y="4261104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793992" y="4261104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16M (3MB APP/9.9MB FATFS)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413248" y="4828032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PSRAM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793992" y="482803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OPI PSRAM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107424" y="1783080"/>
            <a:ext cx="2532888" cy="3749040"/>
          </a:xfrm>
          <a:prstGeom prst="roundRect">
            <a:avLst>
              <a:gd name="adj" fmla="val 2166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9381744" y="2039112"/>
            <a:ext cx="1984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LIBRARY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381744" y="2514600"/>
            <a:ext cx="548640" cy="548640"/>
          </a:xfrm>
          <a:prstGeom prst="ellipse">
            <a:avLst/>
          </a:prstGeom>
          <a:solidFill>
            <a:srgbClr val="B98F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8904" y="2651760"/>
            <a:ext cx="274320" cy="27432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9381744" y="3264408"/>
            <a:ext cx="1984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ArduinoJson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Benoit Blanchon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v7.4.2 or newer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9381744" y="4480560"/>
            <a:ext cx="19842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&gt; Include Library &gt; Manage Libraries</a:t>
            </a:r>
            <a:endParaRPr lang="en-US" sz="950" dirty="0"/>
          </a:p>
        </p:txBody>
      </p:sp>
      <p:sp>
        <p:nvSpPr>
          <p:cNvPr id="38" name="Shape 35"/>
          <p:cNvSpPr/>
          <p:nvPr/>
        </p:nvSpPr>
        <p:spPr>
          <a:xfrm>
            <a:off x="548640" y="577900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5989320"/>
            <a:ext cx="292608" cy="292608"/>
          </a:xfrm>
          <a:prstGeom prst="rect">
            <a:avLst/>
          </a:prstGeom>
        </p:spPr>
      </p:pic>
      <p:sp>
        <p:nvSpPr>
          <p:cNvPr id="40" name="Text 36"/>
          <p:cNvSpPr/>
          <p:nvPr/>
        </p:nvSpPr>
        <p:spPr>
          <a:xfrm>
            <a:off x="1444752" y="5779008"/>
            <a:ext cx="9811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timing out?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 connection_timeout: 600s  under  network:  in arduino-cli.yaml, restart the IDE, and retry.</a:t>
            </a:r>
            <a:endParaRPr lang="en-US" sz="1250" dirty="0"/>
          </a:p>
        </p:txBody>
      </p:sp>
      <p:pic>
        <p:nvPicPr>
          <p:cNvPr id="41" name="Image 2" descr="/home/claude/assets/cije_mark.png"/>
          <p:cNvPicPr>
            <a:picLocks noChangeAspect="1"/>
          </p:cNvPicPr>
          <p:nvPr/>
        </p:nvPicPr>
        <p:blipFill>
          <a:blip r:embed="rId5">
            <a:alphaModFix amt="75000"/>
          </a:blip>
          <a:stretch>
            <a:fillRect/>
          </a:stretch>
        </p:blipFill>
        <p:spPr>
          <a:xfrm>
            <a:off x="11448288" y="6419088"/>
            <a:ext cx="512064" cy="3456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02  ·  GET THE CODE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Download the firmware from GitHub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28832" y="384048"/>
            <a:ext cx="475488" cy="475488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228832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760720" cy="4023360"/>
          </a:xfrm>
          <a:prstGeom prst="roundRect">
            <a:avLst>
              <a:gd name="adj" fmla="val 1364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737360"/>
            <a:ext cx="603504" cy="603504"/>
          </a:xfrm>
          <a:prstGeom prst="ellipse">
            <a:avLst/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1888236"/>
            <a:ext cx="301752" cy="30175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82496" y="17556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1682496" y="195681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oyyeahhh / birdwatch-cam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96112" y="2697480"/>
            <a:ext cx="274320" cy="274320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96112" y="268650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1316736" y="2615184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 </a:t>
            </a:r>
            <a:r>
              <a:rPr lang="en-US" sz="1100" b="1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github.com/oyyeahhh/birdwatch-cam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896112" y="3273552"/>
            <a:ext cx="274320" cy="274320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96112" y="326257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316736" y="3191256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Navigate to  </a:t>
            </a:r>
            <a:r>
              <a:rPr lang="en-US" sz="1050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ai_camera/firmware/standalone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896112" y="3849624"/>
            <a:ext cx="274320" cy="274320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96112" y="383865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316736" y="3767328"/>
            <a:ext cx="4645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 </a:t>
            </a:r>
            <a:r>
              <a:rPr lang="en-US" sz="1100" b="1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ai_camera_3.2.0.zip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896112" y="4425696"/>
            <a:ext cx="274320" cy="274320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896112" y="44147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316736" y="4343400"/>
            <a:ext cx="4645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Unzip and keep the </a:t>
            </a:r>
            <a:r>
              <a:rPr lang="en-US" sz="105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.ino</a:t>
            </a: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together with all three </a:t>
            </a:r>
            <a:r>
              <a:rPr lang="en-US" sz="105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.h</a:t>
            </a: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files in one folder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96112" y="5074920"/>
            <a:ext cx="50657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you are there: can you find the CAD files for the tripod?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6583680" y="1463040"/>
            <a:ext cx="5056632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5" name="Image 1" descr="/home/claude/assets/repo_file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2148840"/>
            <a:ext cx="4507992" cy="1530491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858000" y="1719072"/>
            <a:ext cx="4507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SEE</a:t>
            </a:r>
            <a:endParaRPr lang="en-US" sz="950" dirty="0"/>
          </a:p>
        </p:txBody>
      </p:sp>
      <p:sp>
        <p:nvSpPr>
          <p:cNvPr id="27" name="Text 23"/>
          <p:cNvSpPr/>
          <p:nvPr/>
        </p:nvSpPr>
        <p:spPr>
          <a:xfrm>
            <a:off x="6858000" y="4160520"/>
            <a:ext cx="45079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000" b="1" dirty="0">
                <a:solidFill>
                  <a:srgbClr val="33291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ESP32_AI_Camera_v3_2_0.ino</a:t>
            </a:r>
            <a:endParaRPr lang="en-US" sz="10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900" dirty="0">
                <a:solidFill>
                  <a:srgbClr val="756A5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credentials_manager.h  ·  error_handling.h  ·  ssl_validation.h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48640" y="577900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989320"/>
            <a:ext cx="292608" cy="29260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1444752" y="5779008"/>
            <a:ext cx="9811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a no-code path?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repo's  ai_camera/GETTING_STARTED.md  walks through a browser-based flasher. No Arduino IDE needed.</a:t>
            </a:r>
            <a:endParaRPr lang="en-US" sz="1250" dirty="0"/>
          </a:p>
        </p:txBody>
      </p:sp>
      <p:pic>
        <p:nvPicPr>
          <p:cNvPr id="31" name="Image 3" descr="/home/claude/assets/cije_mark.png"/>
          <p:cNvPicPr>
            <a:picLocks noChangeAspect="1"/>
          </p:cNvPicPr>
          <p:nvPr/>
        </p:nvPicPr>
        <p:blipFill>
          <a:blip r:embed="rId6">
            <a:alphaModFix amt="75000"/>
          </a:blip>
          <a:stretch>
            <a:fillRect/>
          </a:stretch>
        </p:blipFill>
        <p:spPr>
          <a:xfrm>
            <a:off x="11448288" y="6419088"/>
            <a:ext cx="512064" cy="34564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  ·  CREDENTIALS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Tell it your WiFi, and hand it the key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28832" y="384048"/>
            <a:ext cx="475488" cy="475488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228832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6949440" cy="4023360"/>
          </a:xfrm>
          <a:prstGeom prst="roundRect">
            <a:avLst>
              <a:gd name="adj" fmla="val 1364"/>
            </a:avLst>
          </a:prstGeom>
          <a:solidFill>
            <a:srgbClr val="FFFFFF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1682496"/>
            <a:ext cx="6400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ESP32_AI_Camera_v3_2_0.ino  ·  around lines 46–48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822960" y="2066544"/>
            <a:ext cx="6400800" cy="2743200"/>
          </a:xfrm>
          <a:prstGeom prst="roundRect">
            <a:avLst>
              <a:gd name="adj" fmla="val 2000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143000" y="2066544"/>
            <a:ext cx="57607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C9D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char*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ssid</a:t>
            </a:r>
            <a:r>
              <a:rPr lang="en-US" sz="1300" dirty="0">
                <a:solidFill>
                  <a:srgbClr val="C9D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D4B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"YourWiFiSSID"</a:t>
            </a:r>
            <a:r>
              <a:rPr lang="en-US" sz="1300" dirty="0">
                <a:solidFill>
                  <a:srgbClr val="C9D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C9D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char*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</a:t>
            </a:r>
            <a:r>
              <a:rPr lang="en-US" sz="1300" dirty="0">
                <a:solidFill>
                  <a:srgbClr val="C9D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D4B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"YourWiFiPassword"</a:t>
            </a:r>
            <a:r>
              <a:rPr lang="en-US" sz="1300" dirty="0">
                <a:solidFill>
                  <a:srgbClr val="C9D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C9D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char* </a:t>
            </a:r>
            <a:r>
              <a:rPr lang="en-US" sz="1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</a:t>
            </a:r>
            <a:r>
              <a:rPr lang="en-US" sz="1300" dirty="0">
                <a:solidFill>
                  <a:srgbClr val="C9D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r>
              <a:rPr lang="en-US" sz="1300" dirty="0">
                <a:solidFill>
                  <a:srgbClr val="D4B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"sk-proj-xxxxxxxxxxxx"</a:t>
            </a:r>
            <a:r>
              <a:rPr lang="en-US" sz="1300" dirty="0">
                <a:solidFill>
                  <a:srgbClr val="C9D8D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;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ts val="2600"/>
              </a:lnSpc>
              <a:buNone/>
            </a:pPr>
            <a:r>
              <a:rPr lang="en-US" sz="1300" i="1" dirty="0">
                <a:solidFill>
                  <a:srgbClr val="CBD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Save &gt; Verify (✓) &gt; Upload (→)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49834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E7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 all three placeholder values with your own, then save.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7772400" y="1463040"/>
            <a:ext cx="3867912" cy="4023360"/>
          </a:xfrm>
          <a:prstGeom prst="roundRect">
            <a:avLst>
              <a:gd name="adj" fmla="val 1418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065008" y="1737360"/>
            <a:ext cx="603504" cy="603504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884" y="1888236"/>
            <a:ext cx="301752" cy="301752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851392" y="175564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TO KNOW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8851392" y="195681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network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8065008" y="2697480"/>
            <a:ext cx="32826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own WiFi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camera and your browser must be on the same network.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5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 GHz works best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ESP32 does not join 5 GHz-only networks.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48640" y="577900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5989320"/>
            <a:ext cx="292608" cy="29260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1444752" y="5779008"/>
            <a:ext cx="9811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commit real credentials to GitHub.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repo's  secrets_template.h  pattern exists exactly so keys stay out of your commits.</a:t>
            </a:r>
            <a:endParaRPr lang="en-US" sz="1250" dirty="0"/>
          </a:p>
        </p:txBody>
      </p:sp>
      <p:pic>
        <p:nvPicPr>
          <p:cNvPr id="20" name="Image 2" descr="/home/claude/assets/cije_mark.png"/>
          <p:cNvPicPr>
            <a:picLocks noChangeAspect="1"/>
          </p:cNvPicPr>
          <p:nvPr/>
        </p:nvPicPr>
        <p:blipFill>
          <a:blip r:embed="rId5">
            <a:alphaModFix amt="75000"/>
          </a:blip>
          <a:stretch>
            <a:fillRect/>
          </a:stretch>
        </p:blipFill>
        <p:spPr>
          <a:xfrm>
            <a:off x="11448288" y="6419088"/>
            <a:ext cx="512064" cy="34564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03  ·  THE KEY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 your OpenAI API key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28832" y="384048"/>
            <a:ext cx="475488" cy="475488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228832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2984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lets your Birdwatcher talk to GPT-4 Vision. It takes about three minutes.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6949440" cy="3703320"/>
          </a:xfrm>
          <a:prstGeom prst="roundRect">
            <a:avLst>
              <a:gd name="adj" fmla="val 1481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914400" y="2286000"/>
            <a:ext cx="274320" cy="274320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914400" y="22750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35024" y="2203704"/>
            <a:ext cx="5797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at </a:t>
            </a:r>
            <a:r>
              <a:rPr lang="en-US" sz="1200" b="1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platform.openai.com</a:t>
            </a:r>
            <a:r>
              <a:rPr lang="en-US" sz="12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(create an account if needed)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063240"/>
            <a:ext cx="274320" cy="274320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14400" y="305226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335024" y="2980944"/>
            <a:ext cx="5797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</a:t>
            </a:r>
            <a:r>
              <a:rPr lang="en-US" sz="1200" b="1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</a:t>
            </a:r>
            <a:r>
              <a:rPr lang="en-US" sz="12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page and click </a:t>
            </a:r>
            <a:r>
              <a:rPr lang="en-US" sz="1200" b="1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“Create new secret key”</a:t>
            </a:r>
            <a:r>
              <a:rPr lang="en-US" sz="12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Name it Birdwatcher.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4400" y="3840480"/>
            <a:ext cx="274320" cy="274320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914400" y="382950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335024" y="3758184"/>
            <a:ext cx="5797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key (it starts with </a:t>
            </a:r>
            <a:r>
              <a:rPr lang="en-US" sz="105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sk-</a:t>
            </a:r>
            <a:r>
              <a:rPr lang="en-US" sz="12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...) and store it somewhere safe. </a:t>
            </a:r>
            <a:r>
              <a:rPr lang="en-US" sz="1200" i="1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cannot view it again.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617720"/>
            <a:ext cx="274320" cy="274320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914400" y="460674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335024" y="4535424"/>
            <a:ext cx="57972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it into the </a:t>
            </a:r>
            <a:r>
              <a:rPr lang="en-US" sz="1050" dirty="0">
                <a:solidFill>
                  <a:srgbClr val="B0552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OPENAI_API_KEY</a:t>
            </a:r>
            <a:r>
              <a:rPr lang="en-US" sz="12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line from the previous page.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828800"/>
            <a:ext cx="3867912" cy="3703320"/>
          </a:xfrm>
          <a:prstGeom prst="roundRect">
            <a:avLst>
              <a:gd name="adj" fmla="val 1481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8065008" y="2103120"/>
            <a:ext cx="603504" cy="603504"/>
          </a:xfrm>
          <a:prstGeom prst="ellipse">
            <a:avLst/>
          </a:prstGeom>
          <a:solidFill>
            <a:srgbClr val="B98F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5884" y="2253996"/>
            <a:ext cx="301752" cy="301752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8851392" y="212140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8851392" y="232257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Pennies, not dollars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8065008" y="3017520"/>
            <a:ext cx="328269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analysis costs roughly $0.05–0.10.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6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 monthly cap</a:t>
            </a:r>
            <a:endParaRPr lang="en-US" sz="110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&gt; Limits in the OpenAI dashboard, so there are no surprises.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548640" y="577900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5989320"/>
            <a:ext cx="292608" cy="29260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444752" y="5779008"/>
            <a:ext cx="9811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key is personal.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it like a password: never share it, and never paste it into a public repo.</a:t>
            </a:r>
            <a:endParaRPr lang="en-US" sz="1250" dirty="0"/>
          </a:p>
        </p:txBody>
      </p:sp>
      <p:pic>
        <p:nvPicPr>
          <p:cNvPr id="29" name="Image 2" descr="/home/claude/assets/cije_mark.png"/>
          <p:cNvPicPr>
            <a:picLocks noChangeAspect="1"/>
          </p:cNvPicPr>
          <p:nvPr/>
        </p:nvPicPr>
        <p:blipFill>
          <a:blip r:embed="rId5">
            <a:alphaModFix amt="75000"/>
          </a:blip>
          <a:stretch>
            <a:fillRect/>
          </a:stretch>
        </p:blipFill>
        <p:spPr>
          <a:xfrm>
            <a:off x="11448288" y="6419088"/>
            <a:ext cx="512064" cy="3456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04  ·  UPLOAD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Upload the firmware, watch it boot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11228832" y="384048"/>
            <a:ext cx="475488" cy="475488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228832" y="3840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0" cy="4023360"/>
          </a:xfrm>
          <a:prstGeom prst="roundRect">
            <a:avLst>
              <a:gd name="adj" fmla="val 1364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96112" y="1847088"/>
            <a:ext cx="274320" cy="274320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96112" y="183611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316736" y="1764792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board via USB-A to USB-C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96112" y="2450592"/>
            <a:ext cx="274320" cy="274320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96112" y="243961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16736" y="2368296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&gt; Port: </a:t>
            </a:r>
            <a:r>
              <a:rPr lang="en-US" sz="11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your camera's COM port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96112" y="3054096"/>
            <a:ext cx="274320" cy="274320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96112" y="304312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16736" y="2971800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</a:t>
            </a:r>
            <a:r>
              <a:rPr lang="en-US" sz="1150" b="1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r>
              <a:rPr lang="en-US" sz="11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(the → arrow)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6112" y="3657600"/>
            <a:ext cx="274320" cy="274320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96112" y="36466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316736" y="3575304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~2–3 minutes for compile + upload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6112" y="4261104"/>
            <a:ext cx="274320" cy="274320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96112" y="42501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316736" y="4178808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</a:t>
            </a:r>
            <a:r>
              <a:rPr lang="en-US" sz="1150" b="1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Monitor</a:t>
            </a:r>
            <a:r>
              <a:rPr lang="en-US" sz="11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</a:t>
            </a:r>
            <a:r>
              <a:rPr lang="en-US" sz="1050" dirty="0">
                <a:solidFill>
                  <a:srgbClr val="4A3C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115200</a:t>
            </a:r>
            <a:r>
              <a:rPr lang="en-US" sz="11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baud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96112" y="4864608"/>
            <a:ext cx="274320" cy="274320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96112" y="485363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16736" y="4782312"/>
            <a:ext cx="43708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for the IP address in the output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09360" y="1463040"/>
            <a:ext cx="5330952" cy="4023360"/>
          </a:xfrm>
          <a:prstGeom prst="roundRect">
            <a:avLst>
              <a:gd name="adj" fmla="val 1364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629400" y="1691640"/>
            <a:ext cx="4690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MONITOR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629400" y="2029968"/>
            <a:ext cx="4690872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50"/>
              </a:lnSpc>
              <a:buNone/>
            </a:pPr>
            <a:r>
              <a:rPr lang="en-US" sz="1050" dirty="0">
                <a:solidFill>
                  <a:srgbClr val="CBD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</a:t>
            </a:r>
            <a:endParaRPr lang="en-US" sz="105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050" dirty="0">
                <a:solidFill>
                  <a:srgbClr val="CBD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ESP32-S3 OpenAI Interface v3.2.0</a:t>
            </a:r>
            <a:endParaRPr lang="en-US" sz="105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050" dirty="0">
                <a:solidFill>
                  <a:srgbClr val="CBD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</a:t>
            </a:r>
            <a:endParaRPr lang="en-US" sz="105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050" dirty="0">
                <a:solidFill>
                  <a:srgbClr val="CBD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SD Card OK</a:t>
            </a:r>
            <a:endParaRPr lang="en-US" sz="105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050" dirty="0">
                <a:solidFill>
                  <a:srgbClr val="CBD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Camera OK</a:t>
            </a:r>
            <a:endParaRPr lang="en-US" sz="105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050" dirty="0">
                <a:solidFill>
                  <a:srgbClr val="CBD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PDM Microphone OK</a:t>
            </a:r>
            <a:endParaRPr lang="en-US" sz="105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050" dirty="0">
                <a:solidFill>
                  <a:srgbClr val="CBD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Speaker OK</a:t>
            </a:r>
            <a:endParaRPr lang="en-US" sz="105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050" dirty="0">
                <a:solidFill>
                  <a:srgbClr val="CBD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Connecting to WiFi...</a:t>
            </a:r>
            <a:endParaRPr lang="en-US" sz="105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050" dirty="0">
                <a:solidFill>
                  <a:srgbClr val="CBD5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WiFi connected</a:t>
            </a:r>
            <a:endParaRPr lang="en-US" sz="1050" dirty="0"/>
          </a:p>
          <a:p>
            <a:pPr marL="0" indent="0">
              <a:lnSpc>
                <a:spcPts val="1750"/>
              </a:lnSpc>
              <a:buNone/>
            </a:pPr>
            <a:r>
              <a:rPr lang="en-US" sz="1050" b="1" dirty="0">
                <a:solidFill>
                  <a:srgbClr val="D4B4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IP: 192.168.0.181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77900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5989320"/>
            <a:ext cx="292608" cy="29260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444752" y="5779008"/>
            <a:ext cx="9811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IP?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 browser on the same WiFi and type it in, e.g.  http://192.168.0.181  — that page is your Birdwatcher.</a:t>
            </a:r>
            <a:endParaRPr lang="en-US" sz="1250" dirty="0"/>
          </a:p>
        </p:txBody>
      </p:sp>
      <p:pic>
        <p:nvPicPr>
          <p:cNvPr id="31" name="Image 1" descr="/home/claude/assets/cije_mark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11448288" y="6419088"/>
            <a:ext cx="512064" cy="34564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setup checklist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1–4 in one place. Tick each box on your way through.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520440" cy="3749040"/>
          </a:xfrm>
          <a:prstGeom prst="roundRect">
            <a:avLst>
              <a:gd name="adj" fmla="val 1558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841248" y="202082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A  ·  HARDWARE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41248" y="2560320"/>
            <a:ext cx="274320" cy="274320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41248" y="254934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61872" y="247802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Unbox the DFR1154 camera module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41248" y="3127248"/>
            <a:ext cx="274320" cy="274320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311627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61872" y="304495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Attach tripod bracket (if using)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41248" y="3694176"/>
            <a:ext cx="274320" cy="274320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41248" y="368320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61872" y="36118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USB-A to USB-C to laptop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41248" y="4261104"/>
            <a:ext cx="274320" cy="274320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1248" y="42501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61872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powers on (LED lights)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41248" y="4828032"/>
            <a:ext cx="274320" cy="274320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841248" y="481705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61872" y="474573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Arduino IDE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334256" y="1783080"/>
            <a:ext cx="3520440" cy="3749040"/>
          </a:xfrm>
          <a:prstGeom prst="roundRect">
            <a:avLst>
              <a:gd name="adj" fmla="val 1558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626864" y="202082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B  ·  IDE &amp; FIRMWARE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26864" y="2560320"/>
            <a:ext cx="274320" cy="274320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626864" y="254934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47488" y="247802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board package installed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626864" y="3127248"/>
            <a:ext cx="274320" cy="274320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626864" y="311627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047488" y="304495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Board: ESP32S3 Dev Module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26864" y="3694176"/>
            <a:ext cx="274320" cy="274320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626864" y="368320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047488" y="36118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the 5 settings from Step 1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4626864" y="4261104"/>
            <a:ext cx="274320" cy="274320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626864" y="42501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47488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ESP32_AI_Camera_v3_2_0.ino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4626864" y="4828032"/>
            <a:ext cx="274320" cy="274320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4626864" y="481705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047488" y="474573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WiFi SSID, password, API key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119872" y="1783080"/>
            <a:ext cx="3520440" cy="3749040"/>
          </a:xfrm>
          <a:prstGeom prst="roundRect">
            <a:avLst>
              <a:gd name="adj" fmla="val 1558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8412480" y="2020824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200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C  ·  UPLOAD &amp; CONNECT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8412480" y="2560320"/>
            <a:ext cx="274320" cy="274320"/>
          </a:xfrm>
          <a:prstGeom prst="ellipse">
            <a:avLst/>
          </a:prstGeom>
          <a:solidFill>
            <a:srgbClr val="9A7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8412480" y="254934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833104" y="2478024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right COM port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8412480" y="3127248"/>
            <a:ext cx="274320" cy="274320"/>
          </a:xfrm>
          <a:prstGeom prst="ellipse">
            <a:avLst/>
          </a:prstGeom>
          <a:solidFill>
            <a:srgbClr val="9A7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8412480" y="311627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833104" y="3044952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Upload (→)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412480" y="3694176"/>
            <a:ext cx="274320" cy="274320"/>
          </a:xfrm>
          <a:prstGeom prst="ellipse">
            <a:avLst/>
          </a:prstGeom>
          <a:solidFill>
            <a:srgbClr val="9A7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8412480" y="368320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833104" y="3611880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“Done uploading” appears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8412480" y="4261104"/>
            <a:ext cx="274320" cy="274320"/>
          </a:xfrm>
          <a:prstGeom prst="ellipse">
            <a:avLst/>
          </a:prstGeom>
          <a:solidFill>
            <a:srgbClr val="9A7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8412480" y="42501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833104" y="4178808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Monitor at 115200 baud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8412480" y="4828032"/>
            <a:ext cx="274320" cy="274320"/>
          </a:xfrm>
          <a:prstGeom prst="ellipse">
            <a:avLst/>
          </a:prstGeom>
          <a:solidFill>
            <a:srgbClr val="9A762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8412480" y="481705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833104" y="4745736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the IP address shown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548640" y="577900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5989320"/>
            <a:ext cx="292608" cy="292608"/>
          </a:xfrm>
          <a:prstGeom prst="rect">
            <a:avLst/>
          </a:prstGeom>
        </p:spPr>
      </p:pic>
      <p:sp>
        <p:nvSpPr>
          <p:cNvPr id="58" name="Text 55"/>
          <p:cNvSpPr/>
          <p:nvPr/>
        </p:nvSpPr>
        <p:spPr>
          <a:xfrm>
            <a:off x="1444752" y="5779008"/>
            <a:ext cx="9811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looks like: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Birdwatcher web interface loading at your camera's IP address.</a:t>
            </a:r>
            <a:endParaRPr lang="en-US" sz="1250" dirty="0"/>
          </a:p>
        </p:txBody>
      </p:sp>
      <p:pic>
        <p:nvPicPr>
          <p:cNvPr id="59" name="Image 1" descr="/home/claude/assets/cije_mark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11448288" y="6419088"/>
            <a:ext cx="512064" cy="3456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web app, left to right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app to install. Everything lives on one page served by the camera itself.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413248" cy="3749040"/>
          </a:xfrm>
          <a:prstGeom prst="roundRect">
            <a:avLst>
              <a:gd name="adj" fmla="val 1463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896112" y="2057400"/>
            <a:ext cx="603504" cy="603504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6988" y="2208276"/>
            <a:ext cx="301752" cy="30175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82496" y="20756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 PANEL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682496" y="227685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Camera &amp; controls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896112" y="29535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Pairing Workflow Banner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953512" y="295351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Yellow bar shows your current step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896112" y="33558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/ Stop Stream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2953512" y="3355848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Toggles the live camera feed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96112" y="37581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2953512" y="3758184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a still photo, saves to SD card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96112" y="4160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953512" y="416052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Previews the most recent capture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96112" y="45628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Indicator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2953512" y="4562856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 dot: stream is broadcasting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96112" y="49651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Preview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2953512" y="496519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MJPEG from the wide-angle lens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227064" y="1783080"/>
            <a:ext cx="5413248" cy="3749040"/>
          </a:xfrm>
          <a:prstGeom prst="roundRect">
            <a:avLst>
              <a:gd name="adj" fmla="val 1463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6574536" y="2057400"/>
            <a:ext cx="603504" cy="603504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5412" y="2208276"/>
            <a:ext cx="301752" cy="301752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7360920" y="2075688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PANEL</a:t>
            </a:r>
            <a:endParaRPr lang="en-US" sz="950" dirty="0"/>
          </a:p>
        </p:txBody>
      </p:sp>
      <p:sp>
        <p:nvSpPr>
          <p:cNvPr id="26" name="Text 22"/>
          <p:cNvSpPr/>
          <p:nvPr/>
        </p:nvSpPr>
        <p:spPr>
          <a:xfrm>
            <a:off x="7360920" y="2276856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Audio &amp; files</a:t>
            </a:r>
            <a:endParaRPr lang="en-US" sz="1700" dirty="0"/>
          </a:p>
        </p:txBody>
      </p:sp>
      <p:sp>
        <p:nvSpPr>
          <p:cNvPr id="27" name="Text 23"/>
          <p:cNvSpPr/>
          <p:nvPr/>
        </p:nvSpPr>
        <p:spPr>
          <a:xfrm>
            <a:off x="6574536" y="29535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Playback Bar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8631936" y="295351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 back recorded WAV files</a:t>
            </a:r>
            <a:endParaRPr lang="en-US" sz="1000" dirty="0"/>
          </a:p>
        </p:txBody>
      </p:sp>
      <p:sp>
        <p:nvSpPr>
          <p:cNvPr id="29" name="Text 25"/>
          <p:cNvSpPr/>
          <p:nvPr/>
        </p:nvSpPr>
        <p:spPr>
          <a:xfrm>
            <a:off x="6574536" y="335584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8631936" y="3355848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Starts/stops the PDM mic recording</a:t>
            </a:r>
            <a:endParaRPr lang="en-US" sz="1000" dirty="0"/>
          </a:p>
        </p:txBody>
      </p:sp>
      <p:sp>
        <p:nvSpPr>
          <p:cNvPr id="31" name="Text 27"/>
          <p:cNvSpPr/>
          <p:nvPr/>
        </p:nvSpPr>
        <p:spPr>
          <a:xfrm>
            <a:off x="6574536" y="375818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8631936" y="3758184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TTS playback volume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574536" y="416052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for Export</a:t>
            </a:r>
            <a:endParaRPr lang="en-US" sz="1100" dirty="0"/>
          </a:p>
        </p:txBody>
      </p:sp>
      <p:sp>
        <p:nvSpPr>
          <p:cNvPr id="34" name="Text 30"/>
          <p:cNvSpPr/>
          <p:nvPr/>
        </p:nvSpPr>
        <p:spPr>
          <a:xfrm>
            <a:off x="8631936" y="4160520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photo you will send to OpenAI</a:t>
            </a:r>
            <a:endParaRPr lang="en-US" sz="1000" dirty="0"/>
          </a:p>
        </p:txBody>
      </p:sp>
      <p:sp>
        <p:nvSpPr>
          <p:cNvPr id="35" name="Text 31"/>
          <p:cNvSpPr/>
          <p:nvPr/>
        </p:nvSpPr>
        <p:spPr>
          <a:xfrm>
            <a:off x="6574536" y="4562856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for Export</a:t>
            </a:r>
            <a:endParaRPr lang="en-US" sz="1100" dirty="0"/>
          </a:p>
        </p:txBody>
      </p:sp>
      <p:sp>
        <p:nvSpPr>
          <p:cNvPr id="36" name="Text 32"/>
          <p:cNvSpPr/>
          <p:nvPr/>
        </p:nvSpPr>
        <p:spPr>
          <a:xfrm>
            <a:off x="8631936" y="4562856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spoken prompt for Whisper</a:t>
            </a:r>
            <a:endParaRPr lang="en-US" sz="1000" dirty="0"/>
          </a:p>
        </p:txBody>
      </p:sp>
      <p:sp>
        <p:nvSpPr>
          <p:cNvPr id="37" name="Text 33"/>
          <p:cNvSpPr/>
          <p:nvPr/>
        </p:nvSpPr>
        <p:spPr>
          <a:xfrm>
            <a:off x="6574536" y="496519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8631936" y="4965192"/>
            <a:ext cx="2660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SD files: save to PC, export, delete</a:t>
            </a:r>
            <a:endParaRPr lang="en-US" sz="1000" dirty="0"/>
          </a:p>
        </p:txBody>
      </p:sp>
      <p:sp>
        <p:nvSpPr>
          <p:cNvPr id="39" name="Shape 35"/>
          <p:cNvSpPr/>
          <p:nvPr/>
        </p:nvSpPr>
        <p:spPr>
          <a:xfrm>
            <a:off x="548640" y="577900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5989320"/>
            <a:ext cx="292608" cy="292608"/>
          </a:xfrm>
          <a:prstGeom prst="rect">
            <a:avLst/>
          </a:prstGeom>
        </p:spPr>
      </p:pic>
      <p:sp>
        <p:nvSpPr>
          <p:cNvPr id="41" name="Text 36"/>
          <p:cNvSpPr/>
          <p:nvPr/>
        </p:nvSpPr>
        <p:spPr>
          <a:xfrm>
            <a:off x="1444752" y="5779008"/>
            <a:ext cx="9811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says “Not Secure”?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Expected. The camera uses a self-signed certificate on your local network.</a:t>
            </a:r>
            <a:endParaRPr lang="en-US" sz="1250" dirty="0"/>
          </a:p>
        </p:txBody>
      </p:sp>
      <p:pic>
        <p:nvPicPr>
          <p:cNvPr id="42" name="Image 3" descr="/home/claude/assets/cije_mark.png"/>
          <p:cNvPicPr>
            <a:picLocks noChangeAspect="1"/>
          </p:cNvPicPr>
          <p:nvPr/>
        </p:nvPicPr>
        <p:blipFill>
          <a:blip r:embed="rId6">
            <a:alphaModFix amt="75000"/>
          </a:blip>
          <a:stretch>
            <a:fillRect/>
          </a:stretch>
        </p:blipFill>
        <p:spPr>
          <a:xfrm>
            <a:off x="11448288" y="6419088"/>
            <a:ext cx="512064" cy="345643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AI answers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59536" y="1737360"/>
            <a:ext cx="566928" cy="566928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" y="1879092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79222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Send to OpenAI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59536" y="2514600"/>
            <a:ext cx="2898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Ships your image + spoken prompt to GPT-4 Vision and Whisper. The reply is displayed, then spoken aloud.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334256" y="146304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45152" y="1737360"/>
            <a:ext cx="566928" cy="566928"/>
          </a:xfrm>
          <a:prstGeom prst="ellipse">
            <a:avLst/>
          </a:prstGeom>
          <a:solidFill>
            <a:srgbClr val="728A5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6884" y="1879092"/>
            <a:ext cx="283464" cy="28346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40096" y="179222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Replay TTS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45152" y="2514600"/>
            <a:ext cx="2898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Re-plays the last spoken response through the speaker, without calling the API again.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119872" y="1463040"/>
            <a:ext cx="3520440" cy="2377440"/>
          </a:xfrm>
          <a:prstGeom prst="roundRect">
            <a:avLst>
              <a:gd name="adj" fmla="val 2308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30768" y="1737360"/>
            <a:ext cx="566928" cy="566928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2500" y="1879092"/>
            <a:ext cx="283464" cy="28346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125712" y="179222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Export Package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30768" y="2514600"/>
            <a:ext cx="28986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Downloads a ZIP with the image, your audio prompt, and the AI's response text.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11091672" cy="1417320"/>
          </a:xfrm>
          <a:prstGeom prst="roundRect">
            <a:avLst>
              <a:gd name="adj" fmla="val 3871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896112" y="4279392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RESULTS BOX</a:t>
            </a:r>
            <a:endParaRPr lang="en-US" sz="950" dirty="0"/>
          </a:p>
        </p:txBody>
      </p:sp>
      <p:sp>
        <p:nvSpPr>
          <p:cNvPr id="21" name="Text 16"/>
          <p:cNvSpPr/>
          <p:nvPr/>
        </p:nvSpPr>
        <p:spPr>
          <a:xfrm>
            <a:off x="896112" y="4572000"/>
            <a:ext cx="1039672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15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large text area under the video shows the GPT-4 Vision response, speaks it through the speaker, and archives it to the SD card in /analysis/[timestamp]/.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48640" y="577900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5989320"/>
            <a:ext cx="292608" cy="292608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44752" y="5779008"/>
            <a:ext cx="9811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reply: </a:t>
            </a: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“That is a Northern Cardinal, a male based on the bright red plumage, perched on the feeder's left arm...”</a:t>
            </a:r>
            <a:endParaRPr lang="en-US" sz="1250" dirty="0"/>
          </a:p>
        </p:txBody>
      </p:sp>
      <p:pic>
        <p:nvPicPr>
          <p:cNvPr id="25" name="Image 4" descr="/home/claude/assets/cije_mark.png"/>
          <p:cNvPicPr>
            <a:picLocks noChangeAspect="1"/>
          </p:cNvPicPr>
          <p:nvPr/>
        </p:nvPicPr>
        <p:blipFill>
          <a:blip r:embed="rId7">
            <a:alphaModFix amt="75000"/>
          </a:blip>
          <a:stretch>
            <a:fillRect/>
          </a:stretch>
        </p:blipFill>
        <p:spPr>
          <a:xfrm>
            <a:off x="11448288" y="6419088"/>
            <a:ext cx="512064" cy="34564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loop you'll run every session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868680" y="1965960"/>
            <a:ext cx="1051560" cy="1051560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6716" y="2253996"/>
            <a:ext cx="475488" cy="47548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09344" y="1892808"/>
            <a:ext cx="329184" cy="329184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609344" y="1883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65760" y="314553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65760" y="36393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feed begins</a:t>
            </a:r>
            <a:endParaRPr lang="en-US" sz="95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14016" y="2363724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218688" y="1965960"/>
            <a:ext cx="1051560" cy="1051560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6724" y="2253996"/>
            <a:ext cx="475488" cy="475488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3959352" y="1892808"/>
            <a:ext cx="329184" cy="329184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3959352" y="1883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2715768" y="314553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2715768" y="36393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 it, save to SD</a:t>
            </a:r>
            <a:endParaRPr lang="en-US" sz="950" dirty="0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2363724"/>
            <a:ext cx="256032" cy="25603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568696" y="1965960"/>
            <a:ext cx="1051560" cy="1051560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56732" y="2253996"/>
            <a:ext cx="475488" cy="475488"/>
          </a:xfrm>
          <a:prstGeom prst="rect">
            <a:avLst/>
          </a:prstGeom>
        </p:spPr>
      </p:pic>
      <p:sp>
        <p:nvSpPr>
          <p:cNvPr id="20" name="Shape 13"/>
          <p:cNvSpPr/>
          <p:nvPr/>
        </p:nvSpPr>
        <p:spPr>
          <a:xfrm>
            <a:off x="6309360" y="1892808"/>
            <a:ext cx="329184" cy="329184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4"/>
          <p:cNvSpPr/>
          <p:nvPr/>
        </p:nvSpPr>
        <p:spPr>
          <a:xfrm>
            <a:off x="6309360" y="1883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15"/>
          <p:cNvSpPr/>
          <p:nvPr/>
        </p:nvSpPr>
        <p:spPr>
          <a:xfrm>
            <a:off x="5065776" y="314553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5065776" y="36393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your question</a:t>
            </a:r>
            <a:endParaRPr lang="en-US" sz="9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2" y="2363724"/>
            <a:ext cx="256032" cy="256032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918704" y="1965960"/>
            <a:ext cx="1051560" cy="1051560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6740" y="2253996"/>
            <a:ext cx="475488" cy="475488"/>
          </a:xfrm>
          <a:prstGeom prst="rect">
            <a:avLst/>
          </a:prstGeom>
        </p:spPr>
      </p:pic>
      <p:sp>
        <p:nvSpPr>
          <p:cNvPr id="27" name="Shape 18"/>
          <p:cNvSpPr/>
          <p:nvPr/>
        </p:nvSpPr>
        <p:spPr>
          <a:xfrm>
            <a:off x="8659368" y="1892808"/>
            <a:ext cx="329184" cy="329184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19"/>
          <p:cNvSpPr/>
          <p:nvPr/>
        </p:nvSpPr>
        <p:spPr>
          <a:xfrm>
            <a:off x="8659368" y="1883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0"/>
          <p:cNvSpPr/>
          <p:nvPr/>
        </p:nvSpPr>
        <p:spPr>
          <a:xfrm>
            <a:off x="7415784" y="314553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100" dirty="0"/>
          </a:p>
        </p:txBody>
      </p:sp>
      <p:sp>
        <p:nvSpPr>
          <p:cNvPr id="30" name="Text 21"/>
          <p:cNvSpPr/>
          <p:nvPr/>
        </p:nvSpPr>
        <p:spPr>
          <a:xfrm>
            <a:off x="7415784" y="36393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image + audio</a:t>
            </a:r>
            <a:endParaRPr lang="en-US" sz="950" dirty="0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040" y="2363724"/>
            <a:ext cx="256032" cy="256032"/>
          </a:xfrm>
          <a:prstGeom prst="rect">
            <a:avLst/>
          </a:prstGeom>
        </p:spPr>
      </p:pic>
      <p:sp>
        <p:nvSpPr>
          <p:cNvPr id="32" name="Shape 22"/>
          <p:cNvSpPr/>
          <p:nvPr/>
        </p:nvSpPr>
        <p:spPr>
          <a:xfrm>
            <a:off x="10268712" y="1965960"/>
            <a:ext cx="1051560" cy="1051560"/>
          </a:xfrm>
          <a:prstGeom prst="ellipse">
            <a:avLst/>
          </a:prstGeom>
          <a:solidFill>
            <a:srgbClr val="4A647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3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56748" y="2253996"/>
            <a:ext cx="475488" cy="475488"/>
          </a:xfrm>
          <a:prstGeom prst="rect">
            <a:avLst/>
          </a:prstGeom>
        </p:spPr>
      </p:pic>
      <p:sp>
        <p:nvSpPr>
          <p:cNvPr id="34" name="Shape 23"/>
          <p:cNvSpPr/>
          <p:nvPr/>
        </p:nvSpPr>
        <p:spPr>
          <a:xfrm>
            <a:off x="11009376" y="1892808"/>
            <a:ext cx="329184" cy="329184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24"/>
          <p:cNvSpPr/>
          <p:nvPr/>
        </p:nvSpPr>
        <p:spPr>
          <a:xfrm>
            <a:off x="11009376" y="1883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25"/>
          <p:cNvSpPr/>
          <p:nvPr/>
        </p:nvSpPr>
        <p:spPr>
          <a:xfrm>
            <a:off x="9765792" y="3145536"/>
            <a:ext cx="2057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TO</a:t>
            </a:r>
            <a:endParaRPr lang="en-US" sz="1100" dirty="0"/>
          </a:p>
          <a:p>
            <a:pPr marL="0" indent="0" algn="ctr">
              <a:lnSpc>
                <a:spcPts val="1300"/>
              </a:lnSpc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37" name="Text 26"/>
          <p:cNvSpPr/>
          <p:nvPr/>
        </p:nvSpPr>
        <p:spPr>
          <a:xfrm>
            <a:off x="9765792" y="3639312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is spoken</a:t>
            </a:r>
            <a:endParaRPr lang="en-US" sz="950" dirty="0"/>
          </a:p>
        </p:txBody>
      </p:sp>
      <p:sp>
        <p:nvSpPr>
          <p:cNvPr id="38" name="Text 27"/>
          <p:cNvSpPr/>
          <p:nvPr/>
        </p:nvSpPr>
        <p:spPr>
          <a:xfrm>
            <a:off x="548640" y="40690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2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THE ANALYSIS</a:t>
            </a:r>
            <a:endParaRPr lang="en-US" sz="950" dirty="0"/>
          </a:p>
        </p:txBody>
      </p:sp>
      <p:sp>
        <p:nvSpPr>
          <p:cNvPr id="39" name="Shape 28"/>
          <p:cNvSpPr/>
          <p:nvPr/>
        </p:nvSpPr>
        <p:spPr>
          <a:xfrm>
            <a:off x="548640" y="4434840"/>
            <a:ext cx="2514600" cy="658368"/>
          </a:xfrm>
          <a:prstGeom prst="roundRect">
            <a:avLst>
              <a:gd name="adj" fmla="val 8333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6384" y="4636008"/>
            <a:ext cx="256032" cy="256032"/>
          </a:xfrm>
          <a:prstGeom prst="rect">
            <a:avLst/>
          </a:prstGeom>
        </p:spPr>
      </p:pic>
      <p:sp>
        <p:nvSpPr>
          <p:cNvPr id="41" name="Text 29"/>
          <p:cNvSpPr/>
          <p:nvPr/>
        </p:nvSpPr>
        <p:spPr>
          <a:xfrm>
            <a:off x="1170432" y="44348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TTS</a:t>
            </a:r>
            <a:endParaRPr lang="en-US" sz="1150" dirty="0"/>
          </a:p>
        </p:txBody>
      </p:sp>
      <p:sp>
        <p:nvSpPr>
          <p:cNvPr id="42" name="Shape 30"/>
          <p:cNvSpPr/>
          <p:nvPr/>
        </p:nvSpPr>
        <p:spPr>
          <a:xfrm>
            <a:off x="3407664" y="4434840"/>
            <a:ext cx="2514600" cy="658368"/>
          </a:xfrm>
          <a:prstGeom prst="roundRect">
            <a:avLst>
              <a:gd name="adj" fmla="val 8333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3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45408" y="4636008"/>
            <a:ext cx="256032" cy="256032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4029456" y="44348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package</a:t>
            </a:r>
            <a:endParaRPr lang="en-US" sz="1150" dirty="0"/>
          </a:p>
        </p:txBody>
      </p:sp>
      <p:sp>
        <p:nvSpPr>
          <p:cNvPr id="45" name="Shape 32"/>
          <p:cNvSpPr/>
          <p:nvPr/>
        </p:nvSpPr>
        <p:spPr>
          <a:xfrm>
            <a:off x="6266688" y="4434840"/>
            <a:ext cx="2514600" cy="658368"/>
          </a:xfrm>
          <a:prstGeom prst="roundRect">
            <a:avLst>
              <a:gd name="adj" fmla="val 8333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6" name="Image 11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04432" y="4636008"/>
            <a:ext cx="256032" cy="256032"/>
          </a:xfrm>
          <a:prstGeom prst="rect">
            <a:avLst/>
          </a:prstGeom>
        </p:spPr>
      </p:pic>
      <p:sp>
        <p:nvSpPr>
          <p:cNvPr id="47" name="Text 33"/>
          <p:cNvSpPr/>
          <p:nvPr/>
        </p:nvSpPr>
        <p:spPr>
          <a:xfrm>
            <a:off x="6888480" y="44348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files</a:t>
            </a:r>
            <a:endParaRPr lang="en-US" sz="1150" dirty="0"/>
          </a:p>
        </p:txBody>
      </p:sp>
      <p:sp>
        <p:nvSpPr>
          <p:cNvPr id="48" name="Shape 34"/>
          <p:cNvSpPr/>
          <p:nvPr/>
        </p:nvSpPr>
        <p:spPr>
          <a:xfrm>
            <a:off x="9125712" y="4434840"/>
            <a:ext cx="2514600" cy="658368"/>
          </a:xfrm>
          <a:prstGeom prst="roundRect">
            <a:avLst>
              <a:gd name="adj" fmla="val 8333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9" name="Image 12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63456" y="4636008"/>
            <a:ext cx="256032" cy="256032"/>
          </a:xfrm>
          <a:prstGeom prst="rect">
            <a:avLst/>
          </a:prstGeom>
        </p:spPr>
      </p:pic>
      <p:sp>
        <p:nvSpPr>
          <p:cNvPr id="50" name="Text 35"/>
          <p:cNvSpPr/>
          <p:nvPr/>
        </p:nvSpPr>
        <p:spPr>
          <a:xfrm>
            <a:off x="9747504" y="4434840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&amp; repeat</a:t>
            </a:r>
            <a:endParaRPr lang="en-US" sz="1150" dirty="0"/>
          </a:p>
        </p:txBody>
      </p:sp>
      <p:sp>
        <p:nvSpPr>
          <p:cNvPr id="51" name="Shape 36"/>
          <p:cNvSpPr/>
          <p:nvPr/>
        </p:nvSpPr>
        <p:spPr>
          <a:xfrm>
            <a:off x="548640" y="577900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2688" y="5989320"/>
            <a:ext cx="292608" cy="292608"/>
          </a:xfrm>
          <a:prstGeom prst="rect">
            <a:avLst/>
          </a:prstGeom>
        </p:spPr>
      </p:pic>
      <p:sp>
        <p:nvSpPr>
          <p:cNvPr id="53" name="Text 37"/>
          <p:cNvSpPr/>
          <p:nvPr/>
        </p:nvSpPr>
        <p:spPr>
          <a:xfrm>
            <a:off x="1444752" y="5779008"/>
            <a:ext cx="9811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Stream, capture, ask, send.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couple of rounds the whole loop takes under a minute.</a:t>
            </a:r>
            <a:endParaRPr lang="en-US" sz="1250" dirty="0"/>
          </a:p>
        </p:txBody>
      </p:sp>
      <p:pic>
        <p:nvPicPr>
          <p:cNvPr id="54" name="Image 14" descr="/home/claude/assets/cije_mark.png"/>
          <p:cNvPicPr>
            <a:picLocks noChangeAspect="1"/>
          </p:cNvPicPr>
          <p:nvPr/>
        </p:nvPicPr>
        <p:blipFill>
          <a:blip r:embed="rId14">
            <a:alphaModFix amt="75000"/>
          </a:blip>
          <a:stretch>
            <a:fillRect/>
          </a:stretch>
        </p:blipFill>
        <p:spPr>
          <a:xfrm>
            <a:off x="11448288" y="6419088"/>
            <a:ext cx="512064" cy="34564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something squawks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13248" cy="1298448"/>
          </a:xfrm>
          <a:prstGeom prst="roundRect">
            <a:avLst>
              <a:gd name="adj" fmla="val 4225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609344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not found / no COM port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41248" y="192024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CH340 or CP2102 USB driver. Swap in a data cable (many are charge-only). Hold BOOT while plugging in.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7064" y="1463040"/>
            <a:ext cx="5413248" cy="1298448"/>
          </a:xfrm>
          <a:prstGeom prst="roundRect">
            <a:avLst>
              <a:gd name="adj" fmla="val 4225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19672" y="1609344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fails: brownout / timeout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19672" y="192024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Flash Size 16MB and the 16M partition scheme in Tools. Try a powered USB hub.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907792"/>
            <a:ext cx="5413248" cy="1298448"/>
          </a:xfrm>
          <a:prstGeom prst="roundRect">
            <a:avLst>
              <a:gd name="adj" fmla="val 4225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3054096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stream not showing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41248" y="3364992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USB CDC On Boot, then refresh the browser. Recording audio pauses the stream briefly.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27064" y="2907792"/>
            <a:ext cx="5413248" cy="1298448"/>
          </a:xfrm>
          <a:prstGeom prst="roundRect">
            <a:avLst>
              <a:gd name="adj" fmla="val 4225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19672" y="3054096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returns 401 / 403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19672" y="3364992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key has no extra spaces and billing is enabled at platform.openai.com.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352544"/>
            <a:ext cx="5413248" cy="1298448"/>
          </a:xfrm>
          <a:prstGeom prst="roundRect">
            <a:avLst>
              <a:gd name="adj" fmla="val 4225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1248" y="4498848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TTS / speaker silent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4809744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the SPK connector wiring (MX1.25-2P). The amp uses GPIO 45 / 46 / 42.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27064" y="4352544"/>
            <a:ext cx="5413248" cy="1298448"/>
          </a:xfrm>
          <a:prstGeom prst="roundRect">
            <a:avLst>
              <a:gd name="adj" fmla="val 4225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19672" y="4498848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 card not detected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19672" y="4809744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Reformat as FAT32, use a 16GB-or-smaller card, and re-seat it before power-up.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77900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5989320"/>
            <a:ext cx="292608" cy="29260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444752" y="5779008"/>
            <a:ext cx="9811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stuck?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wiki.dfrobot.com/SKU_DFR1154  has the full hardware reference for the board.</a:t>
            </a:r>
            <a:endParaRPr lang="en-US" sz="1250" dirty="0"/>
          </a:p>
        </p:txBody>
      </p:sp>
      <p:pic>
        <p:nvPicPr>
          <p:cNvPr id="25" name="Image 1" descr="/home/claude/assets/cije_mark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11448288" y="6419088"/>
            <a:ext cx="512064" cy="345643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Quick answers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13248" cy="1298448"/>
          </a:xfrm>
          <a:prstGeom prst="roundRect">
            <a:avLst>
              <a:gd name="adj" fmla="val 4225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1248" y="1609344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 Is the “Not Secure” warning a problem?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41248" y="192024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No. The firmware keeps traffic encrypted but uses a self-signed certificate, which browsers flag on local networks.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227064" y="1463040"/>
            <a:ext cx="5413248" cy="1298448"/>
          </a:xfrm>
          <a:prstGeom prst="roundRect">
            <a:avLst>
              <a:gd name="adj" fmla="val 4225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519672" y="1609344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 Why does the page freeze during analysis?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6519672" y="1920240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ESP32 is single-threaded. It pauses 15–30 seconds while talking to OpenAI. Normal.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907792"/>
            <a:ext cx="5413248" cy="1298448"/>
          </a:xfrm>
          <a:prstGeom prst="roundRect">
            <a:avLst>
              <a:gd name="adj" fmla="val 4225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1248" y="3054096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 Why can't I record while streaming?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841248" y="3364992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and mic share one I2S bus. Recording briefly takes it over, then the stream resumes.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27064" y="2907792"/>
            <a:ext cx="5413248" cy="1298448"/>
          </a:xfrm>
          <a:prstGeom prst="roundRect">
            <a:avLst>
              <a:gd name="adj" fmla="val 4225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519672" y="3054096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 How big can the SD card be?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6519672" y="3364992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FAT32, 32GB max. 8–16GB is the sweet spot.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352544"/>
            <a:ext cx="5413248" cy="1298448"/>
          </a:xfrm>
          <a:prstGeom prst="roundRect">
            <a:avLst>
              <a:gd name="adj" fmla="val 4225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41248" y="4498848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 Does the mic sound quiet?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841248" y="4809744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gets 10x software amplification. Speak within a few feet of the board.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227064" y="4352544"/>
            <a:ext cx="5413248" cy="1298448"/>
          </a:xfrm>
          <a:prstGeom prst="roundRect">
            <a:avLst>
              <a:gd name="adj" fmla="val 4225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519672" y="4498848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Q:  Can it drive other hardware?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519672" y="4809744"/>
            <a:ext cx="4828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Yes. The Gravity connector (TX 43 / RX 44) speaks serial to an Arduino UNO. See the automation agent firmware.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577900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5989320"/>
            <a:ext cx="292608" cy="29260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444752" y="5779008"/>
            <a:ext cx="9811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“bugs” are design choices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 tiny computer doing big things. The Known Limitations section of the repo README explains each one.</a:t>
            </a:r>
            <a:endParaRPr lang="en-US" sz="1250" dirty="0"/>
          </a:p>
        </p:txBody>
      </p:sp>
      <p:pic>
        <p:nvPicPr>
          <p:cNvPr id="25" name="Image 1" descr="/home/claude/assets/cije_mark.png"/>
          <p:cNvPicPr>
            <a:picLocks noChangeAspect="1"/>
          </p:cNvPicPr>
          <p:nvPr/>
        </p:nvPicPr>
        <p:blipFill>
          <a:blip r:embed="rId4">
            <a:alphaModFix amt="75000"/>
          </a:blip>
          <a:stretch>
            <a:fillRect/>
          </a:stretch>
        </p:blipFill>
        <p:spPr>
          <a:xfrm>
            <a:off x="11448288" y="6419088"/>
            <a:ext cx="512064" cy="345643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9692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 it yours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760720" cy="4023360"/>
          </a:xfrm>
          <a:prstGeom prst="roundRect">
            <a:avLst>
              <a:gd name="adj" fmla="val 1364"/>
            </a:avLst>
          </a:prstGeom>
          <a:solidFill>
            <a:srgbClr val="F3EEE3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96112" y="17007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NEXT STEPS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96112" y="2212848"/>
            <a:ext cx="274320" cy="274320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96112" y="220187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16736" y="2130552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 your Birdwatcher near a feeder or window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96112" y="2743200"/>
            <a:ext cx="274320" cy="274320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96112" y="27322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16736" y="2660904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log of the species your camera spots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96112" y="3273552"/>
            <a:ext cx="274320" cy="274320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96112" y="3262579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316736" y="3191256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Automation Agent firmware next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96112" y="3803904"/>
            <a:ext cx="274320" cy="274320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896112" y="3792931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16736" y="3721608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ONE lesson that integrates AI vision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96112" y="4334256"/>
            <a:ext cx="274320" cy="274320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896112" y="432328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16736" y="4251960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what you built with your department or PLN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96112" y="4864608"/>
            <a:ext cx="274320" cy="274320"/>
          </a:xfrm>
          <a:prstGeom prst="ellipse">
            <a:avLst/>
          </a:prstGeom>
          <a:solidFill>
            <a:srgbClr val="B055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896112" y="4853635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16736" y="4782312"/>
            <a:ext cx="3419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the repo, then fork it and make it yours</a:t>
            </a:r>
            <a:endParaRPr lang="en-US" sz="1100" dirty="0"/>
          </a:p>
        </p:txBody>
      </p:sp>
      <p:pic>
        <p:nvPicPr>
          <p:cNvPr id="24" name="Image 0" descr="/home/claude/assets/goldfinc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703320"/>
            <a:ext cx="1197864" cy="160020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6583680" y="1463040"/>
            <a:ext cx="5056632" cy="4023360"/>
          </a:xfrm>
          <a:prstGeom prst="roundRect">
            <a:avLst>
              <a:gd name="adj" fmla="val 1364"/>
            </a:avLst>
          </a:prstGeom>
          <a:solidFill>
            <a:srgbClr val="EDE6D6"/>
          </a:solidFill>
          <a:ln w="12700">
            <a:solidFill>
              <a:srgbClr val="DDD3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6931152" y="170078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05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EXPLORING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931152" y="221284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Birdwatcher repo</a:t>
            </a:r>
            <a:endParaRPr lang="en-US" sz="1100" dirty="0"/>
          </a:p>
        </p:txBody>
      </p:sp>
      <p:sp>
        <p:nvSpPr>
          <p:cNvPr id="28" name="Text 25">
            <a:hlinkClick r:id="rId4"/>
          </p:cNvPr>
          <p:cNvSpPr/>
          <p:nvPr/>
        </p:nvSpPr>
        <p:spPr>
          <a:xfrm>
            <a:off x="8686800" y="221284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github.com/oyyeahhh/birdwatch-cam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931152" y="27432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DFRobot wiki</a:t>
            </a:r>
            <a:endParaRPr lang="en-US" sz="1100" dirty="0"/>
          </a:p>
        </p:txBody>
      </p:sp>
      <p:sp>
        <p:nvSpPr>
          <p:cNvPr id="30" name="Text 27">
            <a:hlinkClick r:id="rId5"/>
          </p:cNvPr>
          <p:cNvSpPr/>
          <p:nvPr/>
        </p:nvSpPr>
        <p:spPr>
          <a:xfrm>
            <a:off x="8686800" y="2743200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wiki.dfrobot.com/SKU_DFR1154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6931152" y="3273552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platform</a:t>
            </a:r>
            <a:endParaRPr lang="en-US" sz="1100" dirty="0"/>
          </a:p>
        </p:txBody>
      </p:sp>
      <p:sp>
        <p:nvSpPr>
          <p:cNvPr id="32" name="Text 29">
            <a:hlinkClick r:id="rId6"/>
          </p:cNvPr>
          <p:cNvSpPr/>
          <p:nvPr/>
        </p:nvSpPr>
        <p:spPr>
          <a:xfrm>
            <a:off x="8686800" y="3273552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platform.openai.com</a:t>
            </a:r>
            <a:endParaRPr lang="en-US" sz="1050" dirty="0"/>
          </a:p>
        </p:txBody>
      </p:sp>
      <p:sp>
        <p:nvSpPr>
          <p:cNvPr id="33" name="Text 30"/>
          <p:cNvSpPr/>
          <p:nvPr/>
        </p:nvSpPr>
        <p:spPr>
          <a:xfrm>
            <a:off x="6931152" y="3803904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IDE</a:t>
            </a:r>
            <a:endParaRPr lang="en-US" sz="1100" dirty="0"/>
          </a:p>
        </p:txBody>
      </p:sp>
      <p:sp>
        <p:nvSpPr>
          <p:cNvPr id="34" name="Text 31">
            <a:hlinkClick r:id="rId7"/>
          </p:cNvPr>
          <p:cNvSpPr/>
          <p:nvPr/>
        </p:nvSpPr>
        <p:spPr>
          <a:xfrm>
            <a:off x="8686800" y="3803904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arduino.cc/en/software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6931152" y="4334256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 tutorials</a:t>
            </a:r>
            <a:endParaRPr lang="en-US" sz="1100" dirty="0"/>
          </a:p>
        </p:txBody>
      </p:sp>
      <p:sp>
        <p:nvSpPr>
          <p:cNvPr id="36" name="Text 33">
            <a:hlinkClick r:id="rId8"/>
          </p:cNvPr>
          <p:cNvSpPr/>
          <p:nvPr/>
        </p:nvSpPr>
        <p:spPr>
          <a:xfrm>
            <a:off x="8686800" y="4334256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randomnerdtutorials.com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931152" y="4864608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AI4K12 framework</a:t>
            </a:r>
            <a:endParaRPr lang="en-US" sz="1100" dirty="0"/>
          </a:p>
        </p:txBody>
      </p:sp>
      <p:sp>
        <p:nvSpPr>
          <p:cNvPr id="38" name="Text 35">
            <a:hlinkClick r:id="rId9"/>
          </p:cNvPr>
          <p:cNvSpPr/>
          <p:nvPr/>
        </p:nvSpPr>
        <p:spPr>
          <a:xfrm>
            <a:off x="8686800" y="4864608"/>
            <a:ext cx="26791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u="sng" dirty="0">
                <a:solidFill>
                  <a:srgbClr val="4A647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ai4k12.org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548640" y="5779008"/>
            <a:ext cx="11091672" cy="713232"/>
          </a:xfrm>
          <a:prstGeom prst="roundRect">
            <a:avLst>
              <a:gd name="adj" fmla="val 7692"/>
            </a:avLst>
          </a:prstGeom>
          <a:solidFill>
            <a:srgbClr val="33291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0" name="Image 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688" y="5989320"/>
            <a:ext cx="292608" cy="292608"/>
          </a:xfrm>
          <a:prstGeom prst="rect">
            <a:avLst/>
          </a:prstGeom>
        </p:spPr>
      </p:pic>
      <p:sp>
        <p:nvSpPr>
          <p:cNvPr id="41" name="Text 37"/>
          <p:cNvSpPr/>
          <p:nvPr/>
        </p:nvSpPr>
        <p:spPr>
          <a:xfrm>
            <a:off x="1444752" y="5779008"/>
            <a:ext cx="981151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98F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fork keeps this project alive.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you extend the Birdwatcher, you become part of the lineage that started with BirdNET.</a:t>
            </a:r>
            <a:endParaRPr lang="en-US" sz="1250" dirty="0"/>
          </a:p>
        </p:txBody>
      </p:sp>
      <p:pic>
        <p:nvPicPr>
          <p:cNvPr id="42" name="Image 2" descr="/home/claude/assets/cije_mark.png"/>
          <p:cNvPicPr>
            <a:picLocks noChangeAspect="1"/>
          </p:cNvPicPr>
          <p:nvPr/>
        </p:nvPicPr>
        <p:blipFill>
          <a:blip r:embed="rId11">
            <a:alphaModFix amt="75000"/>
          </a:blip>
          <a:stretch>
            <a:fillRect/>
          </a:stretch>
        </p:blipFill>
        <p:spPr>
          <a:xfrm>
            <a:off x="11448288" y="6419088"/>
            <a:ext cx="512064" cy="345643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84248" y="269748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3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Happy birdwatching.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2441448" y="3520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4A3C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The CIJE Innovation team is a message away.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898648" y="397764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756A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github.com/oyyeahhh/birdwatch-cam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1246</TotalTime>
  <Words>2280</Words>
  <Application>Microsoft Macintosh PowerPoint</Application>
  <PresentationFormat>Widescreen</PresentationFormat>
  <Paragraphs>440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CIJE Birdwatcher - Getting Started Guide</dc:title>
  <dc:subject>PptxGenJS Presentation</dc:subject>
  <dc:creator>CIJE Innovation</dc:creator>
  <cp:lastModifiedBy>Orly Nadler</cp:lastModifiedBy>
  <cp:revision>2</cp:revision>
  <dcterms:created xsi:type="dcterms:W3CDTF">2026-07-06T16:41:49Z</dcterms:created>
  <dcterms:modified xsi:type="dcterms:W3CDTF">2026-07-07T14:35:22Z</dcterms:modified>
</cp:coreProperties>
</file>